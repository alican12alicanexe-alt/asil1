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6"/>
  </p:notesMasterIdLst>
  <p:handoutMasterIdLst>
    <p:handoutMasterId r:id="rId27"/>
  </p:handoutMasterIdLst>
  <p:sldIdLst>
    <p:sldId id="300" r:id="rId7"/>
    <p:sldId id="3458" r:id="rId8"/>
    <p:sldId id="3500" r:id="rId9"/>
    <p:sldId id="3499" r:id="rId10"/>
    <p:sldId id="3483" r:id="rId11"/>
    <p:sldId id="3481" r:id="rId12"/>
    <p:sldId id="3485" r:id="rId13"/>
    <p:sldId id="3486" r:id="rId14"/>
    <p:sldId id="3487" r:id="rId15"/>
    <p:sldId id="3497" r:id="rId16"/>
    <p:sldId id="3488" r:id="rId17"/>
    <p:sldId id="3489" r:id="rId18"/>
    <p:sldId id="3490" r:id="rId19"/>
    <p:sldId id="3491" r:id="rId20"/>
    <p:sldId id="3492" r:id="rId21"/>
    <p:sldId id="3495" r:id="rId22"/>
    <p:sldId id="3501" r:id="rId23"/>
    <p:sldId id="3502" r:id="rId24"/>
    <p:sldId id="302" r:id="rId25"/>
  </p:sldIdLst>
  <p:sldSz cx="12192000" cy="6858000"/>
  <p:notesSz cx="6797675" cy="9926638"/>
  <p:embeddedFontLst>
    <p:embeddedFont>
      <p:font typeface="Posterama" panose="020B0504020200020000" pitchFamily="34" charset="0"/>
      <p:regular r:id="rId28"/>
      <p:bold r:id="rId29"/>
      <p:italic r:id="rId30"/>
      <p:boldItalic r:id="rId31"/>
    </p:embeddedFont>
    <p:embeddedFont>
      <p:font typeface="Segoe UI" panose="020B0502040204020203" pitchFamily="34" charset="0"/>
      <p:regular r:id="rId32"/>
      <p:bold r:id="rId33"/>
      <p:italic r:id="rId34"/>
      <p:boldItalic r:id="rId35"/>
    </p:embeddedFont>
    <p:embeddedFont>
      <p:font typeface="Segoe UI Black" panose="020B0A02040204020203" pitchFamily="34" charset="0"/>
      <p:bold r:id="rId36"/>
      <p:boldItalic r:id="rId37"/>
    </p:embeddedFont>
    <p:embeddedFont>
      <p:font typeface="Segoe UI Semilight" panose="020B0402040204020203" pitchFamily="34" charset="0"/>
      <p:regular r:id="rId38"/>
      <p:italic r:id="rId39"/>
    </p:embeddedFont>
    <p:embeddedFont>
      <p:font typeface="Source Sans Pro" panose="020B0503030403020204" pitchFamily="34" charset="0"/>
      <p:regular r:id="rId40"/>
      <p:bold r:id="rId41"/>
      <p:italic r:id="rId42"/>
      <p:boldItalic r:id="rId43"/>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58"/>
            <p14:sldId id="3500"/>
            <p14:sldId id="3499"/>
            <p14:sldId id="3483"/>
            <p14:sldId id="3481"/>
            <p14:sldId id="3485"/>
            <p14:sldId id="3486"/>
            <p14:sldId id="3487"/>
            <p14:sldId id="3497"/>
            <p14:sldId id="3488"/>
            <p14:sldId id="3489"/>
            <p14:sldId id="3490"/>
            <p14:sldId id="3491"/>
            <p14:sldId id="3492"/>
            <p14:sldId id="3495"/>
            <p14:sldId id="3501"/>
            <p14:sldId id="3502"/>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66" autoAdjust="0"/>
    <p:restoredTop sz="80654" autoAdjust="0"/>
  </p:normalViewPr>
  <p:slideViewPr>
    <p:cSldViewPr snapToGrid="0">
      <p:cViewPr varScale="1">
        <p:scale>
          <a:sx n="47" d="100"/>
          <a:sy n="47" d="100"/>
        </p:scale>
        <p:origin x="67" y="394"/>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notesMaster" Target="notesMasters/notesMaster1.xml"/><Relationship Id="rId39" Type="http://schemas.openxmlformats.org/officeDocument/2006/relationships/font" Target="fonts/font12.fntdata"/><Relationship Id="rId21" Type="http://schemas.openxmlformats.org/officeDocument/2006/relationships/slide" Target="slides/slide15.xml"/><Relationship Id="rId34" Type="http://schemas.openxmlformats.org/officeDocument/2006/relationships/font" Target="fonts/font7.fntdata"/><Relationship Id="rId42" Type="http://schemas.openxmlformats.org/officeDocument/2006/relationships/font" Target="fonts/font15.fntdata"/><Relationship Id="rId47" Type="http://schemas.openxmlformats.org/officeDocument/2006/relationships/tableStyles" Target="tableStyle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font" Target="fonts/font2.fntdata"/><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45" Type="http://schemas.openxmlformats.org/officeDocument/2006/relationships/viewProps" Target="viewProps.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4.fntdata"/><Relationship Id="rId44" Type="http://schemas.openxmlformats.org/officeDocument/2006/relationships/presProps" Target="presProp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handoutMaster" Target="handoutMasters/handout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font" Target="fonts/font16.fntdata"/><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font" Target="fonts/font6.fntdata"/><Relationship Id="rId38" Type="http://schemas.openxmlformats.org/officeDocument/2006/relationships/font" Target="fonts/font11.fntdata"/><Relationship Id="rId46" Type="http://schemas.openxmlformats.org/officeDocument/2006/relationships/theme" Target="theme/theme1.xml"/><Relationship Id="rId20" Type="http://schemas.openxmlformats.org/officeDocument/2006/relationships/slide" Target="slides/slide14.xml"/><Relationship Id="rId41" Type="http://schemas.openxmlformats.org/officeDocument/2006/relationships/font" Target="fonts/font14.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11.09.2026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11.09.2026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HAREKET DENKLEMI:   m_eff · a = F(v) − R(v) − m·g·sin(θ)</a:t>
            </a:r>
          </a:p>
          <a:p>
            <a:r>
              <a:rPr lang="tr-TR" dirty="0"/>
              <a:t>  m_eff = m · 1.08 — donen kutleler de hizlandirilmak zorunda: tekerlek, disli, rotor. 216 t tren 233 t gibi davraniyor.</a:t>
            </a:r>
          </a:p>
          <a:p>
            <a:r>
              <a:rPr lang="tr-TR" dirty="0"/>
              <a:t>  F(v) : ceki kuvveti. Taban hiza kadar sabit (233 kN), ustunde P/v ile dusuyor.</a:t>
            </a:r>
          </a:p>
          <a:p>
            <a:r>
              <a:rPr lang="tr-TR" dirty="0"/>
              <a:t>  R(v) : Davis direnci = A + B·v + C·v²  [N, v m/s]. Bu arac icin R(v) = 1404 + 28.1·v + 3.74·v².  A yatak ve yuvarlanma direnci, B flans ve ray temasi - ikisi kutleyle olcekleniyor; C aerodinamik ve kutleyle degil UZUNLUKLA olcekleniyor.</a:t>
            </a:r>
          </a:p>
          <a:p>
            <a:r>
              <a:rPr lang="tr-TR" dirty="0"/>
              <a:t>  m·g·sin(θ) : egim bileseni. Sonradan eklenen bir duzeltme degil, denklemin kendi terimi. Trenin %30'u bir egimde %70'i baskaysa kuvvet trenin ALTINDAKI egimin uzunlukla agirliklandirilmis ortalamasindan hesaplaniyor - tek bir nokta degil, trenin tamami.</a:t>
            </a:r>
          </a:p>
          <a:p>
            <a:r>
              <a:rPr lang="tr-TR" dirty="0"/>
              <a:t>  Fren: talep edilen oran aderans siniriyla (mu·g) kesiliyor, egim dogrudan orana ekleniyor.</a:t>
            </a:r>
          </a:p>
          <a:p>
            <a:r>
              <a:rPr lang="tr-TR" dirty="0"/>
              <a:t>SON MADDE: senaryo dosyasi bir aracin uzunlugunu ve dort performans degerini yaziyor, hepsi bu. Kutle, guc, Davis katsayilari, ceki egrisinin kirildigi hiz, en dik inisteki fren mesafesi - hepsi turetiliyor ve stats.py bunlari formuluyle birlikte yazdiriyor.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IKI AYRI EMNIYET PAYI VAR VE TOPLANIYORLAR. Sistemin payi tehlike noktasinin NEREDE oldugunu belirliyor - hareketli blokta ondeki trenin arkasindan 100 m once, sanal kuplajda 50 m, sabit blokta hic (orada tehlike noktasi zaten bosalmis bir blok siniri). Surucunun payi ise verilen tehlike noktasindan ne kadar once durdugu: 25 m ve sinyalizasyondan bagimsiz. Yani hareketli blokta bir tren ondekinin arkasindan 125 m uzakta tutuluyor.</a:t>
            </a:r>
          </a:p>
          <a:p>
            <a:r>
              <a:rPr lang="tr-TR" dirty="0"/>
              <a:t>SURUCU DAVRANISI: model surucusu 'agresif' anlamda ideal - hicbir metreyi bosa harcamiyor, hiz sinirini da asmiyor. Bu bilerek boyle: amac sinyalizasyonu olcmek, surucu farkini degil. Gercek bir surucu daha temkinli surer ve butun sistemler ayni oranda kotulesir, yani karsilastirma bozulmaz.</a:t>
            </a:r>
          </a:p>
          <a:p>
            <a:r>
              <a:rPr lang="tr-TR" dirty="0"/>
              <a:t>HABERLESME: V2V icin 0.5 s gecikme ve kesintisiz kapsama varsayildi. Kapsama kaybi modellenmedi - bu bir sinirlama; gercekte sanal kuplaj baglantisiz kaldiginda hareketli bloga dusuyor ve model bu geri dususe sahip ama senaryolarda tetiklenmiyor.</a:t>
            </a:r>
          </a:p>
          <a:p>
            <a:r>
              <a:rPr lang="tr-TR" dirty="0"/>
              <a:t>dt = 0.5 s dogrulamasi onemli: iki sinir da ikiser saniye artiyor, aradaki FARK degismiyor. Yani sonuc bir zaman adimi artefakti degil.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PANEL sik yapilan bir hatayi duzeltiyor. Cizilen sey bir fren mesafesi degil, surucunun ayirdigi toplam yol:</a:t>
            </a:r>
          </a:p>
          <a:p>
            <a:r>
              <a:rPr lang="tr-TR" dirty="0"/>
              <a:t>  tepki suresi 2 s -&gt; 44 m (tren hala tam hizda)</a:t>
            </a:r>
          </a:p>
          <a:p>
            <a:r>
              <a:rPr lang="tr-TR" dirty="0"/>
              <a:t>  fren kabarmasi   -&gt; 22 m (havanin hareket etmesi gerekiyor)</a:t>
            </a:r>
          </a:p>
          <a:p>
            <a:r>
              <a:rPr lang="tr-TR" dirty="0"/>
              <a:t>  fren egrisi      -&gt; 247 m</a:t>
            </a:r>
          </a:p>
          <a:p>
            <a:r>
              <a:rPr lang="tr-TR" dirty="0"/>
              <a:t>  emniyet payi     -&gt; 25 m</a:t>
            </a:r>
          </a:p>
          <a:p>
            <a:r>
              <a:rPr lang="tr-TR" dirty="0"/>
              <a:t>  TOPLAM           -&gt; 339 m.  Fren mesafesi bunun %73'u.</a:t>
            </a:r>
          </a:p>
          <a:p>
            <a:r>
              <a:rPr lang="tr-TR" dirty="0"/>
              <a:t>Dogrulama: surucunun planladigi sabit oranli egri 338.6 m diyor, jerk sinirli gercek hareketi integre ettigimde 337.9 m cikiyor. 0.7 metre. Kabarma payi tam olarak jerkin maliyetini karsilamak icin var ve dogru boyutta.</a:t>
            </a:r>
          </a:p>
          <a:p>
            <a:r>
              <a:rPr lang="tr-TR" dirty="0"/>
              <a:t>ORTA PANEL: 3.1 km'lik bir istasyon araligi. 164 saniye, ortalama 68 km/h. Kirilma noktasi taban hiz.</a:t>
            </a:r>
          </a:p>
          <a:p>
            <a:r>
              <a:rPr lang="tr-TR" dirty="0"/>
              <a:t>SAG PANEL: ayni seyahatin ivmesi. Seyirde sifir - surucu hizi tutuyor, tam guc istemiyor. Buyutec fren devreye girisini gosteriyor: 0'dan -1.0 m/s²'ye jerk siniri yuzunden 2 saniyede iniyor, bir adimda degil. Grafikte hicbir yerde ani ivme sicramasi yok, cunku modelde de yok.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 sahibi olan kazanir. O yuzden iki okuma var.</a:t>
            </a:r>
          </a:p>
          <a:p>
            <a:r>
              <a:rPr lang="tr-TR" dirty="0"/>
              <a:t>SOL: ikisi de 78 saniyede. Bu isletmecinin bugun hareketli blokla kostugu tarife. Sanal kuplaj takilirsa hicbir sey yeniden zamanlanmadan yayilan gecikme 982'den 829 saniyeye iniyor, %16 az.</a:t>
            </a:r>
          </a:p>
          <a:p>
            <a:r>
              <a:rPr lang="tr-TR" dirty="0"/>
              <a:t>SAG: her sistem kendi tum-yesil sinirinda - hareketli blok 78, sanal kuplaj 71. Ikisinde de pay yok. Fark 982'ye karsi 976: alti saniye, %0.6. Yani ayri bir 'toparlanma davranisi' YOK.</a:t>
            </a:r>
          </a:p>
          <a:p>
            <a:r>
              <a:rPr lang="tr-TR" dirty="0"/>
              <a:t>BULGU: teknoloji yedi saniye veriyor, baska bir sey degil. Onu ya trene harcarsin ya dayanikliliga; ikisine birden degil.</a:t>
            </a:r>
          </a:p>
          <a:p>
            <a:r>
              <a:rPr lang="tr-TR" dirty="0"/>
              <a:t>Hiz kisitlamasi deneyi bu slaytta yok cunku iki tarife kisitlamanin saatine farkli sayida tren sokuyor - karsilastirma tarifeden kirleniyor ve bunu ayiramiyorum. Rakamlari sorulursa: 78 s'de her iki sistem de 455 s toplam gecikme.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19</a:t>
            </a:fld>
            <a:endParaRPr lang="tr-TR"/>
          </a:p>
        </p:txBody>
      </p:sp>
    </p:spTree>
    <p:extLst>
      <p:ext uri="{BB962C8B-B14F-4D97-AF65-F5344CB8AC3E}">
        <p14:creationId xmlns:p14="http://schemas.microsoft.com/office/powerpoint/2010/main" val="306521895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/19</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image" Target="../media/image8.gif"/><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3.gif"/><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r>
              <a:rPr lang="en-US"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IN</a:t>
            </a:r>
            <a:endPar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endParaRP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a:t>
            </a:r>
            <a:r>
              <a:rPr lang="en-US"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E </a:t>
            </a:r>
            <a:r>
              <a:rPr lang="en-US" sz="4400" cap="all" dirty="0" err="1">
                <a:solidFill>
                  <a:srgbClr val="003087"/>
                </a:solidFill>
                <a:latin typeface="Segoe UI Black" panose="020B0A02040204020203" pitchFamily="34" charset="0"/>
                <a:ea typeface="Segoe UI Black" panose="020B0A02040204020203" pitchFamily="34" charset="0"/>
                <a:cs typeface="Calibri" panose="020F0502020204030204" pitchFamily="34" charset="0"/>
              </a:rPr>
              <a:t>etkİSİ</a:t>
            </a:r>
            <a:endPar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endParaRP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978415" y="2193734"/>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Yöntemleri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Sanal Kuplaj Nedir?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Literatürde Sanal Kuplaj</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Simülasyon Koşulları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48"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B05105E6-3F36-410B-8F60-3836D1C1D20A}" type="slidenum">
              <a:rPr lang="tr-TR" sz="1400" smtClean="0">
                <a:solidFill>
                  <a:schemeClr val="bg1"/>
                </a:solidFill>
                <a:latin typeface="Segoe UI" panose="020B0502040204020203" pitchFamily="34" charset="0"/>
                <a:cs typeface="Segoe UI" panose="020B0502040204020203" pitchFamily="34" charset="0"/>
              </a:rPr>
              <a:t>2</a:t>
            </a:fld>
            <a:r>
              <a:rPr lang="tr-TR" sz="1400" dirty="0">
                <a:solidFill>
                  <a:schemeClr val="bg1"/>
                </a:solidFill>
                <a:latin typeface="Segoe UI" panose="020B0502040204020203" pitchFamily="34" charset="0"/>
                <a:cs typeface="Segoe UI" panose="020B0502040204020203" pitchFamily="34" charset="0"/>
              </a:rPr>
              <a:t>/17</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4475A-97C7-F616-F772-8505346368FF}"/>
              </a:ext>
            </a:extLst>
          </p:cNvPr>
          <p:cNvSpPr>
            <a:spLocks noGrp="1"/>
          </p:cNvSpPr>
          <p:nvPr>
            <p:ph type="title"/>
          </p:nvPr>
        </p:nvSpPr>
        <p:spPr>
          <a:xfrm>
            <a:off x="409163" y="360549"/>
            <a:ext cx="7565972" cy="1110111"/>
          </a:xfrm>
        </p:spPr>
        <p:txBody>
          <a:bodyPr/>
          <a:lstStyle/>
          <a:p>
            <a:r>
              <a:rPr lang="en-US" dirty="0" err="1"/>
              <a:t>SİnyalİZASYON</a:t>
            </a:r>
            <a:r>
              <a:rPr lang="en-US" dirty="0"/>
              <a:t> YÖNTEMLERİ</a:t>
            </a:r>
          </a:p>
        </p:txBody>
      </p:sp>
      <p:pic>
        <p:nvPicPr>
          <p:cNvPr id="5" name="Picture 4">
            <a:extLst>
              <a:ext uri="{FF2B5EF4-FFF2-40B4-BE49-F238E27FC236}">
                <a16:creationId xmlns:a16="http://schemas.microsoft.com/office/drawing/2014/main" id="{42927148-9171-8356-287A-40D3AF9AF7A3}"/>
              </a:ext>
            </a:extLst>
          </p:cNvPr>
          <p:cNvPicPr>
            <a:picLocks noChangeAspect="1"/>
          </p:cNvPicPr>
          <p:nvPr/>
        </p:nvPicPr>
        <p:blipFill>
          <a:blip r:embed="rId2">
            <a:extLst>
              <a:ext uri="{28A0092B-C50C-407E-A947-70E740481C1C}">
                <a14:useLocalDpi xmlns:a14="http://schemas.microsoft.com/office/drawing/2010/main" val="0"/>
              </a:ext>
            </a:extLst>
          </a:blip>
          <a:srcRect l="3173" r="22684"/>
          <a:stretch>
            <a:fillRect/>
          </a:stretch>
        </p:blipFill>
        <p:spPr>
          <a:xfrm>
            <a:off x="6984072" y="4279601"/>
            <a:ext cx="3975894" cy="1805888"/>
          </a:xfrm>
          <a:prstGeom prst="rect">
            <a:avLst/>
          </a:prstGeom>
        </p:spPr>
      </p:pic>
      <p:pic>
        <p:nvPicPr>
          <p:cNvPr id="7" name="Picture 6">
            <a:extLst>
              <a:ext uri="{FF2B5EF4-FFF2-40B4-BE49-F238E27FC236}">
                <a16:creationId xmlns:a16="http://schemas.microsoft.com/office/drawing/2014/main" id="{102331D9-0E82-9485-AEE2-EEAD8A924D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45215" y="4279602"/>
            <a:ext cx="3951598" cy="1805887"/>
          </a:xfrm>
          <a:prstGeom prst="rect">
            <a:avLst/>
          </a:prstGeom>
        </p:spPr>
      </p:pic>
      <p:pic>
        <p:nvPicPr>
          <p:cNvPr id="13" name="Picture 12">
            <a:extLst>
              <a:ext uri="{FF2B5EF4-FFF2-40B4-BE49-F238E27FC236}">
                <a16:creationId xmlns:a16="http://schemas.microsoft.com/office/drawing/2014/main" id="{8E9B9E0B-A37C-5F52-02B7-D0F32F7E23C2}"/>
              </a:ext>
            </a:extLst>
          </p:cNvPr>
          <p:cNvPicPr>
            <a:picLocks noChangeAspect="1"/>
          </p:cNvPicPr>
          <p:nvPr/>
        </p:nvPicPr>
        <p:blipFill>
          <a:blip r:embed="rId4"/>
          <a:stretch>
            <a:fillRect/>
          </a:stretch>
        </p:blipFill>
        <p:spPr>
          <a:xfrm>
            <a:off x="6984072" y="1496036"/>
            <a:ext cx="3405184" cy="2361260"/>
          </a:xfrm>
          <a:prstGeom prst="rect">
            <a:avLst/>
          </a:prstGeom>
        </p:spPr>
      </p:pic>
      <p:pic>
        <p:nvPicPr>
          <p:cNvPr id="15" name="Picture 14">
            <a:extLst>
              <a:ext uri="{FF2B5EF4-FFF2-40B4-BE49-F238E27FC236}">
                <a16:creationId xmlns:a16="http://schemas.microsoft.com/office/drawing/2014/main" id="{58F586C0-4133-6B5A-A509-A16363580EAD}"/>
              </a:ext>
            </a:extLst>
          </p:cNvPr>
          <p:cNvPicPr>
            <a:picLocks noChangeAspect="1"/>
          </p:cNvPicPr>
          <p:nvPr/>
        </p:nvPicPr>
        <p:blipFill>
          <a:blip r:embed="rId5"/>
          <a:stretch>
            <a:fillRect/>
          </a:stretch>
        </p:blipFill>
        <p:spPr>
          <a:xfrm>
            <a:off x="239984" y="1449995"/>
            <a:ext cx="5535504" cy="2407301"/>
          </a:xfrm>
          <a:prstGeom prst="rect">
            <a:avLst/>
          </a:prstGeom>
        </p:spPr>
      </p:pic>
    </p:spTree>
    <p:extLst>
      <p:ext uri="{BB962C8B-B14F-4D97-AF65-F5344CB8AC3E}">
        <p14:creationId xmlns:p14="http://schemas.microsoft.com/office/powerpoint/2010/main" val="1266185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08F2E8B-2DA9-159B-52D8-D1E888C8E56B}"/>
              </a:ext>
            </a:extLst>
          </p:cNvPr>
          <p:cNvPicPr>
            <a:picLocks noChangeAspect="1"/>
          </p:cNvPicPr>
          <p:nvPr/>
        </p:nvPicPr>
        <p:blipFill>
          <a:blip r:embed="rId2"/>
          <a:stretch>
            <a:fillRect/>
          </a:stretch>
        </p:blipFill>
        <p:spPr>
          <a:xfrm>
            <a:off x="4236720" y="0"/>
            <a:ext cx="7955280" cy="6035040"/>
          </a:xfrm>
          <a:prstGeom prst="rect">
            <a:avLst/>
          </a:prstGeom>
        </p:spPr>
      </p:pic>
      <p:sp>
        <p:nvSpPr>
          <p:cNvPr id="2" name="Title 1">
            <a:extLst>
              <a:ext uri="{FF2B5EF4-FFF2-40B4-BE49-F238E27FC236}">
                <a16:creationId xmlns:a16="http://schemas.microsoft.com/office/drawing/2014/main" id="{223F8F12-B25F-A0D9-25BB-D7627E5A7D03}"/>
              </a:ext>
            </a:extLst>
          </p:cNvPr>
          <p:cNvSpPr>
            <a:spLocks noGrp="1"/>
          </p:cNvSpPr>
          <p:nvPr>
            <p:ph type="title"/>
          </p:nvPr>
        </p:nvSpPr>
        <p:spPr>
          <a:xfrm>
            <a:off x="409163" y="151901"/>
            <a:ext cx="6060218" cy="1110111"/>
          </a:xfrm>
        </p:spPr>
        <p:txBody>
          <a:bodyPr/>
          <a:lstStyle/>
          <a:p>
            <a:r>
              <a:rPr lang="en-US" dirty="0"/>
              <a:t>Sanal </a:t>
            </a:r>
            <a:r>
              <a:rPr lang="en-US" dirty="0" err="1"/>
              <a:t>kuplaj</a:t>
            </a:r>
            <a:r>
              <a:rPr lang="en-US" dirty="0"/>
              <a:t> </a:t>
            </a:r>
            <a:r>
              <a:rPr lang="en-US" dirty="0" err="1"/>
              <a:t>nedİR</a:t>
            </a:r>
            <a:r>
              <a:rPr lang="en-US" dirty="0"/>
              <a:t>?</a:t>
            </a:r>
          </a:p>
        </p:txBody>
      </p:sp>
      <p:pic>
        <p:nvPicPr>
          <p:cNvPr id="11" name="Picture 10">
            <a:extLst>
              <a:ext uri="{FF2B5EF4-FFF2-40B4-BE49-F238E27FC236}">
                <a16:creationId xmlns:a16="http://schemas.microsoft.com/office/drawing/2014/main" id="{D1662FB2-1172-35D8-72F9-835AF2A59FA2}"/>
              </a:ext>
            </a:extLst>
          </p:cNvPr>
          <p:cNvPicPr>
            <a:picLocks noChangeAspect="1"/>
          </p:cNvPicPr>
          <p:nvPr/>
        </p:nvPicPr>
        <p:blipFill>
          <a:blip r:embed="rId3">
            <a:extLst>
              <a:ext uri="{28A0092B-C50C-407E-A947-70E740481C1C}">
                <a14:useLocalDpi xmlns:a14="http://schemas.microsoft.com/office/drawing/2010/main" val="0"/>
              </a:ext>
            </a:extLst>
          </a:blip>
          <a:srcRect l="9260" t="-325" r="20371" b="325"/>
          <a:stretch>
            <a:fillRect/>
          </a:stretch>
        </p:blipFill>
        <p:spPr>
          <a:xfrm>
            <a:off x="409163" y="4119163"/>
            <a:ext cx="3444604" cy="1574661"/>
          </a:xfrm>
          <a:prstGeom prst="rect">
            <a:avLst/>
          </a:prstGeom>
        </p:spPr>
      </p:pic>
      <p:pic>
        <p:nvPicPr>
          <p:cNvPr id="14" name="Picture 13">
            <a:extLst>
              <a:ext uri="{FF2B5EF4-FFF2-40B4-BE49-F238E27FC236}">
                <a16:creationId xmlns:a16="http://schemas.microsoft.com/office/drawing/2014/main" id="{9924FCD3-3442-4C3F-063A-EE1307303112}"/>
              </a:ext>
            </a:extLst>
          </p:cNvPr>
          <p:cNvPicPr>
            <a:picLocks noChangeAspect="1"/>
          </p:cNvPicPr>
          <p:nvPr/>
        </p:nvPicPr>
        <p:blipFill>
          <a:blip r:embed="rId4"/>
          <a:stretch>
            <a:fillRect/>
          </a:stretch>
        </p:blipFill>
        <p:spPr>
          <a:xfrm>
            <a:off x="845410" y="1862414"/>
            <a:ext cx="2572109" cy="1752845"/>
          </a:xfrm>
          <a:prstGeom prst="rect">
            <a:avLst/>
          </a:prstGeom>
        </p:spPr>
      </p:pic>
    </p:spTree>
    <p:extLst>
      <p:ext uri="{BB962C8B-B14F-4D97-AF65-F5344CB8AC3E}">
        <p14:creationId xmlns:p14="http://schemas.microsoft.com/office/powerpoint/2010/main" val="174223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a:xfrm>
            <a:off x="409162" y="360549"/>
            <a:ext cx="6832465" cy="1110111"/>
          </a:xfrm>
        </p:spPr>
        <p:txBody>
          <a:bodyPr/>
          <a:lstStyle/>
          <a:p>
            <a:r>
              <a:rPr lang="en-US" b="0" dirty="0"/>
              <a:t>LİTERATÜRDE SANAL KUPLAJ</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313932"/>
          </a:xfrm>
        </p:spPr>
        <p:txBody>
          <a:bodyPr/>
          <a:lstStyle/>
          <a:p>
            <a:r>
              <a:rPr lang="tr-TR" dirty="0"/>
              <a:t>Sanal kuplajın kapasiteye etkisini ölçen iki </a:t>
            </a:r>
            <a:r>
              <a:rPr lang="en-US" dirty="0" err="1"/>
              <a:t>referans</a:t>
            </a:r>
            <a:r>
              <a:rPr lang="en-US" dirty="0"/>
              <a:t> </a:t>
            </a:r>
            <a:r>
              <a:rPr lang="tr-TR" dirty="0"/>
              <a:t>çalışma</a:t>
            </a:r>
            <a:r>
              <a:rPr lang="en-US" dirty="0"/>
              <a:t>.</a:t>
            </a:r>
            <a:endParaRPr lang="tr-TR" dirty="0"/>
          </a:p>
        </p:txBody>
      </p:sp>
      <p:pic>
        <p:nvPicPr>
          <p:cNvPr id="4" name="Kartlar"/>
          <p:cNvPicPr>
            <a:picLocks noChangeAspect="1"/>
          </p:cNvPicPr>
          <p:nvPr/>
        </p:nvPicPr>
        <p:blipFill>
          <a:blip r:embed="rId3"/>
          <a:srcRect l="3" r="33220"/>
          <a:stretch>
            <a:fillRect/>
          </a:stretch>
        </p:blipFill>
        <p:spPr>
          <a:xfrm>
            <a:off x="803996" y="2011680"/>
            <a:ext cx="7499176"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6" name="Picture 5">
            <a:extLst>
              <a:ext uri="{FF2B5EF4-FFF2-40B4-BE49-F238E27FC236}">
                <a16:creationId xmlns:a16="http://schemas.microsoft.com/office/drawing/2014/main" id="{53A62043-40B2-C49B-2CDF-70232E46DC7D}"/>
              </a:ext>
            </a:extLst>
          </p:cNvPr>
          <p:cNvPicPr>
            <a:picLocks noChangeAspect="1"/>
          </p:cNvPicPr>
          <p:nvPr/>
        </p:nvPicPr>
        <p:blipFill>
          <a:blip r:embed="rId3"/>
          <a:stretch>
            <a:fillRect/>
          </a:stretch>
        </p:blipFill>
        <p:spPr>
          <a:xfrm>
            <a:off x="556506" y="1461780"/>
            <a:ext cx="10631447" cy="3688954"/>
          </a:xfrm>
          <a:prstGeom prst="rect">
            <a:avLst/>
          </a:prstGeom>
        </p:spPr>
      </p:pic>
      <p:sp>
        <p:nvSpPr>
          <p:cNvPr id="14"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1BF25093-344D-4590-B190-2EF07FACD7DC}" type="slidenum">
              <a:rPr lang="tr-TR" sz="1400" smtClean="0">
                <a:solidFill>
                  <a:schemeClr val="bg1"/>
                </a:solidFill>
                <a:latin typeface="Segoe UI" panose="020B0502040204020203" pitchFamily="34" charset="0"/>
                <a:cs typeface="Segoe UI" panose="020B0502040204020203" pitchFamily="34" charset="0"/>
              </a:rPr>
              <a:t>6</a:t>
            </a:fld>
            <a:r>
              <a:rPr lang="tr-TR" sz="1400" dirty="0">
                <a:solidFill>
                  <a:schemeClr val="bg1"/>
                </a:solidFill>
                <a:latin typeface="Segoe UI" panose="020B0502040204020203" pitchFamily="34" charset="0"/>
                <a:cs typeface="Segoe UI" panose="020B0502040204020203" pitchFamily="34" charset="0"/>
              </a:rPr>
              <a:t>/17</a:t>
            </a:r>
          </a:p>
        </p:txBody>
      </p:sp>
    </p:spTree>
    <p:extLst>
      <p:ext uri="{BB962C8B-B14F-4D97-AF65-F5344CB8AC3E}">
        <p14:creationId xmlns:p14="http://schemas.microsoft.com/office/powerpoint/2010/main" val="589440327"/>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1058000"/>
            <a:ext cx="11338560" cy="1013611"/>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3"/>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 VE DİNAMİĞİ</a:t>
            </a:r>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2561727"/>
          </a:xfrm>
        </p:spPr>
        <p:txBody>
          <a:bodyPr/>
          <a:lstStyle/>
          <a:p>
            <a:r>
              <a:rPr lang="tr-TR" b="1" dirty="0"/>
              <a:t>HAREKET DENKLEMİ</a:t>
            </a:r>
          </a:p>
          <a:p>
            <a:pPr lvl="1"/>
            <a:r>
              <a:rPr lang="tr-TR" dirty="0"/>
              <a:t>m_eff · a  =  F(v)  −  R(v)  −  m · g · sin(θ) </a:t>
            </a:r>
            <a:endParaRPr lang="en-US" dirty="0"/>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p:txBody>
      </p:sp>
    </p:spTree>
    <p:extLst>
      <p:ext uri="{BB962C8B-B14F-4D97-AF65-F5344CB8AC3E}">
        <p14:creationId xmlns:p14="http://schemas.microsoft.com/office/powerpoint/2010/main" val="38259916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a:xfrm>
            <a:off x="409163" y="360549"/>
            <a:ext cx="8345954" cy="1110111"/>
          </a:xfrm>
        </p:spPr>
        <p:txBody>
          <a:bodyPr/>
          <a:lstStyle/>
          <a:p>
            <a:r>
              <a:rPr lang="en-US" b="0" dirty="0"/>
              <a:t>KABULLER VE SİMÜLASYON KOŞULLARI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3427605"/>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a:t>Fren EĞRİLERİ</a:t>
            </a:r>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663771"/>
          </a:xfrm>
        </p:spPr>
        <p:txBody>
          <a:bodyPr/>
          <a:lstStyle/>
          <a:p>
            <a:r>
              <a:rPr lang="tr-TR" dirty="0"/>
              <a:t>80 km/h'ten duruşa, servis freni, düz hat:   269 m,   23 s.</a:t>
            </a:r>
          </a:p>
          <a:p>
            <a:r>
              <a:rPr lang="tr-TR" dirty="0"/>
              <a:t>Binde 15 inişte 301 m · acil frenle 197 m. </a:t>
            </a:r>
          </a:p>
        </p:txBody>
      </p:sp>
      <p:pic>
        <p:nvPicPr>
          <p:cNvPr id="4" name="Fren">
            <a:extLst>
              <a:ext uri="{FF2B5EF4-FFF2-40B4-BE49-F238E27FC236}">
                <a16:creationId xmlns:a16="http://schemas.microsoft.com/office/drawing/2014/main" id="{DA65A946-4D11-6E43-CDB9-F50FAF17A402}"/>
              </a:ext>
            </a:extLst>
          </p:cNvPr>
          <p:cNvPicPr>
            <a:picLocks noChangeAspect="1"/>
          </p:cNvPicPr>
          <p:nvPr/>
        </p:nvPicPr>
        <p:blipFill>
          <a:blip r:embed="rId3"/>
          <a:srcRect l="-1" r="44611"/>
          <a:stretch>
            <a:fillRect/>
          </a:stretch>
        </p:blipFill>
        <p:spPr>
          <a:xfrm>
            <a:off x="322572" y="2025715"/>
            <a:ext cx="6126480" cy="33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a:xfrm>
            <a:off x="409162" y="360549"/>
            <a:ext cx="7210837" cy="1110111"/>
          </a:xfrm>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313932"/>
          </a:xfrm>
        </p:spPr>
        <p:txBody>
          <a:bodyPr/>
          <a:lstStyle/>
          <a:p>
            <a:r>
              <a:rPr lang="en-US" dirty="0" err="1"/>
              <a:t>Trenler</a:t>
            </a:r>
            <a:r>
              <a:rPr lang="en-US" dirty="0"/>
              <a:t> </a:t>
            </a:r>
            <a:r>
              <a:rPr lang="en-US" dirty="0" err="1"/>
              <a:t>hiçbir</a:t>
            </a:r>
            <a:r>
              <a:rPr lang="en-US" dirty="0"/>
              <a:t> </a:t>
            </a:r>
            <a:r>
              <a:rPr lang="en-US" dirty="0" err="1"/>
              <a:t>istasyonda</a:t>
            </a:r>
            <a:r>
              <a:rPr lang="en-US" dirty="0"/>
              <a:t> </a:t>
            </a:r>
            <a:r>
              <a:rPr lang="en-US" dirty="0" err="1"/>
              <a:t>durmadan</a:t>
            </a:r>
            <a:r>
              <a:rPr lang="en-US" dirty="0"/>
              <a:t> </a:t>
            </a:r>
            <a:r>
              <a:rPr lang="en-US" dirty="0" err="1"/>
              <a:t>sadece</a:t>
            </a:r>
            <a:r>
              <a:rPr lang="en-US" dirty="0"/>
              <a:t> </a:t>
            </a:r>
            <a:r>
              <a:rPr lang="en-US" dirty="0" err="1"/>
              <a:t>hız</a:t>
            </a:r>
            <a:r>
              <a:rPr lang="en-US" dirty="0"/>
              <a:t> </a:t>
            </a:r>
            <a:r>
              <a:rPr lang="en-US" dirty="0" err="1"/>
              <a:t>limitlerine</a:t>
            </a:r>
            <a:r>
              <a:rPr lang="en-US" dirty="0"/>
              <a:t> </a:t>
            </a:r>
            <a:r>
              <a:rPr lang="en-US" dirty="0" err="1"/>
              <a:t>uyarak</a:t>
            </a:r>
            <a:r>
              <a:rPr lang="en-US" dirty="0"/>
              <a:t> </a:t>
            </a:r>
            <a:r>
              <a:rPr lang="en-US" dirty="0" err="1"/>
              <a:t>çalıştırıldığında</a:t>
            </a:r>
            <a:r>
              <a:rPr lang="en-US" dirty="0"/>
              <a:t> :</a:t>
            </a:r>
            <a:endParaRPr lang="tr-TR" dirty="0"/>
          </a:p>
        </p:txBody>
      </p:sp>
      <p:pic>
        <p:nvPicPr>
          <p:cNvPr id="203" name="Grafik"/>
          <p:cNvPicPr>
            <a:picLocks noChangeAspect="1"/>
          </p:cNvPicPr>
          <p:nvPr/>
        </p:nvPicPr>
        <p:blipFill>
          <a:blip r:embed="rId3"/>
          <a:srcRect t="12719" r="29840" b="1420"/>
          <a:stretch>
            <a:fillRect/>
          </a:stretch>
        </p:blipFill>
        <p:spPr>
          <a:xfrm>
            <a:off x="409163" y="2377441"/>
            <a:ext cx="7955280" cy="2468880"/>
          </a:xfrm>
          <a:prstGeom prst="rect">
            <a:avLst/>
          </a:prstGeom>
        </p:spPr>
      </p:pic>
      <p:sp>
        <p:nvSpPr>
          <p:cNvPr id="204" name="Yuzde 204"/>
          <p:cNvSpPr txBox="1"/>
          <p:nvPr/>
        </p:nvSpPr>
        <p:spPr>
          <a:xfrm>
            <a:off x="8550000" y="2122761"/>
            <a:ext cx="3200000" cy="420000"/>
          </a:xfrm>
          <a:prstGeom prst="rect">
            <a:avLst/>
          </a:prstGeom>
          <a:noFill/>
        </p:spPr>
        <p:txBody>
          <a:bodyPr wrap="square" rtlCol="0" anchor="ctr">
            <a:normAutofit/>
          </a:bodyPr>
          <a:lstStyle/>
          <a:p>
            <a:pPr algn="l"/>
            <a:r>
              <a:rPr lang="tr-TR" sz="1200" b="0" i="1" dirty="0">
                <a:solidFill>
                  <a:srgbClr val="5B6478"/>
                </a:solidFill>
                <a:latin typeface="Segoe UI"/>
                <a:cs typeface="Segoe UI"/>
              </a:rPr>
              <a:t>sabit bloğa göre</a:t>
            </a:r>
          </a:p>
        </p:txBody>
      </p:sp>
      <p:sp>
        <p:nvSpPr>
          <p:cNvPr id="205" name="Yuzde 205"/>
          <p:cNvSpPr txBox="1"/>
          <p:nvPr/>
        </p:nvSpPr>
        <p:spPr>
          <a:xfrm>
            <a:off x="8550000" y="3387497"/>
            <a:ext cx="3200000" cy="420000"/>
          </a:xfrm>
          <a:prstGeom prst="rect">
            <a:avLst/>
          </a:prstGeom>
          <a:noFill/>
        </p:spPr>
        <p:txBody>
          <a:bodyPr wrap="square" rtlCol="0" anchor="ctr">
            <a:normAutofit/>
          </a:bodyPr>
          <a:lstStyle/>
          <a:p>
            <a:pPr algn="l"/>
            <a:r>
              <a:rPr lang="tr-TR" sz="2000" b="1" i="0" dirty="0">
                <a:solidFill>
                  <a:srgbClr val="58B0E8"/>
                </a:solidFill>
                <a:latin typeface="Segoe UI"/>
                <a:cs typeface="Segoe UI"/>
              </a:rPr>
              <a:t>−72 %</a:t>
            </a:r>
          </a:p>
        </p:txBody>
      </p:sp>
      <p:sp>
        <p:nvSpPr>
          <p:cNvPr id="206" name="Yuzde 206"/>
          <p:cNvSpPr txBox="1"/>
          <p:nvPr/>
        </p:nvSpPr>
        <p:spPr>
          <a:xfrm>
            <a:off x="8550000" y="4222232"/>
            <a:ext cx="3200000" cy="420000"/>
          </a:xfrm>
          <a:prstGeom prst="rect">
            <a:avLst/>
          </a:prstGeom>
          <a:noFill/>
        </p:spPr>
        <p:txBody>
          <a:bodyPr wrap="square" rtlCol="0" anchor="ctr">
            <a:normAutofit/>
          </a:bodyPr>
          <a:lstStyle/>
          <a:p>
            <a:pPr algn="l"/>
            <a:r>
              <a:rPr lang="tr-TR" sz="2000" b="1" i="0" dirty="0">
                <a:solidFill>
                  <a:srgbClr val="E8871F"/>
                </a:solidFill>
                <a:latin typeface="Segoe UI"/>
                <a:cs typeface="Segoe UI"/>
              </a:rPr>
              <a:t>−77 %</a:t>
            </a:r>
          </a:p>
        </p:txBody>
      </p:sp>
      <p:sp>
        <p:nvSpPr>
          <p:cNvPr id="207" name="Yuzde 207"/>
          <p:cNvSpPr txBox="1"/>
          <p:nvPr/>
        </p:nvSpPr>
        <p:spPr>
          <a:xfrm>
            <a:off x="8550000" y="4642232"/>
            <a:ext cx="3200000" cy="420000"/>
          </a:xfrm>
          <a:prstGeom prst="rect">
            <a:avLst/>
          </a:prstGeom>
          <a:noFill/>
        </p:spPr>
        <p:txBody>
          <a:bodyPr wrap="square" rtlCol="0" anchor="ctr">
            <a:normAutofit/>
          </a:bodyPr>
          <a:lstStyle/>
          <a:p>
            <a:pPr algn="l"/>
            <a:r>
              <a:rPr lang="tr-TR" sz="1200" b="0" i="0" dirty="0">
                <a:solidFill>
                  <a:srgbClr val="E8871F"/>
                </a:solidFill>
                <a:latin typeface="Segoe UI"/>
                <a:cs typeface="Segoe UI"/>
              </a:rPr>
              <a:t>hareketli bloğa göre −18 %</a:t>
            </a:r>
          </a:p>
        </p:txBody>
      </p:sp>
    </p:spTree>
    <p:extLst>
      <p:ext uri="{BB962C8B-B14F-4D97-AF65-F5344CB8AC3E}">
        <p14:creationId xmlns:p14="http://schemas.microsoft.com/office/powerpoint/2010/main" val="1523495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a:xfrm>
            <a:off x="409162" y="360549"/>
            <a:ext cx="7698517" cy="1110111"/>
          </a:xfrm>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313932"/>
          </a:xfrm>
        </p:spPr>
        <p:txBody>
          <a:bodyPr/>
          <a:lstStyle/>
          <a:p>
            <a:r>
              <a:rPr lang="en-US" dirty="0" err="1"/>
              <a:t>Trenler</a:t>
            </a:r>
            <a:r>
              <a:rPr lang="en-US" dirty="0"/>
              <a:t> </a:t>
            </a:r>
            <a:r>
              <a:rPr lang="en-US" dirty="0" err="1"/>
              <a:t>tüm</a:t>
            </a:r>
            <a:r>
              <a:rPr lang="en-US" dirty="0"/>
              <a:t> </a:t>
            </a:r>
            <a:r>
              <a:rPr lang="en-US" dirty="0" err="1"/>
              <a:t>istasyonlarda</a:t>
            </a:r>
            <a:r>
              <a:rPr lang="en-US" dirty="0"/>
              <a:t> 30 </a:t>
            </a:r>
            <a:r>
              <a:rPr lang="en-US" dirty="0" err="1"/>
              <a:t>saniye</a:t>
            </a:r>
            <a:r>
              <a:rPr lang="en-US" dirty="0"/>
              <a:t> </a:t>
            </a:r>
            <a:r>
              <a:rPr lang="en-US" dirty="0" err="1"/>
              <a:t>duraklamalı</a:t>
            </a:r>
            <a:r>
              <a:rPr lang="en-US" dirty="0"/>
              <a:t> </a:t>
            </a:r>
            <a:r>
              <a:rPr lang="en-US" dirty="0" err="1"/>
              <a:t>çalıştırıldığında</a:t>
            </a:r>
            <a:r>
              <a:rPr lang="en-US" dirty="0"/>
              <a:t> :</a:t>
            </a:r>
            <a:endParaRPr lang="tr-TR" dirty="0"/>
          </a:p>
        </p:txBody>
      </p:sp>
      <p:pic>
        <p:nvPicPr>
          <p:cNvPr id="204" name="Grafik"/>
          <p:cNvPicPr>
            <a:picLocks noChangeAspect="1"/>
          </p:cNvPicPr>
          <p:nvPr/>
        </p:nvPicPr>
        <p:blipFill>
          <a:blip r:embed="rId3"/>
          <a:srcRect l="1" t="11840" r="28227" b="-880"/>
          <a:stretch>
            <a:fillRect/>
          </a:stretch>
        </p:blipFill>
        <p:spPr>
          <a:xfrm>
            <a:off x="409163" y="2148840"/>
            <a:ext cx="8138160" cy="2560320"/>
          </a:xfrm>
          <a:prstGeom prst="rect">
            <a:avLst/>
          </a:prstGeom>
        </p:spPr>
      </p:pic>
      <p:sp>
        <p:nvSpPr>
          <p:cNvPr id="205" name="Yuzde 205"/>
          <p:cNvSpPr txBox="1"/>
          <p:nvPr/>
        </p:nvSpPr>
        <p:spPr>
          <a:xfrm>
            <a:off x="8720000" y="1919440"/>
            <a:ext cx="3030000" cy="420000"/>
          </a:xfrm>
          <a:prstGeom prst="rect">
            <a:avLst/>
          </a:prstGeom>
          <a:noFill/>
        </p:spPr>
        <p:txBody>
          <a:bodyPr wrap="square" rtlCol="0" anchor="ctr">
            <a:normAutofit/>
          </a:bodyPr>
          <a:lstStyle/>
          <a:p>
            <a:pPr algn="l"/>
            <a:r>
              <a:rPr lang="tr-TR" sz="1200" b="0" i="1" dirty="0">
                <a:solidFill>
                  <a:srgbClr val="5B6478"/>
                </a:solidFill>
                <a:latin typeface="Segoe UI"/>
                <a:cs typeface="Segoe UI"/>
              </a:rPr>
              <a:t>sabit bloğa göre</a:t>
            </a:r>
          </a:p>
        </p:txBody>
      </p:sp>
      <p:sp>
        <p:nvSpPr>
          <p:cNvPr id="206" name="Yuzde 206"/>
          <p:cNvSpPr txBox="1"/>
          <p:nvPr/>
        </p:nvSpPr>
        <p:spPr>
          <a:xfrm>
            <a:off x="8720000" y="3184185"/>
            <a:ext cx="3030000" cy="420000"/>
          </a:xfrm>
          <a:prstGeom prst="rect">
            <a:avLst/>
          </a:prstGeom>
          <a:noFill/>
        </p:spPr>
        <p:txBody>
          <a:bodyPr wrap="square" rtlCol="0" anchor="ctr">
            <a:normAutofit/>
          </a:bodyPr>
          <a:lstStyle/>
          <a:p>
            <a:pPr algn="l"/>
            <a:r>
              <a:rPr lang="tr-TR" sz="2000" b="1" i="0" dirty="0">
                <a:solidFill>
                  <a:srgbClr val="58B0E8"/>
                </a:solidFill>
                <a:latin typeface="Segoe UI"/>
                <a:cs typeface="Segoe UI"/>
              </a:rPr>
              <a:t>−47 %</a:t>
            </a:r>
          </a:p>
        </p:txBody>
      </p:sp>
      <p:sp>
        <p:nvSpPr>
          <p:cNvPr id="207" name="Yuzde 207"/>
          <p:cNvSpPr txBox="1"/>
          <p:nvPr/>
        </p:nvSpPr>
        <p:spPr>
          <a:xfrm>
            <a:off x="8720000" y="4018930"/>
            <a:ext cx="3030000" cy="420000"/>
          </a:xfrm>
          <a:prstGeom prst="rect">
            <a:avLst/>
          </a:prstGeom>
          <a:noFill/>
        </p:spPr>
        <p:txBody>
          <a:bodyPr wrap="square" rtlCol="0" anchor="ctr">
            <a:normAutofit/>
          </a:bodyPr>
          <a:lstStyle/>
          <a:p>
            <a:pPr algn="l"/>
            <a:r>
              <a:rPr lang="tr-TR" sz="2000" b="1" i="0" dirty="0">
                <a:solidFill>
                  <a:srgbClr val="E8871F"/>
                </a:solidFill>
                <a:latin typeface="Segoe UI"/>
                <a:cs typeface="Segoe UI"/>
              </a:rPr>
              <a:t>−52 %</a:t>
            </a:r>
          </a:p>
        </p:txBody>
      </p:sp>
      <p:sp>
        <p:nvSpPr>
          <p:cNvPr id="208" name="Yuzde 208"/>
          <p:cNvSpPr txBox="1"/>
          <p:nvPr/>
        </p:nvSpPr>
        <p:spPr>
          <a:xfrm>
            <a:off x="8720000" y="4438930"/>
            <a:ext cx="3030000" cy="420000"/>
          </a:xfrm>
          <a:prstGeom prst="rect">
            <a:avLst/>
          </a:prstGeom>
          <a:noFill/>
        </p:spPr>
        <p:txBody>
          <a:bodyPr wrap="square" rtlCol="0" anchor="ctr">
            <a:normAutofit/>
          </a:bodyPr>
          <a:lstStyle/>
          <a:p>
            <a:pPr algn="l"/>
            <a:r>
              <a:rPr lang="tr-TR" sz="1200" b="0" i="0" dirty="0">
                <a:solidFill>
                  <a:srgbClr val="E8871F"/>
                </a:solidFill>
                <a:latin typeface="Segoe UI"/>
                <a:cs typeface="Segoe UI"/>
              </a:rPr>
              <a:t>hareketli bloğa göre −9 %</a:t>
            </a:r>
          </a:p>
        </p:txBody>
      </p:sp>
    </p:spTree>
    <p:extLst>
      <p:ext uri="{BB962C8B-B14F-4D97-AF65-F5344CB8AC3E}">
        <p14:creationId xmlns:p14="http://schemas.microsoft.com/office/powerpoint/2010/main" val="265175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a:xfrm>
            <a:off x="409162" y="360549"/>
            <a:ext cx="8177789" cy="1110111"/>
          </a:xfrm>
        </p:spPr>
        <p:txBody>
          <a:bodyPr/>
          <a:lstStyle/>
          <a:p>
            <a:r>
              <a:rPr lang="en-US" dirty="0"/>
              <a:t>BOZUCU ETKİ </a:t>
            </a:r>
            <a:r>
              <a:rPr lang="en-US" dirty="0" err="1"/>
              <a:t>ALTINDakİ</a:t>
            </a:r>
            <a:r>
              <a:rPr lang="en-US" dirty="0"/>
              <a:t> SONUÇLAR</a:t>
            </a:r>
          </a:p>
        </p:txBody>
      </p:sp>
      <p:pic>
        <p:nvPicPr>
          <p:cNvPr id="4" name="Bozucu etki grafiği"/>
          <p:cNvPicPr>
            <a:picLocks noChangeAspect="1"/>
          </p:cNvPicPr>
          <p:nvPr/>
        </p:nvPicPr>
        <p:blipFill>
          <a:blip r:embed="rId3"/>
          <a:stretch>
            <a:fillRect/>
          </a:stretch>
        </p:blipFill>
        <p:spPr>
          <a:xfrm>
            <a:off x="970238" y="1943120"/>
            <a:ext cx="9713043" cy="3300000"/>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26720" y="1574800"/>
            <a:ext cx="11338560" cy="535531"/>
          </a:xfrm>
        </p:spPr>
        <p:txBody>
          <a:bodyPr/>
          <a:lstStyle/>
          <a:p>
            <a:pPr marL="0" indent="0">
              <a:buNone/>
            </a:pPr>
            <a:r>
              <a:rPr lang="tr-TR" dirty="0"/>
              <a:t> 70 km/h ile sınırlı; yalnızca öndekine yaklaşırken hat hızına serbest bırakılıyor.</a:t>
            </a:r>
            <a:br>
              <a:rPr lang="en-US" dirty="0"/>
            </a:br>
            <a:r>
              <a:rPr lang="en-US" dirty="0"/>
              <a:t>Toplam </a:t>
            </a:r>
            <a:r>
              <a:rPr lang="en-US" dirty="0" err="1"/>
              <a:t>gecikmenin</a:t>
            </a:r>
            <a:r>
              <a:rPr lang="en-US" dirty="0"/>
              <a:t> 1 </a:t>
            </a:r>
            <a:r>
              <a:rPr lang="en-US" dirty="0" err="1"/>
              <a:t>sn</a:t>
            </a:r>
            <a:r>
              <a:rPr lang="en-US" dirty="0"/>
              <a:t> den </a:t>
            </a:r>
            <a:r>
              <a:rPr lang="en-US" dirty="0" err="1"/>
              <a:t>küçük</a:t>
            </a:r>
            <a:r>
              <a:rPr lang="en-US" dirty="0"/>
              <a:t> </a:t>
            </a:r>
            <a:r>
              <a:rPr lang="en-US" dirty="0" err="1"/>
              <a:t>olması</a:t>
            </a:r>
            <a:r>
              <a:rPr lang="en-US" dirty="0"/>
              <a:t> </a:t>
            </a:r>
            <a:r>
              <a:rPr lang="en-US" dirty="0" err="1"/>
              <a:t>kriter</a:t>
            </a:r>
            <a:r>
              <a:rPr lang="en-US" dirty="0"/>
              <a:t> </a:t>
            </a:r>
            <a:r>
              <a:rPr lang="en-US" dirty="0" err="1"/>
              <a:t>olarak</a:t>
            </a:r>
            <a:r>
              <a:rPr lang="en-US" dirty="0"/>
              <a:t> </a:t>
            </a:r>
            <a:r>
              <a:rPr lang="en-US" dirty="0" err="1"/>
              <a:t>alındı</a:t>
            </a:r>
            <a:r>
              <a:rPr lang="en-US" dirty="0"/>
              <a:t>.</a:t>
            </a:r>
            <a:endParaRPr lang="tr-TR" dirty="0"/>
          </a:p>
        </p:txBody>
      </p:sp>
      <p:pic>
        <p:nvPicPr>
          <p:cNvPr id="10" name="Picture 9">
            <a:extLst>
              <a:ext uri="{FF2B5EF4-FFF2-40B4-BE49-F238E27FC236}">
                <a16:creationId xmlns:a16="http://schemas.microsoft.com/office/drawing/2014/main" id="{485E9FE8-A5D8-0692-9F46-8AE6298F1F0B}"/>
              </a:ext>
            </a:extLst>
          </p:cNvPr>
          <p:cNvPicPr>
            <a:picLocks noChangeAspect="1"/>
          </p:cNvPicPr>
          <p:nvPr/>
        </p:nvPicPr>
        <p:blipFill>
          <a:blip r:embed="rId3"/>
          <a:srcRect l="7547" r="-280"/>
          <a:stretch>
            <a:fillRect/>
          </a:stretch>
        </p:blipFill>
        <p:spPr>
          <a:xfrm>
            <a:off x="409163" y="2537051"/>
            <a:ext cx="7863840" cy="2898549"/>
          </a:xfrm>
          <a:prstGeom prst="rect">
            <a:avLst/>
          </a:prstGeom>
        </p:spPr>
      </p:pic>
      <p:sp>
        <p:nvSpPr>
          <p:cNvPr id="11" name="Yuzde 11"/>
          <p:cNvSpPr txBox="1"/>
          <p:nvPr/>
        </p:nvSpPr>
        <p:spPr>
          <a:xfrm>
            <a:off x="8460000" y="3250000"/>
            <a:ext cx="3290000" cy="1300000"/>
          </a:xfrm>
          <a:prstGeom prst="rect">
            <a:avLst/>
          </a:prstGeom>
          <a:noFill/>
        </p:spPr>
        <p:txBody>
          <a:bodyPr wrap="square" rtlCol="0" anchor="ctr">
            <a:normAutofit/>
          </a:bodyPr>
          <a:lstStyle/>
          <a:p>
            <a:pPr algn="l"/>
            <a:r>
              <a:rPr lang="tr-TR" sz="1200" b="0" i="1" dirty="0">
                <a:solidFill>
                  <a:srgbClr val="5B6478"/>
                </a:solidFill>
                <a:latin typeface="Segoe UI"/>
                <a:cs typeface="Segoe UI"/>
              </a:rPr>
              <a:t>kuralın kazancı</a:t>
            </a:r>
          </a:p>
          <a:p>
            <a:pPr algn="l"/>
            <a:r>
              <a:rPr lang="tr-TR" sz="2000" b="1" i="0" dirty="0">
                <a:solidFill>
                  <a:srgbClr val="E8871F"/>
                </a:solidFill>
                <a:latin typeface="Segoe UI"/>
                <a:cs typeface="Segoe UI"/>
              </a:rPr>
              <a:t>duraksız  −32 %</a:t>
            </a:r>
          </a:p>
          <a:p>
            <a:pPr algn="l"/>
            <a:r>
              <a:rPr lang="tr-TR" sz="2000" b="1" i="0" dirty="0">
                <a:solidFill>
                  <a:srgbClr val="58B0E8"/>
                </a:solidFill>
                <a:latin typeface="Segoe UI"/>
                <a:cs typeface="Segoe UI"/>
              </a:rPr>
              <a:t>duraklamalı  −9 %</a:t>
            </a:r>
          </a:p>
        </p:txBody>
      </p:sp>
    </p:spTree>
    <p:extLst>
      <p:ext uri="{BB962C8B-B14F-4D97-AF65-F5344CB8AC3E}">
        <p14:creationId xmlns:p14="http://schemas.microsoft.com/office/powerpoint/2010/main" val="2203774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a:t>BULGULAR</a:t>
            </a:r>
            <a:endParaRPr lang="en-US" dirty="0"/>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2653547"/>
          </a:xfrm>
        </p:spPr>
        <p:txBody>
          <a:bodyPr/>
          <a:lstStyle/>
          <a:p>
            <a:r>
              <a:rPr lang="tr-TR" dirty="0"/>
              <a:t>EN GÜÇLÜ OLDUĞU YER</a:t>
            </a:r>
          </a:p>
          <a:p>
            <a:pPr lvl="1"/>
            <a:r>
              <a:rPr lang="tr-TR" dirty="0"/>
              <a:t>Duraksız işletme   39 s → 32 s  (%18)   ·   konvoy kuralıyla   25 s → 17 s  (%32)</a:t>
            </a:r>
          </a:p>
          <a:p>
            <a:r>
              <a:rPr lang="tr-TR" dirty="0"/>
              <a:t>ETKİSİNİN KAYBOLDUĞU YER</a:t>
            </a:r>
          </a:p>
          <a:p>
            <a:pPr lvl="1"/>
            <a:r>
              <a:rPr lang="tr-TR" dirty="0"/>
              <a:t>Duraklamalı işletme   78 s → 71 s  (%9)</a:t>
            </a:r>
          </a:p>
          <a:p>
            <a:pPr lvl="1"/>
            <a:r>
              <a:rPr lang="tr-TR" dirty="0"/>
              <a:t>Her sistem kendi aralığında koşarken bozucu etki altında   %0.5</a:t>
            </a:r>
          </a:p>
          <a:p>
            <a:r>
              <a:rPr lang="tr-TR" dirty="0"/>
              <a:t>KAPSAM DIŞI BIRAKILAN</a:t>
            </a:r>
          </a:p>
          <a:p>
            <a:pPr lvl="1"/>
            <a:r>
              <a:rPr lang="tr-TR" dirty="0"/>
              <a:t>Karma trafik ve ayrılan/birleşen kavşaklar — rota ve tarife optimizasyonu</a:t>
            </a:r>
          </a:p>
          <a:p>
            <a:r>
              <a:rPr lang="tr-TR" dirty="0"/>
              <a:t>BUGÜNKÜ KISITLAR</a:t>
            </a:r>
          </a:p>
          <a:p>
            <a:pPr lvl="1"/>
            <a:r>
              <a:rPr lang="en-US" dirty="0"/>
              <a:t>G</a:t>
            </a:r>
            <a:r>
              <a:rPr lang="tr-TR" dirty="0"/>
              <a:t>üvenlik ispatı   ·   </a:t>
            </a:r>
            <a:r>
              <a:rPr lang="en-US" dirty="0"/>
              <a:t>P</a:t>
            </a:r>
            <a:r>
              <a:rPr lang="tr-TR" dirty="0"/>
              <a:t>rotokol </a:t>
            </a:r>
            <a:r>
              <a:rPr lang="tr-TR"/>
              <a:t>olgunluğu   </a:t>
            </a:r>
            <a:endParaRPr lang="tr-TR" dirty="0"/>
          </a:p>
        </p:txBody>
      </p:sp>
    </p:spTree>
    <p:extLst>
      <p:ext uri="{BB962C8B-B14F-4D97-AF65-F5344CB8AC3E}">
        <p14:creationId xmlns:p14="http://schemas.microsoft.com/office/powerpoint/2010/main" val="468788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p:txBody>
      </p:sp>
    </p:spTree>
    <p:extLst>
      <p:ext uri="{BB962C8B-B14F-4D97-AF65-F5344CB8AC3E}">
        <p14:creationId xmlns:p14="http://schemas.microsoft.com/office/powerpoint/2010/main" val="1711816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a:xfrm>
            <a:off x="409162" y="360549"/>
            <a:ext cx="7210837" cy="1110111"/>
          </a:xfrm>
        </p:spPr>
        <p:txBody>
          <a:bodyPr/>
          <a:lstStyle/>
          <a:p>
            <a:r>
              <a:rPr lang="en-US" dirty="0"/>
              <a:t>SİMÜLASYON — SABİT BLOK</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313932"/>
          </a:xfrm>
        </p:spPr>
        <p:txBody>
          <a:bodyPr/>
          <a:lstStyle/>
          <a:p>
            <a:pPr marL="0" indent="0">
              <a:buNone/>
            </a:pPr>
            <a:endParaRPr lang="tr-TR" dirty="0"/>
          </a:p>
        </p:txBody>
      </p:sp>
      <p:pic>
        <p:nvPicPr>
          <p:cNvPr id="7" name="Picture 6">
            <a:extLst>
              <a:ext uri="{FF2B5EF4-FFF2-40B4-BE49-F238E27FC236}">
                <a16:creationId xmlns:a16="http://schemas.microsoft.com/office/drawing/2014/main" id="{B0D13586-637D-B91C-501A-8ED3DD57F6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218111"/>
            <a:ext cx="12191999" cy="5022567"/>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a:xfrm>
            <a:off x="409162" y="360549"/>
            <a:ext cx="7210837" cy="1110111"/>
          </a:xfrm>
        </p:spPr>
        <p:txBody>
          <a:bodyPr/>
          <a:lstStyle/>
          <a:p>
            <a:r>
              <a:rPr lang="en-US" dirty="0"/>
              <a:t>SİMÜLASYON — SANAL KUPLAJ</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313932"/>
          </a:xfrm>
        </p:spPr>
        <p:txBody>
          <a:bodyPr/>
          <a:lstStyle/>
          <a:p>
            <a:endParaRPr lang="tr-TR" dirty="0"/>
          </a:p>
        </p:txBody>
      </p:sp>
      <p:pic>
        <p:nvPicPr>
          <p:cNvPr id="5" name="Picture 4">
            <a:extLst>
              <a:ext uri="{FF2B5EF4-FFF2-40B4-BE49-F238E27FC236}">
                <a16:creationId xmlns:a16="http://schemas.microsoft.com/office/drawing/2014/main" id="{F618BA25-B963-1871-AE6A-79056BC0E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942839"/>
            <a:ext cx="12192001" cy="524569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4.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4.xml><?xml version="1.0" encoding="utf-8"?>
<ds:datastoreItem xmlns:ds="http://schemas.openxmlformats.org/officeDocument/2006/customXml" ds:itemID="{874ECE91-D256-41A1-98BD-156FDEEA250B}">
  <ds:schemaRefs>
    <ds:schemaRef ds:uri="http://schemas.titus.com/TitusProperties/"/>
    <ds:schemaRef ds:uri=""/>
  </ds:schemaRefs>
</ds:datastoreItem>
</file>

<file path=customXml/itemProps5.xml><?xml version="1.0" encoding="utf-8"?>
<ds:datastoreItem xmlns:ds="http://schemas.openxmlformats.org/officeDocument/2006/customXml" ds:itemID="{BC776708-A014-4D09-84CC-31521924571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16715</TotalTime>
  <Words>2420</Words>
  <Application>Microsoft Office PowerPoint</Application>
  <PresentationFormat>Widescreen</PresentationFormat>
  <Paragraphs>143</Paragraphs>
  <Slides>19</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Segoe UI</vt:lpstr>
      <vt:lpstr>Segoe UI Semilight</vt:lpstr>
      <vt:lpstr>Source Sans Pro</vt:lpstr>
      <vt:lpstr>Calibri</vt:lpstr>
      <vt:lpstr>Posterama</vt:lpstr>
      <vt:lpstr>Arial</vt:lpstr>
      <vt:lpstr>Segoe UI Black</vt:lpstr>
      <vt:lpstr>Office Teması</vt:lpstr>
      <vt:lpstr>PowerPoint Presentation</vt:lpstr>
      <vt:lpstr>PowerPoint Presentation</vt:lpstr>
      <vt:lpstr>SİnyalİZASYON YÖNTEMLERİ</vt:lpstr>
      <vt:lpstr>Sanal kuplaj nedİR?</vt:lpstr>
      <vt:lpstr>LİTERATÜRDE SANAL KUPLAJ </vt:lpstr>
      <vt:lpstr>ÇALIŞMA</vt:lpstr>
      <vt:lpstr>TEST AĞI</vt:lpstr>
      <vt:lpstr>TREN MODELİ VE DİNAMİĞİ</vt:lpstr>
      <vt:lpstr>KABULLER VE SİMÜLASYON KOŞULLARI </vt:lpstr>
      <vt:lpstr>Fren EĞRİLERİ</vt:lpstr>
      <vt:lpstr>DURAKSIZ (EXPRESS) İŞLETME</vt:lpstr>
      <vt:lpstr>DURAKLAMALI (ALL-STOP) İŞLETME</vt:lpstr>
      <vt:lpstr>BOZUCU ETKİ ALTINDakİ SONUÇLAR</vt:lpstr>
      <vt:lpstr>KONVOY DAVRANIŞI</vt:lpstr>
      <vt:lpstr>BULGULAR</vt:lpstr>
      <vt:lpstr>KAYNAKLAR </vt:lpstr>
      <vt:lpstr>SİMÜLASYON — SABİT BLOK</vt:lpstr>
      <vt:lpstr>SİMÜLASYON — SANAL KUPLAJ</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420</cp:revision>
  <cp:lastPrinted>2024-07-04T05:35:52Z</cp:lastPrinted>
  <dcterms:created xsi:type="dcterms:W3CDTF">2022-10-12T20:35:02Z</dcterms:created>
  <dcterms:modified xsi:type="dcterms:W3CDTF">2026-09-11T03:35:04Z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