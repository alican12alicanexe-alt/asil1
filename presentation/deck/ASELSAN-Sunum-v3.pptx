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9" r:id="rId50"/>
    <p:sldId id="3487" r:id="rId17"/>
    <p:sldId id="3500" r:id="rId51"/>
    <p:sldId id="3501" r:id="rId52"/>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modelin NE OLDUGUNU soyluyor; denklemleri bir sonraki, sayilari ondan sonraki slayt veriyor.</a:t>
            </a:r>
          </a:p>
          <a:p>
            <a:r>
              <a:rPr lang="tr-TR" dirty="0"/>
              <a:t>TEK BOYUT: tren bir noktada degil, bir uzunluga sahip. Konumu tek skaler ama uzunlugu her yerde hesaba giriyor - trenin altindaki hiz siniri burnundan kuyruguna en dusuk olan, altindaki egim ise uzunlukla agirliklandirilmis ortalama. Trenin %30'u bir egimde %70'i baskaysa kuvvet buna gore hesaplaniyor.</a:t>
            </a:r>
          </a:p>
          <a:p>
            <a:r>
              <a:rPr lang="tr-TR" dirty="0"/>
              <a:t>JERK: ivmenin degisim hizi, ve yolcu konforu standartlarinin olctugu buyukluk. Modelde fren brake build-up suresinden turetiliyor: 2 saniyede tam frene ulasan bir fren, saniyede 0.5 m/s2 degisebilen bir frendir.</a:t>
            </a:r>
          </a:p>
          <a:p>
            <a:r>
              <a:rPr lang="tr-TR" dirty="0"/>
              <a:t>SURUCU ideal ama 'agresif' anlamda: hicbir metreyi bosa harcamiyor. Amac sinyalizasyonu olcmek, surucu farkini degil.</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Senaryo dosyasi bunlarin cogunu YAZMIYOR. Bir arac icin yazilan sey uzunluk ve dort performans degeri: azami hiz, kalkis, servis freni, acil fren. Kutle, etkin kutle, kalkis kuvveti, guc, taban hiz ve Davis katsayilari bunlardan turetiliyor; stats.py hepsini yaninda formuluyle birlikte yazdiriyor. Boylece elle girilmis tek bir sayi yok.</a:t>
            </a:r>
          </a:p>
          <a:p>
            <a:r>
              <a:rPr lang="tr-TR" dirty="0"/>
              <a:t>IKI AYRI EMNIYET PAYI VAR VE TOPLANIYORLAR. Sistemin payi tehlike noktasinin NEREDE oldugunu belirliyor; surucunun payi ise verilen tehlike noktasindan ne kadar once durdugu - 25 m ve sinyalizasyondan bagimsiz. Hareketli blokta bir tren ondekinin arkasindan 100 + 25 = 125 m uzakta tutuluyor.</a:t>
            </a:r>
          </a:p>
          <a:p>
            <a:r>
              <a:rPr lang="tr-TR" dirty="0"/>
              <a:t>SURUCU: model surucusu 'agresif' anlamda ideal - izin verilen hicbir metreyi bosa harcamiyor, hiz sinirini da asmiyor. Bilerek boyle: amac sinyalizasyonu olcmek, surucu farkini degil. Gercek bir surucu daha temkinli surer ve butun sistemler ayni oranda kotulesir, yani karsilastirma bozulmaz.</a:t>
            </a:r>
          </a:p>
          <a:p>
            <a:r>
              <a:rPr lang="tr-TR" dirty="0"/>
              <a:t>V2V icin 0.5 s gecikme ve kesintisiz kapsama varsayildi; kapsama kaybi modellenmedi - bu bir sinirlama.</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payi olan kazanir. O yuzden iki okuma var.</a:t>
            </a:r>
          </a:p>
          <a:p>
            <a:r>
              <a:rPr lang="tr-TR" dirty="0"/>
              <a:t>SOL: ikisi de 78 saniyede, yani isletmecinin bugun hareketli blokla kostugu tarife. Uc olayin ucunde de ayni trenler, ayni tarife; tek degisen sinyalizasyon.</a:t>
            </a:r>
          </a:p>
          <a:p>
            <a:r>
              <a:rPr lang="tr-TR" dirty="0"/>
              <a:t>HIZ KISITLAMASI: 455 saniyeye karsi 455 saniye. Tam olarak ayni. Sebebi su: kisitlama HATTIN kendisine uygulaniyor ve her treni birbirinden bagimsiz olarak ayni sekilde yavaslatiyor. Ortada kuyruk yok, yani nispi frenin kisaltacagi bir takip mesafesi de yok. Sanal kuplaj burada hicbir sey veremez.</a:t>
            </a:r>
          </a:p>
          <a:p>
            <a:r>
              <a:rPr lang="tr-TR" dirty="0"/>
              <a:t>KAPI ARIZASI: 1162'ye karsi 1009 saniye, %13 az. Burada kuyruk VAR - bir tren peronda takiliyor, arkasindakiler ona yetisiyor. Kuyruk tam olarak nispi frenin kisalttigi seydir.</a:t>
            </a:r>
          </a:p>
          <a:p>
            <a:r>
              <a:rPr lang="tr-TR" dirty="0"/>
              <a:t>BULGU: sanal kuplaj gecikmeyi degil KUYRUGU soguruyor. Hattin kendisi yavassa yapabilecegi bir sey yok.</a:t>
            </a:r>
          </a:p>
          <a:p>
            <a:r>
              <a:rPr lang="tr-TR" dirty="0"/>
              <a:t>Yayilan gecikme ayrica: kapi arizasinda MB 982 s, VC 829 s - %16 az. Slayttaki %13 toplam uzerinden, %16 yayilan uzerinden; ikisi de dogru, farkli buyuklukler.</a:t>
            </a:r>
          </a:p>
          <a:p>
            <a:r>
              <a:rPr lang="tr-TR" dirty="0"/>
              <a:t>SAG: kontrol deneyi. Her sistem kendi tum-yesil sinirinda - hareketli blok 78, sanal kuplaj 71. Ikisinde de pay yok ve fark 1162'ye karsi 1156: alti saniye, %0.5. Yani ayri bir toparlanma davranisi YOK. Teknoloji yedi saniye veriyor, baska bir sey degil; onu ya trene harcarsin ya dayanikliliga.</a:t>
            </a:r>
          </a:p>
          <a:p>
            <a:r>
              <a:rPr lang="tr-TR" dirty="0"/>
              <a:t>Hiz kisitlamasi sag grafikte yok cunku iki tarife kisitlamanin saatine farkli sayida tren sokuyor; o satir tarifeden kirleniyor. Kayit icin: MB@71 417 s, VC@71 355 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Dort denklem, dordu de simulatorun gercekten kullandigi hali.</a:t>
            </a:r>
          </a:p>
          <a:p>
            <a:r>
              <a:rPr lang="tr-TR" dirty="0"/>
              <a:t>HAREKET: egim sonradan eklenen bir duzeltme degil, denklemin kendi terimi. Trenin %30'u bir egimde %70'i baskaysa kuvvet trenin ALTINDAKI egimin uzunlukla agirliklandirilmis ortalamasindan hesaplaniyor - tek nokta degil, trenin tamami.</a:t>
            </a:r>
          </a:p>
          <a:p>
            <a:r>
              <a:rPr lang="tr-TR" dirty="0"/>
              <a:t>m_eff: donen kutleler de hizlandirilmak zorunda - tekerlek, disli, rotor. 216 t tren 233 t gibi davraniyor.</a:t>
            </a:r>
          </a:p>
          <a:p>
            <a:r>
              <a:rPr lang="tr-TR" dirty="0"/>
              <a:t>DAVIS: A yatak ve yuvarlanma direnci, hizdan neredeyse bagimsiz. B flans ve ray temasi, hizla dogrusal. Ikisi de kutleyle olcekleniyor. C aerodinamik ve kutleyle DEGIL, trenin uzunluguyla olcekleniyor - uzun tren daha cok surtunme yuzeyi demek.</a:t>
            </a:r>
          </a:p>
          <a:p>
            <a:r>
              <a:rPr lang="tr-TR" dirty="0"/>
              <a:t>FREN: talep edilen oran once aderans siniriyla (mu*g) kesiliyor, sonra egim orana ekleniyor. Egim terimi m/m_eff ile bolunuyor cunku yercekimi statik kutleye etki ediyor ama donen parcalarin eylemsizligi de ona direniyor. Binde 15 inis icin: 9.80665 x 0.015 / 1.08 = 0.136 m/s2, yani 1.0 fren 0.864'e dusuyor.</a:t>
            </a:r>
          </a:p>
          <a:p>
            <a:r>
              <a:rPr lang="tr-TR" dirty="0"/>
              <a:t>YETKI: son satir bu sunumun en cok yanlis anlasilan yeri. Bir blogu boyutlandiran sey fren mesafesi degil, bu dort terimin toplami. Sonraki slaytta sayilariyla var.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Adim adim, hepsi slayt 9'daki parametrelerden:</a:t>
            </a:r>
          </a:p>
          <a:p>
            <a:r>
              <a:rPr lang="tr-TR" dirty="0"/>
              <a:t>  v0 = 80 km/h = 22.22 m/s</a:t>
            </a:r>
          </a:p>
          <a:p>
            <a:r>
              <a:rPr lang="tr-TR" dirty="0"/>
              <a:t>  tepki    v0 x t_tepki      = 22.22 x 2.0        =  44.4 m</a:t>
            </a:r>
          </a:p>
          <a:p>
            <a:r>
              <a:rPr lang="tr-TR" dirty="0"/>
              <a:t>  brake build-up  v0 x t_brake build-up/2  = 22.22 x 1.0        =  22.2 m</a:t>
            </a:r>
          </a:p>
          <a:p>
            <a:r>
              <a:rPr lang="tr-TR" dirty="0"/>
              <a:t>  fren     v0^2 / 2b         = 493.8 / 2.0        = 246.9 m</a:t>
            </a:r>
          </a:p>
          <a:p>
            <a:r>
              <a:rPr lang="tr-TR" dirty="0"/>
              <a:t>  pay      surucunun payi                          =  25.0 m</a:t>
            </a:r>
          </a:p>
          <a:p>
            <a:r>
              <a:rPr lang="tr-TR" dirty="0"/>
              <a:t>  TOPLAM                                           = 338.6 m</a:t>
            </a:r>
          </a:p>
          <a:p>
            <a:r>
              <a:rPr lang="tr-TR" dirty="0"/>
              <a:t>Kabarma neden yarim: ERTMS'in yaptigi gibi, brake build-up suresinin yarisi boyunca tren frensiz sayiliyor. Bu bir yaklasim ve dogru boyutta oldugunu olctum: sabit oranli plan 338.6 m diyor, jerk sinirli gercek hareketi tik tik integre ettigimde 337.9 m cikiyor. 0.7 metre.</a:t>
            </a:r>
          </a:p>
          <a:p>
            <a:r>
              <a:rPr lang="tr-TR" dirty="0"/>
              <a:t>EGIM: binde 15 iniste b = 1.0 - 9.80665 x 0.015 / 1.08 = 0.864, fren egrisi 247'den 286 metreye cikiyor, toplam 378 m. Egim teriminin 1.08'e bolunmesi, yercekiminin statik kutleye etki etmesi ama donen parcalarin eylemsizliginin de ona direnmesinden.</a:t>
            </a:r>
          </a:p>
          <a:p>
            <a:r>
              <a:rPr lang="tr-TR" dirty="0"/>
              <a:t>ACIL FREN 1.5 m/s2 ile fren egrisi 165 m, toplam 256 m. Ama surucunun cizdigi egri SERVIS freniyle cizilir; acil fren son caredir, planlanan bir sey degil.</a:t>
            </a:r>
          </a:p>
          <a:p>
            <a:r>
              <a:rPr lang="tr-TR" dirty="0"/>
              <a:t>Fren egrisi Davis direncini kasten saymaz: bir fren egrisi tren hafif, temiz ve arkadan ruzgar alirken de tutmali. Hata emniyetli yonde.</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ceki egrisi iki parcali. Taban hiza kadar kuvvet sabit - F0 = kalkis ivmesi x etkin kutle = 1.0 x 233.3 t = 233.3 kN. Taban hiz azami hizin %40'i, yani 36 km/h. Ustunde guc sabit kaliyor ve kuvvet P/v ile dusuyor: P = F0 x v_taban = 233.3 kN x 10 m/s = 2333 kW, tonuna 10.8 kW - bu tur bir arac icin normal bandin (10-20) alt ucu.</a:t>
            </a:r>
          </a:p>
          <a:p>
            <a:r>
              <a:rPr lang="tr-TR" dirty="0"/>
              <a:t>Direnc ne kadar kucuk oldugu carpici: 80 km/h'te 3.9 kN, cekinin %4'u. Yani bir treni hizlandirmanin maliyeti neredeyse tamamen eylemsizlik, surtunme degil. Bu, duraklamali bir hatta neden bu kadar cok zaman kaybedildigini de acikliyor.</a:t>
            </a:r>
          </a:p>
          <a:p>
            <a:r>
              <a:rPr lang="tr-TR" dirty="0"/>
              <a:t>SAG: gercek hareket, jerk sinirli. Ilk saniyelerde ivme 0'dan 1.0'a jerk siniriyla cikiyor (0.5 m/s3, yani 2 saniye), sonra 36 km/h'e kadar sabit, ustunde dusuyor. 80 km/h'e 31 saniyede ve 392 metrede variliyor - 3.1 km'lik bir istasyon araliginin sekizde biri.</a:t>
            </a:r>
          </a:p>
          <a:p>
            <a:r>
              <a:rPr lang="tr-TR" dirty="0"/>
              <a:t>Karsilastirma icin fren: 80'den duruşa 247 metre. Yani bu arac hizlanirken durdugundan bir buçuk kat fazla yol aliyor.</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/20</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1.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3.png"/><Relationship Id="rId4" Type="http://schemas.openxmlformats.org/officeDocument/2006/relationships/notesSlide" Target="../notesSlides/notesSlide15.xml"/><Relationship Id="rId5" Type="http://schemas.openxmlformats.org/officeDocument/2006/relationships/image" Target="../media/image3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3/20</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2/20</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Tek boyutlu hareket: konum tek bir skaler, hız ve ivme ondan türer.</a:t>
            </a:r>
          </a:p>
          <a:p>
            <a:r>
              <a:rPr lang="tr-TR" dirty="0"/>
              <a:t>Dört kuvvet: çeki, yuvarlanma direnci, eğim, fren.</a:t>
            </a:r>
          </a:p>
          <a:p>
            <a:r>
              <a:rPr lang="tr-TR" dirty="0"/>
              <a:t>Jerk sınırı — ne çeki ne fren anında oluşur.</a:t>
            </a:r>
          </a:p>
          <a:p>
            <a:r>
              <a:rPr lang="tr-TR" dirty="0"/>
              <a:t>Sürücü izin verilen her metreyi kullanır, hız sınırını aşmaz.</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KULLANILAN PARAMETRELER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a:t>
            </a:r>
          </a:p>
          <a:p>
            <a:pPr lvl="1"/>
            <a:r>
              <a:rPr lang="tr-TR" dirty="0"/>
              <a:t>120 m   ·   216 t   ·   m_eff 233 t   ·   v_max 90 km/h</a:t>
            </a:r>
          </a:p>
          <a:p>
            <a:pPr lvl="1"/>
            <a:r>
              <a:rPr lang="tr-TR" dirty="0"/>
              <a:t>F₀ 233 kN   ·   P 2333 kW   ·   v_taban 36 km/h  (%40 · v_max)</a:t>
            </a:r>
          </a:p>
          <a:p>
            <a:pPr lvl="1"/>
            <a:r>
              <a:rPr lang="tr-TR" dirty="0"/>
              <a:t>Davis:   A 1404 N   ·   B 28.1 N·s/m   ·   C 3.74 N·s²/m²</a:t>
            </a:r>
          </a:p>
          <a:p>
            <a:r>
              <a:rPr lang="tr-TR" b="1" dirty="0"/>
              <a:t>FREN VE SÜRÜCÜ</a:t>
            </a:r>
          </a:p>
          <a:p>
            <a:pPr lvl="1"/>
            <a:r>
              <a:rPr lang="tr-TR" dirty="0"/>
              <a:t>servis 1.0   ·   acil 1.5 m/s²   ·   jerk 0.5 m/s³   ·   brake build-up 2.0 s</a:t>
            </a:r>
          </a:p>
          <a:p>
            <a:pPr lvl="1"/>
            <a:r>
              <a:rPr lang="tr-TR" dirty="0"/>
              <a:t>tepki 2.0 s (kabin sinyalizasyonunda 0 s)   ·   sürücü payı 25 m</a:t>
            </a:r>
          </a:p>
          <a:p>
            <a:r>
              <a:rPr lang="tr-TR" b="1" dirty="0"/>
              <a:t>SİNYALİZASYON</a:t>
            </a:r>
          </a:p>
          <a:p>
            <a:pPr lvl="1"/>
            <a:r>
              <a:rPr lang="tr-TR" dirty="0"/>
              <a:t>tehlike noktası payı:  hareketli blok 100 m · sanal kuplaj 50 m · sabit blok yok</a:t>
            </a:r>
          </a:p>
          <a:p>
            <a:pPr lvl="1"/>
            <a:r>
              <a:rPr lang="tr-TR" dirty="0"/>
              <a:t>V2V gecikmesi 0.5 s   ·   kuplaj eşiği 800 m   ·   blok 900 m</a:t>
            </a:r>
          </a:p>
          <a:p>
            <a:r>
              <a:rPr lang="tr-TR" b="1" dirty="0"/>
              <a:t>İŞLETME</a:t>
            </a:r>
          </a:p>
          <a:p>
            <a:pPr lvl="1"/>
            <a:r>
              <a:rPr lang="tr-TR" dirty="0"/>
              <a:t>dt = 1.0 s (tümü dt = 0.5 s ile doğrulandı)   ·   12 servis   ·   22 duruş/tur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Üç bozucu etki, iki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694813" y="2330000"/>
            <a:ext cx="5583333" cy="3350000"/>
          </a:xfrm>
          <a:prstGeom prst="rect">
            <a:avLst/>
          </a:prstGeom>
        </p:spPr>
      </p:pic>
      <p:pic>
        <p:nvPicPr>
          <p:cNvPr id="5" name="Bozucu-b"/>
          <p:cNvPicPr>
            <a:picLocks noChangeAspect="1"/>
          </p:cNvPicPr>
          <p:nvPr/>
        </p:nvPicPr>
        <p:blipFill>
          <a:blip r:embed="rId5"/>
          <a:stretch>
            <a:fillRect/>
          </a:stretch>
        </p:blipFill>
        <p:spPr>
          <a:xfrm>
            <a:off x="6650000" y="2422388"/>
            <a:ext cx="5100000" cy="3165224"/>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SANAL KUPLAJ NEREDE KAZANDIRIYOR</a:t>
            </a:r>
          </a:p>
          <a:p>
            <a:pPr lvl="1"/>
            <a:r>
              <a:rPr lang="tr-TR" dirty="0"/>
              <a:t>Duraksız işletme   39 s → 32 s   (%18)   ·   konvoy kuralıyla 25 s → 17 s   (%32)</a:t>
            </a:r>
          </a:p>
          <a:p>
            <a:pPr lvl="1"/>
            <a:r>
              <a:rPr lang="tr-TR" dirty="0"/>
              <a:t>Aynı tarifede bozucu etki altında   %16 daha az yayılan gecikme</a:t>
            </a:r>
          </a:p>
          <a:p>
            <a:r>
              <a:rPr lang="tr-TR" dirty="0"/>
              <a:t>NEREDE KAZANDIRMIYOR</a:t>
            </a:r>
          </a:p>
          <a:p>
            <a:pPr lvl="1"/>
            <a:r>
              <a:rPr lang="tr-TR" dirty="0"/>
              <a:t>Duraklamalı işletme   78 s → 71 s   (%9) — kısıt peron, ve peron bir takip mesafesi değil</a:t>
            </a:r>
          </a:p>
          <a:p>
            <a:pPr lvl="1"/>
            <a:r>
              <a:rPr lang="tr-TR" dirty="0"/>
              <a:t>Kendi sürdürülebilir aralığında bozucu etki altında   %0.6</a:t>
            </a:r>
          </a:p>
          <a:p>
            <a:r>
              <a:rPr lang="tr-TR" dirty="0"/>
              <a:t>BAĞLAMI KAÇIRMAMAK İÇİN</a:t>
            </a:r>
          </a:p>
          <a:p>
            <a:pPr lvl="1"/>
            <a:r>
              <a:rPr lang="tr-TR" dirty="0"/>
              <a:t>Asıl sıçrama sabit blok → hareketli blok:   148 s → 78 s   (%47)</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HAREKET DENKLEMLERİ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HAREKET DENKLEMİ</a:t>
            </a:r>
          </a:p>
          <a:p>
            <a:pPr lvl="1"/>
            <a:r>
              <a:rPr lang="tr-TR" dirty="0"/>
              <a:t>m_eff · a  =  F(v)  −  R(v)  −  m · g · sin(θ)</a:t>
            </a:r>
          </a:p>
          <a:p>
            <a:pPr lvl="1"/>
            <a:r>
              <a:rPr lang="tr-TR" dirty="0"/>
              <a:t>m_eff = m · 1.08   —   dönen kütlelerin eylemsizliği</a:t>
            </a:r>
          </a:p>
          <a:p>
            <a:pPr lvl="1"/>
            <a:r>
              <a:rPr lang="tr-TR" dirty="0"/>
              <a:t>F(v) = F₀   (v ≤ v_taban)          F(v) = P / v   (v &gt; v_taban)</a:t>
            </a:r>
          </a:p>
          <a:p>
            <a:r>
              <a:rPr lang="tr-TR" b="1" dirty="0"/>
              <a:t>DİRENÇ — DAVIS</a:t>
            </a:r>
          </a:p>
          <a:p>
            <a:pPr lvl="1"/>
            <a:r>
              <a:rPr lang="tr-TR" dirty="0"/>
              <a:t>R(v)  =  A  +  B·v  +  C·v²          [N,  v m/s]</a:t>
            </a:r>
          </a:p>
          <a:p>
            <a:pPr lvl="1"/>
            <a:r>
              <a:rPr lang="tr-TR" dirty="0"/>
              <a:t>A, B kütleyle ölçeklenir   ·   C trenin uzunluğuyla</a:t>
            </a:r>
          </a:p>
          <a:p>
            <a:r>
              <a:rPr lang="tr-TR" b="1" dirty="0"/>
              <a:t>FREN</a:t>
            </a:r>
          </a:p>
          <a:p>
            <a:pPr lvl="1"/>
            <a:r>
              <a:rPr lang="tr-TR" dirty="0"/>
              <a:t>b(θ)  =  min(b_talep , μ·g)  +  g · sin(θ) · m / m_eff</a:t>
            </a:r>
          </a:p>
          <a:p>
            <a:pPr lvl="1"/>
            <a:r>
              <a:rPr lang="tr-TR" dirty="0"/>
              <a:t>d_fren  =  v₀² / 2b(θ)</a:t>
            </a:r>
          </a:p>
          <a:p>
            <a:r>
              <a:rPr lang="tr-TR" b="1" dirty="0"/>
              <a:t>HAREKET YETKİSİ</a:t>
            </a:r>
          </a:p>
          <a:p>
            <a:pPr lvl="1"/>
            <a:r>
              <a:rPr lang="tr-TR" dirty="0"/>
              <a:t>D  =  v₀·t_tepki  +  ½·v₀·t_buildup  +  v₀² / 2b(θ)  +  d_pay</a:t>
            </a:r>
          </a:p>
        </p:txBody>
      </p:sp>
    </p:spTree>
    <p:extLst>
      <p:ext uri="{BB962C8B-B14F-4D97-AF65-F5344CB8AC3E}">
        <p14:creationId xmlns:p14="http://schemas.microsoft.com/office/powerpoint/2010/main" val="605574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FREN MESAFESİ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80 km/h'ten duruşa, düz hat, servis freni:   44 + 22 + 247 + 25  =  339 m</a:t>
            </a:r>
          </a:p>
          <a:p>
            <a:r>
              <a:rPr lang="tr-TR" b="1" dirty="0"/>
              <a:t>Fren eğrisi toplamın yalnızca %73'ü. Bir bloğu boyutlandıran sayı toplam olan.</a:t>
            </a:r>
          </a:p>
        </p:txBody>
      </p:sp>
      <p:pic>
        <p:nvPicPr>
          <p:cNvPr id="4" name="Fren"/>
          <p:cNvPicPr>
            <a:picLocks noChangeAspect="1"/>
          </p:cNvPicPr>
          <p:nvPr/>
        </p:nvPicPr>
        <p:blipFill>
          <a:blip r:embed="rId2"/>
          <a:stretch>
            <a:fillRect/>
          </a:stretch>
        </p:blipFill>
        <p:spPr>
          <a:xfrm>
            <a:off x="471181" y="2400000"/>
            <a:ext cx="11219157" cy="330000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HIZLANMA</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Taban hıza kadar sabit kuvvet (233 kN), üstünde sabit güç (2333 kW / v).</a:t>
            </a:r>
          </a:p>
          <a:p>
            <a:r>
              <a:rPr lang="tr-TR" b="1" dirty="0"/>
              <a:t>Duruştan 80 km/h'e:   31 s,   392 m.   Direnç 80 km/h'te 3.9 kN — çekinin %4'ü.</a:t>
            </a:r>
          </a:p>
        </p:txBody>
      </p:sp>
      <p:pic>
        <p:nvPicPr>
          <p:cNvPr id="4" name="Hizlanma"/>
          <p:cNvPicPr>
            <a:picLocks noChangeAspect="1"/>
          </p:cNvPicPr>
          <p:nvPr/>
        </p:nvPicPr>
        <p:blipFill>
          <a:blip r:embed="rId2"/>
          <a:stretch>
            <a:fillRect/>
          </a:stretch>
        </p:blipFill>
        <p:spPr>
          <a:xfrm>
            <a:off x="1813665" y="2400000"/>
            <a:ext cx="8534190" cy="3299999"/>
          </a:xfrm>
          <a:prstGeom prst="rect">
            <a:avLst/>
          </a:prstGeom>
        </p:spPr>
      </p:pic>
    </p:spTree>
    <p:extLst>
      <p:ext uri="{BB962C8B-B14F-4D97-AF65-F5344CB8AC3E}">
        <p14:creationId xmlns:p14="http://schemas.microsoft.com/office/powerpoint/2010/main" val="605574245"/>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