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slides/slide21.xml" ContentType="application/vnd.openxmlformats-officedocument.presentationml.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6"/>
  </p:sldMasterIdLst>
  <p:notesMasterIdLst>
    <p:notesMasterId r:id="rId25"/>
  </p:notesMasterIdLst>
  <p:handoutMasterIdLst>
    <p:handoutMasterId r:id="rId26"/>
  </p:handoutMasterIdLst>
  <p:sldIdLst>
    <p:sldId id="300" r:id="rId7"/>
    <p:sldId id="3458" r:id="rId9"/>
    <p:sldId id="3481" r:id="rId8"/>
    <p:sldId id="3485" r:id="rId15"/>
    <p:sldId id="3483" r:id="rId11"/>
    <p:sldId id="3484" r:id="rId14"/>
    <p:sldId id="3486" r:id="rId16"/>
    <p:sldId id="3497" r:id="rId48"/>
    <p:sldId id="3487" r:id="rId17"/>
    <p:sldId id="3488" r:id="rId18"/>
    <p:sldId id="3489" r:id="rId19"/>
    <p:sldId id="3490" r:id="rId20"/>
    <p:sldId id="3491" r:id="rId21"/>
    <p:sldId id="3496" r:id="rId47"/>
    <p:sldId id="3492" r:id="rId22"/>
    <p:sldId id="3498" r:id="rId49"/>
    <p:sldId id="3495" r:id="rId23"/>
    <p:sldId id="302" r:id="rId24"/>
  </p:sldIdLst>
  <p:sldSz cx="12192000" cy="6858000"/>
  <p:notesSz cx="6797675" cy="9926638"/>
  <p:embeddedFontLst>
    <p:embeddedFont>
      <p:font typeface="Posterama" panose="020B0504020200020000" pitchFamily="34" charset="0"/>
      <p:regular r:id="rId27"/>
      <p:bold r:id="rId28"/>
      <p:italic r:id="rId29"/>
      <p:boldItalic r:id="rId30"/>
    </p:embeddedFont>
    <p:embeddedFont>
      <p:font typeface="Segoe UI" panose="020B0502040204020203" pitchFamily="34" charset="0"/>
      <p:regular r:id="rId31"/>
      <p:bold r:id="rId32"/>
      <p:italic r:id="rId33"/>
      <p:boldItalic r:id="rId34"/>
    </p:embeddedFont>
    <p:embeddedFont>
      <p:font typeface="Segoe UI Black" panose="020B0A02040204020203" pitchFamily="34" charset="0"/>
      <p:bold r:id="rId35"/>
      <p:boldItalic r:id="rId36"/>
    </p:embeddedFont>
    <p:embeddedFont>
      <p:font typeface="Segoe UI Semilight" panose="020B0402040204020203" pitchFamily="34" charset="0"/>
      <p:regular r:id="rId37"/>
      <p:italic r:id="rId38"/>
    </p:embeddedFont>
    <p:embeddedFont>
      <p:font typeface="Source Sans Pro" panose="020B0503030403020204" pitchFamily="34" charset="0"/>
      <p:regular r:id="rId39"/>
      <p:bold r:id="rId40"/>
      <p:italic r:id="rId41"/>
      <p:boldItalic r:id="rId42"/>
    </p:embeddedFont>
  </p:embeddedFont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SELSAN" id="{93DD7066-AEC4-4222-8AF9-CDFEECF47427}">
          <p14:sldIdLst>
            <p14:sldId id="300"/>
            <p14:sldId id="3481"/>
            <p14:sldId id="3458"/>
            <p14:sldId id="3482"/>
            <p14:sldId id="3483"/>
            <p14:sldId id="3493"/>
            <p14:sldId id="3494"/>
            <p14:sldId id="3484"/>
            <p14:sldId id="3485"/>
            <p14:sldId id="3486"/>
            <p14:sldId id="3487"/>
            <p14:sldId id="3488"/>
            <p14:sldId id="3489"/>
            <p14:sldId id="3490"/>
            <p14:sldId id="3491"/>
            <p14:sldId id="3492"/>
            <p14:sldId id="3495"/>
            <p14:sldId id="3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4D4D"/>
    <a:srgbClr val="EF582A"/>
    <a:srgbClr val="F0592B"/>
    <a:srgbClr val="FF6635"/>
    <a:srgbClr val="FF8022"/>
    <a:srgbClr val="EBEBEE"/>
    <a:srgbClr val="FF5620"/>
    <a:srgbClr val="A8CF38"/>
    <a:srgbClr val="003087"/>
    <a:srgbClr val="00254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66" autoAdjust="0"/>
    <p:restoredTop sz="96410" autoAdjust="0"/>
  </p:normalViewPr>
  <p:slideViewPr>
    <p:cSldViewPr snapToGrid="0">
      <p:cViewPr varScale="1">
        <p:scale>
          <a:sx n="75" d="100"/>
          <a:sy n="75" d="100"/>
        </p:scale>
        <p:origin x="984" y="38"/>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1" Type="http://schemas.openxmlformats.org/officeDocument/2006/relationships/slide" Target="slides/slide5.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 Id="rId33" Type="http://schemas.openxmlformats.org/officeDocument/2006/relationships/font" Target="fonts/font7.fntdata"/><Relationship Id="rId34" Type="http://schemas.openxmlformats.org/officeDocument/2006/relationships/font" Target="fonts/font8.fntdata"/><Relationship Id="rId35" Type="http://schemas.openxmlformats.org/officeDocument/2006/relationships/font" Target="fonts/font9.fntdata"/><Relationship Id="rId36" Type="http://schemas.openxmlformats.org/officeDocument/2006/relationships/font" Target="fonts/font10.fntdata"/><Relationship Id="rId37" Type="http://schemas.openxmlformats.org/officeDocument/2006/relationships/font" Target="fonts/font11.fntdata"/><Relationship Id="rId38" Type="http://schemas.openxmlformats.org/officeDocument/2006/relationships/font" Target="fonts/font12.fntdata"/><Relationship Id="rId39" Type="http://schemas.openxmlformats.org/officeDocument/2006/relationships/font" Target="fonts/font13.fntdata"/><Relationship Id="rId40" Type="http://schemas.openxmlformats.org/officeDocument/2006/relationships/font" Target="fonts/font14.fntdata"/><Relationship Id="rId41" Type="http://schemas.openxmlformats.org/officeDocument/2006/relationships/font" Target="fonts/font15.fntdata"/><Relationship Id="rId42" Type="http://schemas.openxmlformats.org/officeDocument/2006/relationships/font" Target="fonts/font16.fntdata"/><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47" Type="http://schemas.openxmlformats.org/officeDocument/2006/relationships/slide" Target="slides/slide11.xml"/><Relationship Id="rId48" Type="http://schemas.openxmlformats.org/officeDocument/2006/relationships/slide" Target="slides/slide12.xml"/><Relationship Id="rId49" Type="http://schemas.openxmlformats.org/officeDocument/2006/relationships/slide" Target="slides/slide2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8E6431-A79F-4691-AEA7-6E09E7B1FF0D}"/>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tr-TR"/>
          </a:p>
        </p:txBody>
      </p:sp>
      <p:sp>
        <p:nvSpPr>
          <p:cNvPr id="3" name="Date Placeholder 2">
            <a:extLst>
              <a:ext uri="{FF2B5EF4-FFF2-40B4-BE49-F238E27FC236}">
                <a16:creationId xmlns:a16="http://schemas.microsoft.com/office/drawing/2014/main" id="{C00843A7-623F-4CBE-BDDF-33813BBAEFE2}"/>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0AB740B6-646D-4A4C-AEDE-E73833C6E508}" type="datetimeFigureOut">
              <a:rPr lang="tr-TR" smtClean="0"/>
              <a:t>10.09.2026</a:t>
            </a:fld>
            <a:endParaRPr lang="tr-TR"/>
          </a:p>
        </p:txBody>
      </p:sp>
      <p:sp>
        <p:nvSpPr>
          <p:cNvPr id="4" name="Footer Placeholder 3">
            <a:extLst>
              <a:ext uri="{FF2B5EF4-FFF2-40B4-BE49-F238E27FC236}">
                <a16:creationId xmlns:a16="http://schemas.microsoft.com/office/drawing/2014/main" id="{5A51A982-76FD-43B3-89D7-8121928D1225}"/>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tr-TR"/>
          </a:p>
        </p:txBody>
      </p:sp>
      <p:sp>
        <p:nvSpPr>
          <p:cNvPr id="5" name="Slide Number Placeholder 4">
            <a:extLst>
              <a:ext uri="{FF2B5EF4-FFF2-40B4-BE49-F238E27FC236}">
                <a16:creationId xmlns:a16="http://schemas.microsoft.com/office/drawing/2014/main" id="{56960F27-9299-4461-9481-B66A2F1BF762}"/>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D12C0598-3F49-47EA-A73A-00936C53184B}" type="slidenum">
              <a:rPr lang="tr-TR" smtClean="0"/>
              <a:t>‹#›</a:t>
            </a:fld>
            <a:endParaRPr lang="tr-TR"/>
          </a:p>
        </p:txBody>
      </p:sp>
    </p:spTree>
    <p:extLst>
      <p:ext uri="{BB962C8B-B14F-4D97-AF65-F5344CB8AC3E}">
        <p14:creationId xmlns:p14="http://schemas.microsoft.com/office/powerpoint/2010/main" val="161085023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3D126F64-650B-4185-81A8-0D0989901828}" type="datetimeFigureOut">
              <a:rPr lang="tr-TR" smtClean="0"/>
              <a:t>10.09.2026</a:t>
            </a:fld>
            <a:endParaRPr lang="tr-TR"/>
          </a:p>
        </p:txBody>
      </p:sp>
      <p:sp>
        <p:nvSpPr>
          <p:cNvPr id="4" name="Slayt Resmi Yer Tutucusu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145DDAFB-7AE0-4170-B9CE-C1E67ACBDE43}" type="slidenum">
              <a:rPr lang="tr-TR" smtClean="0"/>
              <a:t>‹#›</a:t>
            </a:fld>
            <a:endParaRPr lang="tr-TR"/>
          </a:p>
        </p:txBody>
      </p:sp>
    </p:spTree>
    <p:extLst>
      <p:ext uri="{BB962C8B-B14F-4D97-AF65-F5344CB8AC3E}">
        <p14:creationId xmlns:p14="http://schemas.microsoft.com/office/powerpoint/2010/main" val="137572283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Bu bir literatur derlemesi degil: simulator staj boyunca sifirdan yazildi. Icinde tren dinamigi, surucu modeli, uc sinyalizasyon sistemi, kilitleme ve tarife var.</a:t>
            </a:r>
          </a:p>
          <a:p>
            <a:r>
              <a:rPr lang="tr-TR" dirty="0"/>
              <a:t>Neden onemli: kapasiteyi arttirmanin klasik yolu yeni hat veya yeni peron yapmak, ikisi de pahali ve yavas. Sinyalizasyon degistirmek ayni altyapidan daha fazla tren gecirmenin en ucuz yolu olarak one suruluyor - bu calisma o iddiayi olcuyor.</a:t>
            </a:r>
          </a:p>
          <a:p>
            <a:r>
              <a:rPr lang="tr-TR" dirty="0"/>
              <a:t>Sunumda gordugunuz her sayi bir kosunun ciktisi ve komutu depodaki COMMANDS.md'de yazili; hicbiri literaturden alinmadi.</a:t>
            </a:r>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Stajin ilk gunlerinde kapasite artirimi uzerine cok sayida calisma okudum; bu ikisi ayri duruyor.</a:t>
            </a:r>
          </a:p>
          <a:p>
            <a:r>
              <a:rPr lang="tr-TR" dirty="0"/>
              <a:t>QUAGLIETTA: sanal kuplaji dort isletim durumu olan bir tren takip modeli olarak kuruyor - kuplaja hazirlanma, kuplajli seyir, istemsiz ayrilma (dik rampada tren ondekine yetisemiyor), istemli ayrilma (ayrilan kavsakta makas guvenle cevrilebilsin diye). Ingiltere'de South West Main Line'in 20 km'lik kesitinde iki tren kosturuyorlar. Kazanc senaryoya gore %13-%53; en buyugu duraklamali ve farkli rotali trenlerde.</a:t>
            </a:r>
          </a:p>
          <a:p>
            <a:r>
              <a:rPr lang="tr-TR" dirty="0"/>
              <a:t>AOUN: kapasitenin otesine bakiyor - maliyet, enerji, guvenlik, regulasyon onayi, kamuoyu kabulu. On bes sektor uzmaniyla anket. Cikan tablo: guvenlik tek basina kararin %45'i, regulasyon %32'si, kapasite sadece %5.6'si. Hareketli blok bugun daha olgun oldugu icin genel skorda one geciyor.</a:t>
            </a:r>
          </a:p>
          <a:p>
            <a:r>
              <a:rPr lang="tr-TR" dirty="0"/>
              <a:t>BENIM FARKIM: onlar iki trenin anlik mesafesini olcuyor, ben on iki trenin bir turu hangi aralikla surdurebildigini. Benim sayimin daha kucuk cikmasi bu yuzden beklenen - ayni seyi olcmuyoruz.</a:t>
            </a:r>
          </a:p>
          <a:p>
            <a:r>
              <a:rPr lang="tr-TR" dirty="0"/>
              <a:t>BURAYA GORSEL (istege bagli): iki makalenin kendi sekilleri. Telifli olduklari icin ben eklemedim; kaynak gostererek sen ekleyebilirsin.</a:t>
            </a: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Footer Placeholder 3"/>
          <p:cNvSpPr>
            <a:spLocks noGrp="1"/>
          </p:cNvSpPr>
          <p:nvPr>
            <p:ph type="ftr" sz="quarter" idx="4"/>
          </p:nvPr>
        </p:nvSpPr>
        <p:spPr/>
        <p:txBody>
          <a:bodyPr/>
          <a:lstStyle/>
          <a:p>
            <a:endParaRPr lang="tr-TR"/>
          </a:p>
        </p:txBody>
      </p:sp>
      <p:sp>
        <p:nvSpPr>
          <p:cNvPr id="5" name="Slide Number Placeholder 4"/>
          <p:cNvSpPr>
            <a:spLocks noGrp="1"/>
          </p:cNvSpPr>
          <p:nvPr>
            <p:ph type="sldNum" sz="quarter" idx="5"/>
          </p:nvPr>
        </p:nvSpPr>
        <p:spPr/>
        <p:txBody>
          <a:bodyPr/>
          <a:lstStyle/>
          <a:p>
            <a:fld id="{145DDAFB-7AE0-4170-B9CE-C1E67ACBDE43}" type="slidenum">
              <a:rPr lang="tr-TR" smtClean="0"/>
              <a:t>18</a:t>
            </a:fld>
            <a:endParaRPr lang="tr-TR"/>
          </a:p>
        </p:txBody>
      </p:sp>
    </p:spTree>
    <p:extLst>
      <p:ext uri="{BB962C8B-B14F-4D97-AF65-F5344CB8AC3E}">
        <p14:creationId xmlns:p14="http://schemas.microsoft.com/office/powerpoint/2010/main" val="3065218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SOL PANEL sik yapilan bir hatayi duzeltiyor. Cizilen sey bir fren mesafesi degil, surucunun ayirdigi toplam yol:</a:t>
            </a:r>
          </a:p>
          <a:p>
            <a:r>
              <a:rPr lang="tr-TR" dirty="0"/>
              <a:t>  tepki suresi 2 s -&gt; 44 m (tren hala tam hizda)</a:t>
            </a:r>
          </a:p>
          <a:p>
            <a:r>
              <a:rPr lang="tr-TR" dirty="0"/>
              <a:t>  fren kabarmasi   -&gt; 22 m (havanin hareket etmesi gerekiyor)</a:t>
            </a:r>
          </a:p>
          <a:p>
            <a:r>
              <a:rPr lang="tr-TR" dirty="0"/>
              <a:t>  fren egrisi      -&gt; 247 m</a:t>
            </a:r>
          </a:p>
          <a:p>
            <a:r>
              <a:rPr lang="tr-TR" dirty="0"/>
              <a:t>  emniyet payi     -&gt; 25 m</a:t>
            </a:r>
          </a:p>
          <a:p>
            <a:r>
              <a:rPr lang="tr-TR" dirty="0"/>
              <a:t>  TOPLAM           -&gt; 339 m.  Fren mesafesi bunun %73'u.</a:t>
            </a:r>
          </a:p>
          <a:p>
            <a:r>
              <a:rPr lang="tr-TR" dirty="0"/>
              <a:t>Dogrulama: surucunun planladigi sabit oranli egri 338.6 m diyor, jerk sinirli gercek hareketi integre ettigimde 337.9 m cikiyor. 0.7 metre. Kabarma payi tam olarak jerkin maliyetini karsilamak icin var ve dogru boyutta.</a:t>
            </a:r>
          </a:p>
          <a:p>
            <a:r>
              <a:rPr lang="tr-TR" dirty="0"/>
              <a:t>ORTA PANEL: 3.1 km'lik bir istasyon araligi. 164 saniye, ortalama 68 km/h. Kirilma noktasi taban hiz.</a:t>
            </a:r>
          </a:p>
          <a:p>
            <a:r>
              <a:rPr lang="tr-TR" dirty="0"/>
              <a:t>SAG PANEL: ayni seyahatin ivmesi. Seyirde sifir - surucu hizi tutuyor, tam guc istemiyor. Buyutec fren devreye girisini gosteriyor: 0'dan -1.0 m/s²'ye jerk siniri yuzunden 2 saniyede iniyor, bir adimda degil. Grafikte hicbir yerde ani ivme sicramasi yok, cunku modelde de yok.</a:t>
            </a:r>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SABIT BLOK: hat sabit parcalara bolunmus, on tren hangi bloktaysa o blok kapali. Tren blogun neresinde olursa olsun bir blok boyu kaybediyorsun - burada 900 m.</a:t>
            </a:r>
          </a:p>
          <a:p>
            <a:r>
              <a:rPr lang="tr-TR" dirty="0"/>
              <a:t>HAREKETLI BLOK (ETCS L3): blok yok. Yetki, on trenin gercek arkasinin 100 m gerisinde bitiyor ve tren oraya durabilecegi hizla yaklasiyor. Buna MUTLAK fren mesafesi denir: ondeki tren duvara carpmis gibi aninda duruyor varsayilir.</a:t>
            </a:r>
          </a:p>
          <a:p>
            <a:r>
              <a:rPr lang="tr-TR" dirty="0"/>
              <a:t>SANAL KUPLAJ: ondeki trenin de fren yapacagi varsayilir, yani gereken sey iki fren mesafesinin FARKI. NISPI fren mesafesi. Kazancin kaynagi bu - ve riski de bu: onde giden trenin freni dogrulanamaz, ve raydan cikan bir tren aninda durur. Aoun'un %45 guvenlik agirligi tam olarak bu belirsizligi olcuyor.</a:t>
            </a:r>
          </a:p>
          <a:p>
            <a:r>
              <a:rPr lang="tr-TR" dirty="0"/>
              <a:t>Kazancin buyuklugu hiza bagli: kabaca v/2 x (1/b - 1/b_acil), bu arac icin 0.17v. 80 km/h'te 3.7 saniye, duran trende sifir. Duraklamali bir hatta kazancin neden kucuk kaldigini bu tek satir aciklıyor.</a:t>
            </a:r>
          </a:p>
          <a:p>
            <a:r>
              <a:rPr lang="tr-TR" dirty="0"/>
              <a:t>ONERI - BURAYA GIF: uc sistemin ayni ani, yan yana. Sabit blokta trenin blok sinirinda beklemesi, hareketli blokta arkaya kilitlenmesi, sanal kuplajda icine girmesi.</a:t>
            </a:r>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Terminoloji: bu gercek bir metro hatti degil, ve oyleymis gibi sunmuyorum. Istasyon araligi 3.1 km ve kapidan kapiya hiz 53 km/h; metroda bunlar 0.8-1.2 km ve 30-35 km/h olur. Kapali cevrim yapisi, her istasyonda durus ve 71-148 saniyelik takip araliklari ise metro-benzeri. Bu yuzden 'kentici demiryolu test agi' diyorum ve sunumun tamaminda bu terimi kullaniyorum.</a:t>
            </a:r>
          </a:p>
          <a:p>
            <a:r>
              <a:rPr lang="tr-TR" dirty="0"/>
              <a:t>Neden cevrim: gidis-donus hatlarda belli bir araligin altinda kisit sinyalizasyon olmaktan cikip terminaldeki sevk sirasi oluyor. Duran trenin kalkis suresini hicbir sinyalizasyon sistemi degistirmez, o yuzden karsilastirma duzlesiyor. Cevrimde her tren kosuyor ve beklemenin tek sebebi onunde birinin olmasi - olculen sey boylece sinyalizasyonun kendisi.</a:t>
            </a:r>
          </a:p>
          <a:p>
            <a:r>
              <a:rPr lang="tr-TR" dirty="0"/>
              <a:t>Istasyonlar bilerek esit araliksiz: gercek bir tarifenin en sikisik yeri vardir. Akyurt 1 - Macunkoy 1 arasindaki 2.5 km burada ilk baglayan yer.</a:t>
            </a:r>
          </a:p>
          <a:p>
            <a:r>
              <a:rPr lang="tr-TR" dirty="0"/>
              <a:t>Bos turda bir tur 79 dk 09 s; bunun 11 dakikasi peronda duruyor.</a:t>
            </a:r>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HAREKET DENKLEMI:   m_eff · a = F(v) − R(v) − m·g·sin(θ)</a:t>
            </a:r>
          </a:p>
          <a:p>
            <a:r>
              <a:rPr lang="tr-TR" dirty="0"/>
              <a:t>  m_eff = m · 1.08 — donen kutleler de hizlandirilmak zorunda: tekerlek, disli, rotor. 216 t tren 233 t gibi davraniyor.</a:t>
            </a:r>
          </a:p>
          <a:p>
            <a:r>
              <a:rPr lang="tr-TR" dirty="0"/>
              <a:t>  F(v) : ceki kuvveti. Taban hiza kadar sabit (233 kN), ustunde P/v ile dusuyor.</a:t>
            </a:r>
          </a:p>
          <a:p>
            <a:r>
              <a:rPr lang="tr-TR" dirty="0"/>
              <a:t>  R(v) : Davis direnci = A + B·v + C·v²  [N, v m/s]. Bu arac icin R(v) = 1404 + 28.1·v + 3.74·v².  A yatak ve yuvarlanma direnci, B flans ve ray temasi - ikisi kutleyle olcekleniyor; C aerodinamik ve kutleyle degil UZUNLUKLA olcekleniyor.</a:t>
            </a:r>
          </a:p>
          <a:p>
            <a:r>
              <a:rPr lang="tr-TR" dirty="0"/>
              <a:t>  m·g·sin(θ) : egim bileseni. Sonradan eklenen bir duzeltme degil, denklemin kendi terimi. Trenin %30'u bir egimde %70'i baskaysa kuvvet trenin ALTINDAKI egimin uzunlukla agirliklandirilmis ortalamasindan hesaplaniyor - tek bir nokta degil, trenin tamami.</a:t>
            </a:r>
          </a:p>
          <a:p>
            <a:r>
              <a:rPr lang="tr-TR" dirty="0"/>
              <a:t>  Fren: talep edilen oran aderans siniriyla (mu·g) kesiliyor, egim dogrudan orana ekleniyor.</a:t>
            </a:r>
          </a:p>
          <a:p>
            <a:r>
              <a:rPr lang="tr-TR" dirty="0"/>
              <a:t>SON MADDE: senaryo dosyasi bir aracin uzunlugunu ve dort performans degerini yaziyor, hepsi bu. Kutle, guc, Davis katsayilari, ceki egrisinin kirildigi hiz, en dik inisteki fren mesafesi - hepsi turetiliyor ve stats.py bunlari formuluyle birlikte yazdiriyor.</a:t>
            </a:r>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Bu slayt butun deneyleri tek karede topluyor.</a:t>
            </a:r>
          </a:p>
          <a:p>
            <a:r>
              <a:rPr lang="tr-TR" dirty="0"/>
              <a:t>Buyuk sicrama sabit bloktan hareketli bloga: duraklamali turda 148 saniyeden 78'e, kapasite neredeyse ikiye katlaniyor (%47). Hareketli bloktan sanal kuplaja gecis ise 78'den 71'e, %9.</a:t>
            </a:r>
          </a:p>
          <a:p>
            <a:r>
              <a:rPr lang="tr-TR" dirty="0"/>
              <a:t>Isletmeci icin yatirim sirasini belirleyen sey bu: buyuk kazanc zaten hareketli blokta aliniyor, sanal kuplaj onun ustune koyuyor.</a:t>
            </a:r>
          </a:p>
          <a:p>
            <a:r>
              <a:rPr lang="tr-TR" dirty="0"/>
              <a:t>Duraksiz isletmede tablo degisiyor: orada sanal kuplajin katkisi %18, yani iki kati. Kazanc isletme bicimine bagli.</a:t>
            </a:r>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IKI AYRI EMNIYET PAYI VAR VE TOPLANIYORLAR. Sistemin payi tehlike noktasinin NEREDE oldugunu belirliyor - hareketli blokta ondeki trenin arkasindan 100 m once, sanal kuplajda 50 m, sabit blokta hic (orada tehlike noktasi zaten bosalmis bir blok siniri). Surucunun payi ise verilen tehlike noktasindan ne kadar once durdugu: 25 m ve sinyalizasyondan bagimsiz. Yani hareketli blokta bir tren ondekinin arkasindan 125 m uzakta tutuluyor.</a:t>
            </a:r>
          </a:p>
          <a:p>
            <a:r>
              <a:rPr lang="tr-TR" dirty="0"/>
              <a:t>SURUCU DAVRANISI: model surucusu 'agresif' anlamda ideal - hicbir metreyi bosa harcamiyor, hiz sinirini da asmiyor. Bu bilerek boyle: amac sinyalizasyonu olcmek, surucu farkini degil. Gercek bir surucu daha temkinli surer ve butun sistemler ayni oranda kotulesir, yani karsilastirma bozulmaz.</a:t>
            </a:r>
          </a:p>
          <a:p>
            <a:r>
              <a:rPr lang="tr-TR" dirty="0"/>
              <a:t>HABERLESME: V2V icin 0.5 s gecikme ve kesintisiz kapsama varsayildi. Kapsama kaybi modellenmedi - bu bir sinirlama; gercekte sanal kuplaj baglantisiz kaldiginda hareketli bloga dusuyor ve model bu geri dususe sahip ama senaryolarda tetiklenmiyor.</a:t>
            </a:r>
          </a:p>
          <a:p>
            <a:r>
              <a:rPr lang="tr-TR" dirty="0"/>
              <a:t>dt = 0.5 s dogrulamasi onemli: iki sinir da ikiser saniye artiyor, aradaki FARK degismiyor. Yani sonuc bir zaman adimi artefakti degil.</a:t>
            </a:r>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Bu sanal kuplaj icin en elverisli vaka: hicbir tren durmuyor, herkes hat hizinda. Nispi fren mesafesinin kazanci hizla buyudugu icin fark burada aciliyor - 39 saniyeden 32 saniyeye, %18.</a:t>
            </a:r>
          </a:p>
          <a:p>
            <a:r>
              <a:rPr lang="tr-TR" dirty="0"/>
              <a:t>Sabit blogun 139 saniyede kalmasinin sebebi sinyalizasyon felsefesi degil, blok uzunlugunun kendisi: 900 metrelik bir blok, tren nerede olursa olsun kaybedilen mesafedir.</a:t>
            </a:r>
          </a:p>
          <a:p>
            <a:r>
              <a:rPr lang="tr-TR" dirty="0"/>
              <a:t>ONERI - BURAYA GIF/VIDEO: duraksiz kosunun canli semasi. Uc sistemi yan yana gostermek en carpici olani; grafigin yerine degil, grafikten once gosterilebilir.</a:t>
            </a:r>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Ayni ag, ayni filo, tek fark her istasyonda durulmasi. Sanal kuplajin ustunlugu %18'den %9'a iniyor.</a:t>
            </a:r>
          </a:p>
          <a:p>
            <a:r>
              <a:rPr lang="tr-TR" dirty="0"/>
              <a:t>Neden: turun buyuk kismi hat hizinin altinda geciyor ve nispi frenin kazanci hizla satin aliniyor - duran trende kazanc sifir. Daha onemlisi, bu araligin altinda baglayan sey peron: bir peron bir takip mesafesi degildir ve hicbir sinyalizasyon sistemi onu kisaltamaz.</a:t>
            </a:r>
          </a:p>
          <a:p>
            <a:r>
              <a:rPr lang="tr-TR" dirty="0"/>
              <a:t>Bu, calismanin en onemli tek bulgusu olabilir: sanal kuplajin kazanci isletme bicimine bagli, teknolojinin kendisine degil. Aoun da duraklamali isletmede kazancin %2'ye indigini buluyor - ayni yon.</a:t>
            </a:r>
          </a:p>
          <a:p>
            <a:r>
              <a:rPr lang="tr-TR" dirty="0"/>
              <a:t>ONERI - BURAYA GIF/VIDEO: duraklamali kosunun semasi; peron isgalinin baglayici oldugu an gorulsun.</a:t>
            </a:r>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METODOLOJI: bir sistemi digerinin tarifesinde kosturmak haksiz karsilastirmadir - payi olan kazanir. O yuzden iki okuma var.</a:t>
            </a:r>
          </a:p>
          <a:p>
            <a:r>
              <a:rPr lang="tr-TR" dirty="0"/>
              <a:t>SOL: ikisi de 78 saniyede, yani isletmecinin bugun hareketli blokla kostugu tarife. Uc olayin ucunde de ayni trenler, ayni tarife; tek degisen sinyalizasyon.</a:t>
            </a:r>
          </a:p>
          <a:p>
            <a:r>
              <a:rPr lang="tr-TR" dirty="0"/>
              <a:t>HIZ KISITLAMASI: 455 saniyeye karsi 455 saniye. Tam olarak ayni. Sebebi su: kisitlama HATTIN kendisine uygulaniyor ve her treni birbirinden bagimsiz olarak ayni sekilde yavaslatiyor. Ortada kuyruk yok, yani nispi frenin kisaltacagi bir takip mesafesi de yok. Sanal kuplaj burada hicbir sey veremez.</a:t>
            </a:r>
          </a:p>
          <a:p>
            <a:r>
              <a:rPr lang="tr-TR" dirty="0"/>
              <a:t>KAPI ARIZASI: 1162'ye karsi 1009 saniye, %13 az. Burada kuyruk VAR - bir tren peronda takiliyor, arkasindakiler ona yetisiyor. Kuyruk tam olarak nispi frenin kisalttigi seydir.</a:t>
            </a:r>
          </a:p>
          <a:p>
            <a:r>
              <a:rPr lang="tr-TR" dirty="0"/>
              <a:t>BULGU: sanal kuplaj gecikmeyi degil KUYRUGU soguruyor. Hattin kendisi yavassa yapabilecegi bir sey yok.</a:t>
            </a:r>
          </a:p>
          <a:p>
            <a:r>
              <a:rPr lang="tr-TR" dirty="0"/>
              <a:t>Yayilan gecikme ayrica: kapi arizasinda MB 982 s, VC 829 s - %16 az. Slayttaki %13 toplam uzerinden, %16 yayilan uzerinden; ikisi de dogru, farkli buyuklukler.</a:t>
            </a:r>
          </a:p>
          <a:p>
            <a:r>
              <a:rPr lang="tr-TR" dirty="0"/>
              <a:t>SAG: kontrol deneyi. Her sistem kendi tum-yesil sinirinda - hareketli blok 78, sanal kuplaj 71. Ikisinde de pay yok ve fark 1162'ye karsi 1156: alti saniye, %0.5. Yani ayri bir toparlanma davranisi YOK. Teknoloji yedi saniye veriyor, baska bir sey degil; onu ya trene harcarsin ya dayanikliliga.</a:t>
            </a:r>
          </a:p>
          <a:p>
            <a:r>
              <a:rPr lang="tr-TR" dirty="0"/>
              <a:t>Hiz kisitlamasi sag grafikte yok cunku iki tarife kisitlamanin saatine farkli sayida tren sokuyor; o satir tarifeden kirleniyor. Kayit icin: MB@71 417 s, VC@71 355 s.</a:t>
            </a:r>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Sagdaki iki panel iz dosyasindan sayildi. Bir tik kuplajli sayiliyor: yetki gerekcesi 'coupled to X' iceriyor ve 'uncoupled' icermiyor - yani sanal kuplaj nispi fren mesafesi veriyor VE tren kuplaj esiginin icinde.</a:t>
            </a:r>
          </a:p>
          <a:p>
            <a:r>
              <a:rPr lang="tr-TR" dirty="0"/>
              <a:t>DURAKSIZ: kosma suresinin %14.5'i kuplajli, ortalama kuplaj 31 s, en uzunu 135 s. Trenler ikiser ikiser esleşiyor - X02 X01'e, X04 X03'e. Yani kural gercekten cift kuruyor.</a:t>
            </a:r>
          </a:p>
          <a:p>
            <a:r>
              <a:rPr lang="tr-TR" dirty="0"/>
              <a:t>DURAKLAMALI: %8.6, ortalama 19 s, en uzunu 30 s. Kuplaj kuruluyor ama her istasyonda bozuluyor; kalici konvoy yok.</a:t>
            </a:r>
          </a:p>
          <a:p>
            <a:r>
              <a:rPr lang="tr-TR" dirty="0"/>
              <a:t>En buyuk konvoy iki tren. Uc ve daha buyuk konvoy bu kurulumda olusmuyor - kuplaj esigi (800 m) ve istasyon sikligi buna izin vermiyor.</a:t>
            </a:r>
          </a:p>
          <a:p>
            <a:r>
              <a:rPr lang="tr-TR" dirty="0"/>
              <a:t>DURUST KAYIT: sinirin kendi maliyeti duraksiz turda 213 saniye; serbest birakma bunun 150 saniyesini geri aliyor, tamamini degil. Ayrica tesvikli satir 70 km/h'e gore planlanip 90 kosabildigi icin toparlanma payi tasiyor - kuralin payi ile planin payi bu kurulumda ayrilamiyor.</a:t>
            </a:r>
          </a:p>
          <a:p>
            <a:r>
              <a:rPr lang="tr-TR" dirty="0"/>
              <a:t>ONERI - BURAYA GIF: iki trenin kuplaj kurup istasyonda ayrilmasi.</a:t>
            </a:r>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Bu slaydin isi dengeli olmak. Sanal kuplaj her kosulda daha iyi degil; ISLETME BICIMINE bagli olarak daha iyi.</a:t>
            </a:r>
          </a:p>
          <a:p>
            <a:r>
              <a:rPr lang="tr-TR" dirty="0"/>
              <a:t>Duraksiz, yuksek hizli, az duraklı bir hatta kazanc gercek ve buyuk. Her istasyonda duran bir hatta kazanc kuculuyor cunku baglayan sey artik sinyalizasyon degil.</a:t>
            </a:r>
          </a:p>
          <a:p>
            <a:r>
              <a:rPr lang="tr-TR" dirty="0"/>
              <a:t>Ve buyuk resimde: asil kazanci sabit bloktan hareketli bloga gecis veriyor. Sanal kuplaj bunun ustune bir kat daha koyuyor - onemli ama ikincil bir adim.</a:t>
            </a:r>
          </a:p>
          <a:p>
            <a:r>
              <a:rPr lang="tr-TR" dirty="0"/>
              <a:t>SINIRLAMALAR (sorulursa): (1) egim sinyalizasyon katmaninin yetki hesabinda dikkate alinmiyor, sadece trenin fren mesafesinde. (2) Konvoy satiri planlama payi tasiyor. (3) Tek arac tipi, tek ag geometrisi. (4) V2V kapsama kaybi modellenmedi.</a:t>
            </a:r>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KAPANIS: sanal kuplaj kapasitede hareketli bloktan iyi, ama karari kapasite vermiyor. Aoun'un olctugu agirliklara gore karar %45 guvenlik, %32 regulasyon onayi, sadece %5.6 kapasite. Hareketli blok bugun daha olgun oldugu icin genel skorda one geciyor.</a:t>
            </a:r>
          </a:p>
          <a:p>
            <a:r>
              <a:rPr lang="tr-TR" dirty="0"/>
              <a:t>DIKKAT - burada ne SOYLEMIYORUM: sanal kuplajin daha ucuz oldugunu soylemiyorum, cunku bu calismada maliyet analizi yapmadim. Soyleyebilecegim sey su: sanal kuplaj ayirmayi trenin uzerine tasiyor, dolayisiyla saha donanimina bagimliligi azaltma potansiyeli var. Bunun paraya ne kadar cevrildigi ayri bir calisma konusu.</a:t>
            </a:r>
          </a:p>
          <a:p>
            <a:r>
              <a:rPr lang="tr-TR" dirty="0"/>
              <a:t>Teknoloji olgunlastikca ve araç ustu sistemlerin maliyeti dustukce tablo sanal kuplaj lehine doner; olctugum kapasite farki bu beklentinin sayisal tarafini destekliyor. Ama bugun icin durust cevap: duraksiz isletmede evet, duraklamali isletmede marjinal.</a:t>
            </a: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SELSAN_MAST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C4A3F6-F0EE-4B67-9AE7-538725797B9C}"/>
              </a:ext>
            </a:extLst>
          </p:cNvPr>
          <p:cNvSpPr/>
          <p:nvPr userDrawn="1"/>
        </p:nvSpPr>
        <p:spPr>
          <a:xfrm>
            <a:off x="0" y="1"/>
            <a:ext cx="12192000" cy="6857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Rectangle 10">
            <a:extLst>
              <a:ext uri="{FF2B5EF4-FFF2-40B4-BE49-F238E27FC236}">
                <a16:creationId xmlns:a16="http://schemas.microsoft.com/office/drawing/2014/main" id="{0F9493B5-CA16-4EBB-A083-B213EF16796C}"/>
              </a:ext>
            </a:extLst>
          </p:cNvPr>
          <p:cNvSpPr/>
          <p:nvPr userDrawn="1"/>
        </p:nvSpPr>
        <p:spPr>
          <a:xfrm>
            <a:off x="0" y="-8805"/>
            <a:ext cx="12192000" cy="6865882"/>
          </a:xfrm>
          <a:prstGeom prst="rect">
            <a:avLst/>
          </a:prstGeom>
          <a:blipFill>
            <a:blip r:embed="rId2" cstate="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77" name="Rounded Rectangle 10">
            <a:extLst>
              <a:ext uri="{FF2B5EF4-FFF2-40B4-BE49-F238E27FC236}">
                <a16:creationId xmlns:a16="http://schemas.microsoft.com/office/drawing/2014/main" id="{EF6AA81D-52A3-47E3-A296-08352AF39B88}"/>
              </a:ext>
            </a:extLst>
          </p:cNvPr>
          <p:cNvSpPr/>
          <p:nvPr userDrawn="1"/>
        </p:nvSpPr>
        <p:spPr>
          <a:xfrm>
            <a:off x="4766553" y="291830"/>
            <a:ext cx="7062281" cy="6264613"/>
          </a:xfrm>
          <a:prstGeom prst="roundRect">
            <a:avLst>
              <a:gd name="adj" fmla="val 6457"/>
            </a:avLst>
          </a:prstGeom>
          <a:solidFill>
            <a:srgbClr val="FFFFFF"/>
          </a:solidFill>
          <a:effectLst>
            <a:outerShdw blurRad="1087927" dist="50800" dir="3540000" sx="101000" sy="101000" algn="ctr" rotWithShape="0">
              <a:srgbClr val="3F403F">
                <a:alpha val="25000"/>
              </a:srgbClr>
            </a:outerShdw>
          </a:effectLst>
        </p:spPr>
        <p:txBody>
          <a:bodyPr wrap="square" lIns="182880" tIns="0" rIns="18288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endParaRPr>
          </a:p>
        </p:txBody>
      </p:sp>
      <p:sp>
        <p:nvSpPr>
          <p:cNvPr id="78" name="Rectangle: Rounded Corners 40">
            <a:extLst>
              <a:ext uri="{FF2B5EF4-FFF2-40B4-BE49-F238E27FC236}">
                <a16:creationId xmlns:a16="http://schemas.microsoft.com/office/drawing/2014/main" id="{4D1EF7EB-55D3-4EE7-A1DA-2327835C2ACD}"/>
              </a:ext>
            </a:extLst>
          </p:cNvPr>
          <p:cNvSpPr/>
          <p:nvPr userDrawn="1"/>
        </p:nvSpPr>
        <p:spPr>
          <a:xfrm>
            <a:off x="5407103" y="4720353"/>
            <a:ext cx="5799161" cy="1306154"/>
          </a:xfrm>
          <a:prstGeom prst="roundRect">
            <a:avLst>
              <a:gd name="adj" fmla="val 10322"/>
            </a:avLst>
          </a:prstGeom>
          <a:solidFill>
            <a:srgbClr val="FF5620"/>
          </a:solidFill>
          <a:ln w="19050">
            <a:noFill/>
          </a:ln>
          <a:effectLst/>
        </p:spPr>
        <p:txBody>
          <a:bodyPr vert="horz" wrap="square" lIns="91440" tIns="45720" rIns="91440" bIns="45720" numCol="1" anchor="t" anchorCtr="0" compatLnSpc="1">
            <a:prstTxWarp prst="textNoShape">
              <a:avLst/>
            </a:prstTxWarp>
          </a:bodyPr>
          <a:lstStyle/>
          <a:p>
            <a:endParaRPr lang="en-ID" kern="0" dirty="0">
              <a:solidFill>
                <a:prstClr val="black"/>
              </a:solidFill>
              <a:latin typeface="Calibri" panose="020F0502020204030204" pitchFamily="34" charset="0"/>
            </a:endParaRPr>
          </a:p>
        </p:txBody>
      </p:sp>
    </p:spTree>
    <p:extLst>
      <p:ext uri="{BB962C8B-B14F-4D97-AF65-F5344CB8AC3E}">
        <p14:creationId xmlns:p14="http://schemas.microsoft.com/office/powerpoint/2010/main" val="1187062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ÜNDEM">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C3444B44-4A70-4031-9D03-BBCBCC73B5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66" y="3806"/>
            <a:ext cx="12178468" cy="6850388"/>
          </a:xfrm>
          <a:prstGeom prst="rect">
            <a:avLst/>
          </a:prstGeom>
          <a:blipFill>
            <a:blip r:embed="rId3"/>
            <a:stretch>
              <a:fillRect/>
            </a:stretch>
          </a:blipFill>
        </p:spPr>
      </p:pic>
      <p:cxnSp>
        <p:nvCxnSpPr>
          <p:cNvPr id="7" name="Straight Connector 6">
            <a:extLst>
              <a:ext uri="{FF2B5EF4-FFF2-40B4-BE49-F238E27FC236}">
                <a16:creationId xmlns:a16="http://schemas.microsoft.com/office/drawing/2014/main" id="{B0189CC1-5D7A-41BE-A905-EC72AF42E5DF}"/>
              </a:ext>
            </a:extLst>
          </p:cNvPr>
          <p:cNvCxnSpPr>
            <a:cxnSpLocks/>
          </p:cNvCxnSpPr>
          <p:nvPr userDrawn="1"/>
        </p:nvCxnSpPr>
        <p:spPr>
          <a:xfrm>
            <a:off x="738504" y="959618"/>
            <a:ext cx="0" cy="5175175"/>
          </a:xfrm>
          <a:prstGeom prst="line">
            <a:avLst/>
          </a:prstGeom>
          <a:ln w="28575">
            <a:solidFill>
              <a:srgbClr val="003087"/>
            </a:solidFill>
          </a:ln>
        </p:spPr>
        <p:style>
          <a:lnRef idx="1">
            <a:schemeClr val="accent1"/>
          </a:lnRef>
          <a:fillRef idx="0">
            <a:schemeClr val="accent1"/>
          </a:fillRef>
          <a:effectRef idx="0">
            <a:schemeClr val="accent1"/>
          </a:effectRef>
          <a:fontRef idx="minor">
            <a:schemeClr val="tx1"/>
          </a:fontRef>
        </p:style>
      </p:cxnSp>
      <p:sp>
        <p:nvSpPr>
          <p:cNvPr id="8" name="Rounded Rectangle 10">
            <a:extLst>
              <a:ext uri="{FF2B5EF4-FFF2-40B4-BE49-F238E27FC236}">
                <a16:creationId xmlns:a16="http://schemas.microsoft.com/office/drawing/2014/main" id="{E69E8E51-13B1-4BE7-A04A-0B29449B4A0C}"/>
              </a:ext>
            </a:extLst>
          </p:cNvPr>
          <p:cNvSpPr/>
          <p:nvPr userDrawn="1"/>
        </p:nvSpPr>
        <p:spPr>
          <a:xfrm>
            <a:off x="0" y="0"/>
            <a:ext cx="12191993" cy="1190649"/>
          </a:xfrm>
          <a:prstGeom prst="roundRect">
            <a:avLst>
              <a:gd name="adj" fmla="val 6457"/>
            </a:avLst>
          </a:prstGeom>
          <a:solidFill>
            <a:srgbClr val="FFFFFF"/>
          </a:solidFill>
          <a:effectLst>
            <a:outerShdw blurRad="381000" dist="50800" dir="3540000" sx="101000" sy="101000" algn="ctr" rotWithShape="0">
              <a:srgbClr val="3F403F">
                <a:alpha val="25000"/>
              </a:srgbClr>
            </a:outerShdw>
          </a:effectLst>
        </p:spPr>
        <p:txBody>
          <a:bodyPr wrap="square" lIns="182880" tIns="0" rIns="18288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&lt;?xml version="1.0" encoding="UTF-8"?&gt;&lt;</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svg</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 id="Layer_1" data-name="Layer 1" </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xmlns</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="http://www.w3.org/2000/svg" </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viewBox</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="0 0 3200 1801.62"&gt;  &lt;</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defs</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&gt;    &lt;style&gt;      .cls-1 {        fill: #c1c1c1;      }    &lt;/style&gt;  &lt;/</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defs</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&gt;  &lt;path class="cls-1" d="M4309.61,1314.68l664.45-833.19c56.16-70.43,77.2-162.59,57.16-250.41l-237.14-1038.97c-20.04-87.82-78.99-161.73-160.15-200.82l-960.16-462.39c-81.16-39.08-175.7-39.08-256.85,0l-960.16,462.39c-81.16,39.08-140.1,113-160.15,200.82l-237.14,1038.97c-20.04,87.82,.99,179.99,57.16,250.41l664.45,833.19c56.16,70.43,141.34,111.44,231.42,111.44h1065.69c90.08,0,175.25-41.02,231.42-111.45Z"/&gt;&lt;/</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svg</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&gt;</a:t>
            </a:r>
          </a:p>
        </p:txBody>
      </p:sp>
      <p:sp>
        <p:nvSpPr>
          <p:cNvPr id="6" name="TextBox 5">
            <a:extLst>
              <a:ext uri="{FF2B5EF4-FFF2-40B4-BE49-F238E27FC236}">
                <a16:creationId xmlns:a16="http://schemas.microsoft.com/office/drawing/2014/main" id="{352D322E-CFAD-4302-98BF-20F17256178F}"/>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ASELSAN ÖZEL</a:t>
            </a:r>
          </a:p>
        </p:txBody>
      </p:sp>
    </p:spTree>
    <p:extLst>
      <p:ext uri="{BB962C8B-B14F-4D97-AF65-F5344CB8AC3E}">
        <p14:creationId xmlns:p14="http://schemas.microsoft.com/office/powerpoint/2010/main" val="4052853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NDAR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BBE562-3E9B-4289-8444-32FE050C7B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Title 3">
            <a:extLst>
              <a:ext uri="{FF2B5EF4-FFF2-40B4-BE49-F238E27FC236}">
                <a16:creationId xmlns:a16="http://schemas.microsoft.com/office/drawing/2014/main" id="{D276C3F1-7F8D-4F73-82CE-EB8562DB187C}"/>
              </a:ext>
            </a:extLst>
          </p:cNvPr>
          <p:cNvSpPr>
            <a:spLocks noGrp="1"/>
          </p:cNvSpPr>
          <p:nvPr>
            <p:ph type="title"/>
          </p:nvPr>
        </p:nvSpPr>
        <p:spPr>
          <a:xfrm>
            <a:off x="409163" y="360549"/>
            <a:ext cx="6060218" cy="1110111"/>
          </a:xfrm>
          <a:prstGeom prst="rect">
            <a:avLst/>
          </a:prstGeom>
          <a:noFill/>
        </p:spPr>
        <p:txBody>
          <a:bodyPr wrap="square" rtlCol="0">
            <a:noAutofit/>
          </a:bodyPr>
          <a:lstStyle>
            <a:lvl1pPr>
              <a:lnSpc>
                <a:spcPct val="100000"/>
              </a:lnSpc>
              <a:defRPr lang="tr-TR" cap="all" dirty="0">
                <a:solidFill>
                  <a:srgbClr val="003087"/>
                </a:solidFill>
                <a:latin typeface="Segoe UI Black" panose="020B0A02040204020203" pitchFamily="34" charset="0"/>
                <a:ea typeface="Segoe UI Black" panose="020B0A02040204020203" pitchFamily="34" charset="0"/>
              </a:defRPr>
            </a:lvl1pPr>
          </a:lstStyle>
          <a:p>
            <a:pPr lvl="0"/>
            <a:r>
              <a:rPr lang="en-US" dirty="0"/>
              <a:t>Click to edit Master title style</a:t>
            </a:r>
            <a:endParaRPr lang="tr-TR" dirty="0"/>
          </a:p>
        </p:txBody>
      </p:sp>
      <p:sp>
        <p:nvSpPr>
          <p:cNvPr id="8" name="Text Placeholder 5">
            <a:extLst>
              <a:ext uri="{FF2B5EF4-FFF2-40B4-BE49-F238E27FC236}">
                <a16:creationId xmlns:a16="http://schemas.microsoft.com/office/drawing/2014/main" id="{CB192974-564B-4CB6-8403-B748517647B2}"/>
              </a:ext>
            </a:extLst>
          </p:cNvPr>
          <p:cNvSpPr>
            <a:spLocks noGrp="1"/>
          </p:cNvSpPr>
          <p:nvPr>
            <p:ph type="body" sz="quarter" idx="13"/>
          </p:nvPr>
        </p:nvSpPr>
        <p:spPr>
          <a:xfrm>
            <a:off x="409163" y="2163759"/>
            <a:ext cx="6380183" cy="1370632"/>
          </a:xfrm>
          <a:prstGeom prst="rect">
            <a:avLst/>
          </a:prstGeom>
          <a:noFill/>
        </p:spPr>
        <p:txBody>
          <a:bodyPr wrap="square" rtlCol="0">
            <a:spAutoFit/>
          </a:bodyPr>
          <a:lstStyle>
            <a:lvl1pPr marL="228600" indent="-228600">
              <a:buClr>
                <a:schemeClr val="bg2"/>
              </a:buClr>
              <a:buSzPct val="150000"/>
              <a:buFont typeface="Arial" panose="020B0604020202020204" pitchFamily="34" charset="0"/>
              <a:buChar char="•"/>
              <a:defRPr kumimoji="0" lang="en-US" sz="16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1pPr>
            <a:lvl2pPr marL="5143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2pPr>
            <a:lvl3pPr marL="9715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3pPr>
            <a:lvl4pPr marL="14287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4pPr>
            <a:lvl5pPr marL="1885950" indent="-285750">
              <a:buClr>
                <a:schemeClr val="bg2"/>
              </a:buClr>
              <a:buSzPct val="150000"/>
              <a:buFont typeface="Arial" panose="020B0604020202020204" pitchFamily="34" charset="0"/>
              <a:buChar char="•"/>
              <a:defRPr kumimoji="0" lang="tr-TR" sz="1400" b="0" i="0" u="none" strike="noStrike" kern="1200" cap="none" spc="0" normalizeH="0" baseline="0" dirty="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5pPr>
          </a:lstStyle>
          <a:p>
            <a:pPr marL="0" marR="0" lvl="0" indent="0" fontAlgn="auto">
              <a:lnSpc>
                <a:spcPct val="100000"/>
              </a:lnSpc>
              <a:spcBef>
                <a:spcPts val="0"/>
              </a:spcBef>
              <a:spcAft>
                <a:spcPts val="0"/>
              </a:spcAft>
              <a:buClrTx/>
              <a:buSzTx/>
              <a:buFontTx/>
              <a:buNone/>
              <a:tabLst/>
            </a:pPr>
            <a:r>
              <a:rPr lang="en-US" dirty="0"/>
              <a:t>Edit Master text styles</a:t>
            </a:r>
          </a:p>
          <a:p>
            <a:pPr marL="457200" lvl="1"/>
            <a:r>
              <a:rPr lang="en-US" dirty="0"/>
              <a:t>Second level</a:t>
            </a:r>
          </a:p>
          <a:p>
            <a:pPr marL="914400" lvl="2"/>
            <a:r>
              <a:rPr lang="en-US" dirty="0"/>
              <a:t>Third level</a:t>
            </a:r>
          </a:p>
          <a:p>
            <a:pPr marL="1371600" lvl="3"/>
            <a:r>
              <a:rPr lang="en-US" dirty="0"/>
              <a:t>Fourth level</a:t>
            </a:r>
          </a:p>
          <a:p>
            <a:pPr marL="1828800" lvl="4"/>
            <a:r>
              <a:rPr lang="en-US" dirty="0"/>
              <a:t>Fifth level</a:t>
            </a:r>
            <a:endParaRPr lang="tr-TR" dirty="0"/>
          </a:p>
        </p:txBody>
      </p:sp>
      <p:sp>
        <p:nvSpPr>
          <p:cNvPr id="12" name="TextBox 11">
            <a:extLst>
              <a:ext uri="{FF2B5EF4-FFF2-40B4-BE49-F238E27FC236}">
                <a16:creationId xmlns:a16="http://schemas.microsoft.com/office/drawing/2014/main" id="{D47051C9-0D3C-4A28-8D21-5619826A7E24}"/>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ASELSAN ÖZEL</a:t>
            </a:r>
          </a:p>
        </p:txBody>
      </p:sp>
    </p:spTree>
    <p:extLst>
      <p:ext uri="{BB962C8B-B14F-4D97-AF65-F5344CB8AC3E}">
        <p14:creationId xmlns:p14="http://schemas.microsoft.com/office/powerpoint/2010/main" val="1859072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SELSAN ÖZEL">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A778907C-1DE9-410A-B218-F36AE6BFA189}"/>
              </a:ext>
            </a:extLst>
          </p:cNvPr>
          <p:cNvSpPr>
            <a:spLocks noGrp="1"/>
          </p:cNvSpPr>
          <p:nvPr>
            <p:ph type="title"/>
          </p:nvPr>
        </p:nvSpPr>
        <p:spPr>
          <a:xfrm>
            <a:off x="409163" y="360549"/>
            <a:ext cx="6060218" cy="1110111"/>
          </a:xfrm>
          <a:prstGeom prst="rect">
            <a:avLst/>
          </a:prstGeom>
          <a:noFill/>
        </p:spPr>
        <p:txBody>
          <a:bodyPr wrap="square" rtlCol="0">
            <a:noAutofit/>
          </a:bodyPr>
          <a:lstStyle>
            <a:lvl1pPr>
              <a:lnSpc>
                <a:spcPct val="100000"/>
              </a:lnSpc>
              <a:defRPr lang="tr-TR" cap="all" dirty="0">
                <a:solidFill>
                  <a:srgbClr val="003087"/>
                </a:solidFill>
                <a:ea typeface="+mn-ea"/>
              </a:defRPr>
            </a:lvl1pPr>
          </a:lstStyle>
          <a:p>
            <a:pPr lvl="0"/>
            <a:r>
              <a:rPr lang="en-US" dirty="0"/>
              <a:t>Click to edit Master title style</a:t>
            </a:r>
            <a:endParaRPr lang="tr-TR" dirty="0"/>
          </a:p>
        </p:txBody>
      </p:sp>
      <p:sp>
        <p:nvSpPr>
          <p:cNvPr id="9" name="Text Placeholder 5">
            <a:extLst>
              <a:ext uri="{FF2B5EF4-FFF2-40B4-BE49-F238E27FC236}">
                <a16:creationId xmlns:a16="http://schemas.microsoft.com/office/drawing/2014/main" id="{EE6B1F48-14DC-43AB-A8AF-1E381E4EA43D}"/>
              </a:ext>
            </a:extLst>
          </p:cNvPr>
          <p:cNvSpPr>
            <a:spLocks noGrp="1"/>
          </p:cNvSpPr>
          <p:nvPr>
            <p:ph type="body" sz="quarter" idx="13"/>
          </p:nvPr>
        </p:nvSpPr>
        <p:spPr>
          <a:xfrm>
            <a:off x="409163" y="2163759"/>
            <a:ext cx="6380183" cy="1370632"/>
          </a:xfrm>
          <a:prstGeom prst="rect">
            <a:avLst/>
          </a:prstGeom>
          <a:noFill/>
        </p:spPr>
        <p:txBody>
          <a:bodyPr wrap="square" rtlCol="0">
            <a:spAutoFit/>
          </a:bodyPr>
          <a:lstStyle>
            <a:lvl1pPr marL="228600" indent="-228600">
              <a:buClr>
                <a:schemeClr val="bg2"/>
              </a:buClr>
              <a:buSzPct val="150000"/>
              <a:buFont typeface="Arial" panose="020B0604020202020204" pitchFamily="34" charset="0"/>
              <a:buChar char="•"/>
              <a:defRPr kumimoji="0" lang="en-US" sz="16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1pPr>
            <a:lvl2pPr marL="5143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2pPr>
            <a:lvl3pPr marL="9715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3pPr>
            <a:lvl4pPr marL="14287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4pPr>
            <a:lvl5pPr marL="1885950" indent="-285750">
              <a:buClr>
                <a:schemeClr val="bg2"/>
              </a:buClr>
              <a:buSzPct val="150000"/>
              <a:buFont typeface="Arial" panose="020B0604020202020204" pitchFamily="34" charset="0"/>
              <a:buChar char="•"/>
              <a:defRPr kumimoji="0" lang="tr-TR" sz="1400" b="0" i="0" u="none" strike="noStrike" kern="1200" cap="none" spc="0" normalizeH="0" baseline="0" dirty="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5pPr>
          </a:lstStyle>
          <a:p>
            <a:pPr marL="0" marR="0" lvl="0" indent="0" fontAlgn="auto">
              <a:lnSpc>
                <a:spcPct val="100000"/>
              </a:lnSpc>
              <a:spcBef>
                <a:spcPts val="0"/>
              </a:spcBef>
              <a:spcAft>
                <a:spcPts val="0"/>
              </a:spcAft>
              <a:buClrTx/>
              <a:buSzTx/>
              <a:buFontTx/>
              <a:buNone/>
              <a:tabLst/>
            </a:pPr>
            <a:r>
              <a:rPr lang="en-US" dirty="0"/>
              <a:t>Edit Master text styles</a:t>
            </a:r>
          </a:p>
          <a:p>
            <a:pPr marL="457200" lvl="1"/>
            <a:r>
              <a:rPr lang="en-US" dirty="0"/>
              <a:t>Second level</a:t>
            </a:r>
          </a:p>
          <a:p>
            <a:pPr marL="914400" lvl="2"/>
            <a:r>
              <a:rPr lang="en-US" dirty="0"/>
              <a:t>Third level</a:t>
            </a:r>
          </a:p>
          <a:p>
            <a:pPr marL="1371600" lvl="3"/>
            <a:r>
              <a:rPr lang="en-US" dirty="0"/>
              <a:t>Fourth level</a:t>
            </a:r>
          </a:p>
          <a:p>
            <a:pPr marL="1828800" lvl="4"/>
            <a:r>
              <a:rPr lang="en-US" dirty="0"/>
              <a:t>Fifth level</a:t>
            </a:r>
            <a:endParaRPr lang="tr-TR" dirty="0"/>
          </a:p>
        </p:txBody>
      </p:sp>
      <p:sp>
        <p:nvSpPr>
          <p:cNvPr id="11" name="TextBox 10">
            <a:extLst>
              <a:ext uri="{FF2B5EF4-FFF2-40B4-BE49-F238E27FC236}">
                <a16:creationId xmlns:a16="http://schemas.microsoft.com/office/drawing/2014/main" id="{1632DA59-EDF8-4457-8CF3-758EB32ED887}"/>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ASELSAN ÖZEL</a:t>
            </a:r>
          </a:p>
        </p:txBody>
      </p:sp>
      <p:pic>
        <p:nvPicPr>
          <p:cNvPr id="5" name="Picture 4">
            <a:extLst>
              <a:ext uri="{FF2B5EF4-FFF2-40B4-BE49-F238E27FC236}">
                <a16:creationId xmlns:a16="http://schemas.microsoft.com/office/drawing/2014/main" id="{90E4F763-14BC-4DC2-9CBF-B0A3C81DF0F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37211" y="6366320"/>
            <a:ext cx="438546" cy="439017"/>
          </a:xfrm>
          <a:prstGeom prst="rect">
            <a:avLst/>
          </a:prstGeom>
        </p:spPr>
      </p:pic>
    </p:spTree>
    <p:extLst>
      <p:ext uri="{BB962C8B-B14F-4D97-AF65-F5344CB8AC3E}">
        <p14:creationId xmlns:p14="http://schemas.microsoft.com/office/powerpoint/2010/main" val="712765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HİZMETE ÖZEL">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870BEECA-EC1A-4F4C-814A-D962AA4777D1}"/>
              </a:ext>
            </a:extLst>
          </p:cNvPr>
          <p:cNvSpPr>
            <a:spLocks noGrp="1"/>
          </p:cNvSpPr>
          <p:nvPr>
            <p:ph type="title"/>
          </p:nvPr>
        </p:nvSpPr>
        <p:spPr>
          <a:xfrm>
            <a:off x="409163" y="360549"/>
            <a:ext cx="6060218" cy="1110111"/>
          </a:xfrm>
          <a:prstGeom prst="rect">
            <a:avLst/>
          </a:prstGeom>
          <a:noFill/>
        </p:spPr>
        <p:txBody>
          <a:bodyPr wrap="square" rtlCol="0">
            <a:noAutofit/>
          </a:bodyPr>
          <a:lstStyle>
            <a:lvl1pPr>
              <a:lnSpc>
                <a:spcPct val="100000"/>
              </a:lnSpc>
              <a:defRPr lang="tr-TR" cap="all" dirty="0">
                <a:solidFill>
                  <a:srgbClr val="003087"/>
                </a:solidFill>
                <a:ea typeface="+mn-ea"/>
              </a:defRPr>
            </a:lvl1pPr>
          </a:lstStyle>
          <a:p>
            <a:pPr lvl="0"/>
            <a:r>
              <a:rPr lang="en-US" dirty="0"/>
              <a:t>Click to edit Master title style</a:t>
            </a:r>
            <a:endParaRPr lang="tr-TR" dirty="0"/>
          </a:p>
        </p:txBody>
      </p:sp>
      <p:sp>
        <p:nvSpPr>
          <p:cNvPr id="9" name="Text Placeholder 5">
            <a:extLst>
              <a:ext uri="{FF2B5EF4-FFF2-40B4-BE49-F238E27FC236}">
                <a16:creationId xmlns:a16="http://schemas.microsoft.com/office/drawing/2014/main" id="{698A1369-A41B-4771-8ADB-8BC54D35FBCC}"/>
              </a:ext>
            </a:extLst>
          </p:cNvPr>
          <p:cNvSpPr>
            <a:spLocks noGrp="1"/>
          </p:cNvSpPr>
          <p:nvPr>
            <p:ph type="body" sz="quarter" idx="13"/>
          </p:nvPr>
        </p:nvSpPr>
        <p:spPr>
          <a:xfrm>
            <a:off x="409163" y="2163759"/>
            <a:ext cx="6380183" cy="1370632"/>
          </a:xfrm>
          <a:prstGeom prst="rect">
            <a:avLst/>
          </a:prstGeom>
          <a:noFill/>
        </p:spPr>
        <p:txBody>
          <a:bodyPr wrap="square" rtlCol="0">
            <a:spAutoFit/>
          </a:bodyPr>
          <a:lstStyle>
            <a:lvl1pPr marL="228600" indent="-228600">
              <a:buClr>
                <a:schemeClr val="bg2"/>
              </a:buClr>
              <a:buSzPct val="150000"/>
              <a:buFont typeface="Arial" panose="020B0604020202020204" pitchFamily="34" charset="0"/>
              <a:buChar char="•"/>
              <a:defRPr kumimoji="0" lang="en-US" sz="16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1pPr>
            <a:lvl2pPr marL="5143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2pPr>
            <a:lvl3pPr marL="9715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3pPr>
            <a:lvl4pPr marL="14287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4pPr>
            <a:lvl5pPr marL="1885950" indent="-285750">
              <a:buClr>
                <a:schemeClr val="bg2"/>
              </a:buClr>
              <a:buSzPct val="150000"/>
              <a:buFont typeface="Arial" panose="020B0604020202020204" pitchFamily="34" charset="0"/>
              <a:buChar char="•"/>
              <a:defRPr kumimoji="0" lang="tr-TR" sz="1400" b="0" i="0" u="none" strike="noStrike" kern="1200" cap="none" spc="0" normalizeH="0" baseline="0" dirty="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5pPr>
          </a:lstStyle>
          <a:p>
            <a:pPr marL="0" marR="0" lvl="0" indent="0" fontAlgn="auto">
              <a:lnSpc>
                <a:spcPct val="100000"/>
              </a:lnSpc>
              <a:spcBef>
                <a:spcPts val="0"/>
              </a:spcBef>
              <a:spcAft>
                <a:spcPts val="0"/>
              </a:spcAft>
              <a:buClrTx/>
              <a:buSzTx/>
              <a:buFontTx/>
              <a:buNone/>
              <a:tabLst/>
            </a:pPr>
            <a:r>
              <a:rPr lang="en-US" dirty="0"/>
              <a:t>Edit Master text styles</a:t>
            </a:r>
          </a:p>
          <a:p>
            <a:pPr marL="457200" lvl="1"/>
            <a:r>
              <a:rPr lang="en-US" dirty="0"/>
              <a:t>Second level</a:t>
            </a:r>
          </a:p>
          <a:p>
            <a:pPr marL="914400" lvl="2"/>
            <a:r>
              <a:rPr lang="en-US" dirty="0"/>
              <a:t>Third level</a:t>
            </a:r>
          </a:p>
          <a:p>
            <a:pPr marL="1371600" lvl="3"/>
            <a:r>
              <a:rPr lang="en-US" dirty="0"/>
              <a:t>Fourth level</a:t>
            </a:r>
          </a:p>
          <a:p>
            <a:pPr marL="1828800" lvl="4"/>
            <a:r>
              <a:rPr lang="en-US" dirty="0"/>
              <a:t>Fifth level</a:t>
            </a:r>
            <a:endParaRPr lang="tr-TR" dirty="0"/>
          </a:p>
        </p:txBody>
      </p:sp>
      <p:sp>
        <p:nvSpPr>
          <p:cNvPr id="10" name="TextBox 9">
            <a:extLst>
              <a:ext uri="{FF2B5EF4-FFF2-40B4-BE49-F238E27FC236}">
                <a16:creationId xmlns:a16="http://schemas.microsoft.com/office/drawing/2014/main" id="{F53DA368-FF7B-4E95-A00F-1CD188007566}"/>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TASNİF DIŞI</a:t>
            </a:r>
          </a:p>
        </p:txBody>
      </p:sp>
      <p:pic>
        <p:nvPicPr>
          <p:cNvPr id="5" name="Picture 4">
            <a:extLst>
              <a:ext uri="{FF2B5EF4-FFF2-40B4-BE49-F238E27FC236}">
                <a16:creationId xmlns:a16="http://schemas.microsoft.com/office/drawing/2014/main" id="{B9A11C57-41BE-4318-9598-DDF713763A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37211" y="6366320"/>
            <a:ext cx="438546" cy="439017"/>
          </a:xfrm>
          <a:prstGeom prst="rect">
            <a:avLst/>
          </a:prstGeom>
        </p:spPr>
      </p:pic>
    </p:spTree>
    <p:extLst>
      <p:ext uri="{BB962C8B-B14F-4D97-AF65-F5344CB8AC3E}">
        <p14:creationId xmlns:p14="http://schemas.microsoft.com/office/powerpoint/2010/main" val="3015171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9493B5-CA16-4EBB-A083-B213EF16796C}"/>
              </a:ext>
            </a:extLst>
          </p:cNvPr>
          <p:cNvSpPr/>
          <p:nvPr userDrawn="1"/>
        </p:nvSpPr>
        <p:spPr>
          <a:xfrm>
            <a:off x="0" y="14067"/>
            <a:ext cx="12192000" cy="6843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3" name="Picture 2">
            <a:extLst>
              <a:ext uri="{FF2B5EF4-FFF2-40B4-BE49-F238E27FC236}">
                <a16:creationId xmlns:a16="http://schemas.microsoft.com/office/drawing/2014/main" id="{FF60B213-FE2D-41FD-9B4A-8C2A887299F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02154" y="4567830"/>
            <a:ext cx="4387693" cy="1638751"/>
          </a:xfrm>
          <a:prstGeom prst="rect">
            <a:avLst/>
          </a:prstGeom>
        </p:spPr>
      </p:pic>
    </p:spTree>
    <p:extLst>
      <p:ext uri="{BB962C8B-B14F-4D97-AF65-F5344CB8AC3E}">
        <p14:creationId xmlns:p14="http://schemas.microsoft.com/office/powerpoint/2010/main" val="714990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con se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9493B5-CA16-4EBB-A083-B213EF16796C}"/>
              </a:ext>
            </a:extLst>
          </p:cNvPr>
          <p:cNvSpPr/>
          <p:nvPr userDrawn="1"/>
        </p:nvSpPr>
        <p:spPr>
          <a:xfrm>
            <a:off x="0" y="14067"/>
            <a:ext cx="12192000" cy="6843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35049781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E764F9-DD66-45F3-8B8C-B3E3FD9829BD}"/>
              </a:ext>
            </a:extLst>
          </p:cNvPr>
          <p:cNvPicPr>
            <a:picLocks noChangeAspect="1"/>
          </p:cNvPicPr>
          <p:nvPr userDrawn="1"/>
        </p:nvPicPr>
        <p:blipFill>
          <a:blip r:embed="rId9"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2" name="Rectangle 11">
            <a:extLst>
              <a:ext uri="{FF2B5EF4-FFF2-40B4-BE49-F238E27FC236}">
                <a16:creationId xmlns:a16="http://schemas.microsoft.com/office/drawing/2014/main" id="{34DAA0DA-4370-4950-932B-0F797D019F1F}"/>
              </a:ext>
            </a:extLst>
          </p:cNvPr>
          <p:cNvSpPr/>
          <p:nvPr userDrawn="1"/>
        </p:nvSpPr>
        <p:spPr>
          <a:xfrm>
            <a:off x="10603788" y="6460258"/>
            <a:ext cx="665567" cy="307777"/>
          </a:xfrm>
          <a:prstGeom prst="rect">
            <a:avLst/>
          </a:prstGeom>
        </p:spPr>
        <p:txBody>
          <a:bodyPr wrap="none">
            <a:spAutoFit/>
          </a:bodyPr>
          <a:lstStyle/>
          <a:p>
            <a:pPr algn="ctr"/>
            <a:fld id="{98D512E5-7CAC-4FDD-81A1-D37F136070B3}" type="slidenum">
              <a:rPr lang="tr-TR" sz="1400" smtClean="0">
                <a:solidFill>
                  <a:schemeClr val="bg1"/>
                </a:solidFill>
                <a:latin typeface="Segoe UI" panose="020B0502040204020203" pitchFamily="34" charset="0"/>
                <a:cs typeface="Segoe UI" panose="020B0502040204020203" pitchFamily="34" charset="0"/>
              </a:rPr>
              <a:t>‹#›</a:t>
            </a:fld>
            <a:r>
              <a:rPr lang="tr-TR" sz="1400" dirty="0">
                <a:solidFill>
                  <a:schemeClr val="bg1"/>
                </a:solidFill>
                <a:latin typeface="Segoe UI" panose="020B0502040204020203" pitchFamily="34" charset="0"/>
                <a:cs typeface="Segoe UI" panose="020B0502040204020203" pitchFamily="34" charset="0"/>
              </a:rPr>
              <a:t>/18</a:t>
            </a:r>
          </a:p>
        </p:txBody>
      </p:sp>
    </p:spTree>
    <p:extLst>
      <p:ext uri="{BB962C8B-B14F-4D97-AF65-F5344CB8AC3E}">
        <p14:creationId xmlns:p14="http://schemas.microsoft.com/office/powerpoint/2010/main" val="1031558323"/>
      </p:ext>
    </p:extLst>
  </p:cSld>
  <p:clrMap bg1="lt1" tx1="dk1" bg2="lt2" tx2="dk2" accent1="accent1" accent2="accent2" accent3="accent3" accent4="accent4" accent5="accent5" accent6="accent6" hlink="hlink" folHlink="folHlink"/>
  <p:sldLayoutIdLst>
    <p:sldLayoutId id="2147483653" r:id="rId1"/>
    <p:sldLayoutId id="2147483651" r:id="rId2"/>
    <p:sldLayoutId id="2147483650" r:id="rId3"/>
    <p:sldLayoutId id="2147483654" r:id="rId4"/>
    <p:sldLayoutId id="2147483657" r:id="rId5"/>
    <p:sldLayoutId id="2147483652" r:id="rId6"/>
    <p:sldLayoutId id="2147483656" r:id="rId7"/>
  </p:sldLayoutIdLst>
  <p:hf hdr="0" ftr="0" dt="0"/>
  <p:txStyles>
    <p:titleStyle>
      <a:lvl1pPr marL="0" marR="0" indent="0" algn="l" defTabSz="914400" rtl="0" eaLnBrk="1" fontAlgn="auto" latinLnBrk="0" hangingPunct="1">
        <a:lnSpc>
          <a:spcPts val="4500"/>
        </a:lnSpc>
        <a:spcBef>
          <a:spcPts val="0"/>
        </a:spcBef>
        <a:spcAft>
          <a:spcPts val="0"/>
        </a:spcAft>
        <a:buClrTx/>
        <a:buSzTx/>
        <a:buFontTx/>
        <a:buNone/>
        <a:tabLst/>
        <a:defRPr kumimoji="0" lang="tr-TR" sz="3200" b="1" i="0" u="none" strike="noStrike" kern="1200" cap="none" spc="0" normalizeH="0" baseline="0" noProof="0">
          <a:ln>
            <a:noFill/>
          </a:ln>
          <a:noFill/>
          <a:effectLst/>
          <a:uLnTx/>
          <a:uFillTx/>
          <a:latin typeface="Posterama" panose="020B0504020200020000" pitchFamily="34" charset="0"/>
          <a:ea typeface="+mj-ea"/>
          <a:cs typeface="Posterama" panose="020B0504020200020000"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2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gif"/><Relationship Id="rId3" Type="http://schemas.openxmlformats.org/officeDocument/2006/relationships/image" Target="../media/image9.gif"/><Relationship Id="rId4" Type="http://schemas.openxmlformats.org/officeDocument/2006/relationships/image" Target="../media/image10.gif"/><Relationship Id="rId5" Type="http://schemas.openxmlformats.org/officeDocument/2006/relationships/notesSlide" Target="../notesSlides/notesSlide8.xml"/><Relationship Id="rId6" Type="http://schemas.openxmlformats.org/officeDocument/2006/relationships/image" Target="../media/image2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9.png"/><Relationship Id="rId3"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image" Target="../media/image30.png"/><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image" Target="../media/image31.png"/><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32.png"/><Relationship Id="rId4" Type="http://schemas.openxmlformats.org/officeDocument/2006/relationships/notesSlide" Target="../notesSlides/notesSlide15.xml"/><Relationship Id="rId5"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4.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Dikdörtgen 10">
            <a:extLst>
              <a:ext uri="{FF2B5EF4-FFF2-40B4-BE49-F238E27FC236}">
                <a16:creationId xmlns:a16="http://schemas.microsoft.com/office/drawing/2014/main" id="{1519FEA3-A5AA-106D-D2D9-896F74EDD4D6}"/>
              </a:ext>
            </a:extLst>
          </p:cNvPr>
          <p:cNvSpPr txBox="1"/>
          <p:nvPr/>
        </p:nvSpPr>
        <p:spPr>
          <a:xfrm>
            <a:off x="5161227" y="1792844"/>
            <a:ext cx="6277050" cy="2716623"/>
          </a:xfrm>
          <a:prstGeom prst="rect">
            <a:avLst/>
          </a:prstGeom>
          <a:noFill/>
        </p:spPr>
        <p:txBody>
          <a:bodyPr wrap="square" lIns="360000" rtlCol="0" anchor="ctr" anchorCtr="0">
            <a:noAutofit/>
          </a:bodyPr>
          <a:lstStyle/>
          <a:p>
            <a:r>
              <a:rPr lang="tr-TR"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rPr>
              <a:t>SANAL KUPLAJ</a:t>
            </a:r>
          </a:p>
          <a:p>
            <a:r>
              <a:rPr lang="tr-TR"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rPr>
              <a:t>HAT KAPASİTESİNİ</a:t>
            </a:r>
          </a:p>
          <a:p>
            <a:r>
              <a:rPr lang="tr-TR"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rPr>
              <a:t>NE KADAR ARTIRIR?</a:t>
            </a:r>
          </a:p>
        </p:txBody>
      </p:sp>
      <p:sp>
        <p:nvSpPr>
          <p:cNvPr id="3" name="TextBox 41">
            <a:extLst>
              <a:ext uri="{FF2B5EF4-FFF2-40B4-BE49-F238E27FC236}">
                <a16:creationId xmlns:a16="http://schemas.microsoft.com/office/drawing/2014/main" id="{F819A479-EF03-CC12-7CB1-18256212A344}"/>
              </a:ext>
            </a:extLst>
          </p:cNvPr>
          <p:cNvSpPr txBox="1"/>
          <p:nvPr/>
        </p:nvSpPr>
        <p:spPr>
          <a:xfrm>
            <a:off x="5627566" y="4720353"/>
            <a:ext cx="3648513" cy="1306154"/>
          </a:xfrm>
          <a:prstGeom prst="rect">
            <a:avLst/>
          </a:prstGeom>
          <a:noFill/>
        </p:spPr>
        <p:txBody>
          <a:bodyPr wrap="square" lIns="180000" tIns="72000" rIns="180000" bIns="72000" rtlCol="0" anchor="ctr" anchorCtr="0">
            <a:noAutofit/>
          </a:bodyPr>
          <a:lstStyle/>
          <a:p>
            <a:r>
              <a:rPr lang="en-US" sz="2400" b="1" dirty="0">
                <a:solidFill>
                  <a:schemeClr val="bg1"/>
                </a:solidFill>
                <a:latin typeface="Calibri" panose="020F0502020204030204" pitchFamily="34" charset="0"/>
                <a:cs typeface="Calibri" panose="020F0502020204030204" pitchFamily="34" charset="0"/>
              </a:rPr>
              <a:t>Recepcan YETİMOĞLU </a:t>
            </a:r>
            <a:r>
              <a:rPr lang="tr-TR" dirty="0">
                <a:solidFill>
                  <a:schemeClr val="bg1"/>
                </a:solidFill>
                <a:latin typeface="Calibri" panose="020F0502020204030204" pitchFamily="34" charset="0"/>
                <a:cs typeface="Calibri" panose="020F0502020204030204" pitchFamily="34" charset="0"/>
              </a:rPr>
              <a:t>Unvan: </a:t>
            </a:r>
            <a:r>
              <a:rPr lang="en-US" dirty="0" err="1">
                <a:solidFill>
                  <a:schemeClr val="bg1"/>
                </a:solidFill>
                <a:latin typeface="Calibri" panose="020F0502020204030204" pitchFamily="34" charset="0"/>
                <a:cs typeface="Calibri" panose="020F0502020204030204" pitchFamily="34" charset="0"/>
              </a:rPr>
              <a:t>Elektrik</a:t>
            </a:r>
            <a:r>
              <a:rPr lang="en-US" dirty="0">
                <a:solidFill>
                  <a:schemeClr val="bg1"/>
                </a:solidFill>
                <a:latin typeface="Calibri" panose="020F0502020204030204" pitchFamily="34" charset="0"/>
                <a:cs typeface="Calibri" panose="020F0502020204030204" pitchFamily="34" charset="0"/>
              </a:rPr>
              <a:t> Elektronik</a:t>
            </a:r>
            <a:r>
              <a:rPr lang="tr-TR" dirty="0">
                <a:solidFill>
                  <a:schemeClr val="bg1"/>
                </a:solidFill>
                <a:latin typeface="Calibri" panose="020F0502020204030204" pitchFamily="34" charset="0"/>
                <a:cs typeface="Calibri" panose="020F0502020204030204" pitchFamily="34" charset="0"/>
              </a:rPr>
              <a:t> Mühendisi Öğrencisi</a:t>
            </a:r>
            <a:endParaRPr lang="en-US" dirty="0">
              <a:solidFill>
                <a:schemeClr val="bg1"/>
              </a:solidFill>
              <a:latin typeface="Calibri" panose="020F0502020204030204" pitchFamily="34" charset="0"/>
              <a:cs typeface="Calibri" panose="020F0502020204030204" pitchFamily="34" charset="0"/>
            </a:endParaRPr>
          </a:p>
        </p:txBody>
      </p:sp>
      <p:sp>
        <p:nvSpPr>
          <p:cNvPr id="4" name="TextBox 42">
            <a:extLst>
              <a:ext uri="{FF2B5EF4-FFF2-40B4-BE49-F238E27FC236}">
                <a16:creationId xmlns:a16="http://schemas.microsoft.com/office/drawing/2014/main" id="{97E5BD68-5B2C-B276-DAE5-D3D15A63E50B}"/>
              </a:ext>
            </a:extLst>
          </p:cNvPr>
          <p:cNvSpPr txBox="1"/>
          <p:nvPr/>
        </p:nvSpPr>
        <p:spPr>
          <a:xfrm>
            <a:off x="8998226" y="5136579"/>
            <a:ext cx="2273279" cy="517944"/>
          </a:xfrm>
          <a:prstGeom prst="rect">
            <a:avLst/>
          </a:prstGeom>
          <a:noFill/>
        </p:spPr>
        <p:txBody>
          <a:bodyPr wrap="square" lIns="180000" tIns="72000" rIns="180000" bIns="72000" rtlCol="0">
            <a:spAutoFit/>
          </a:bodyPr>
          <a:lstStyle/>
          <a:p>
            <a:pPr algn="r">
              <a:lnSpc>
                <a:spcPct val="150000"/>
              </a:lnSpc>
            </a:pPr>
            <a:r>
              <a:rPr lang="tr-TR" dirty="0">
                <a:solidFill>
                  <a:schemeClr val="bg1"/>
                </a:solidFill>
                <a:latin typeface="Calibri" panose="020F0502020204030204" pitchFamily="34" charset="0"/>
                <a:cs typeface="Calibri" panose="020F0502020204030204" pitchFamily="34" charset="0"/>
              </a:rPr>
              <a:t> </a:t>
            </a:r>
            <a:r>
              <a:rPr lang="en-US" dirty="0">
                <a:solidFill>
                  <a:schemeClr val="bg1"/>
                </a:solidFill>
                <a:latin typeface="Calibri" panose="020F0502020204030204" pitchFamily="34" charset="0"/>
                <a:cs typeface="Calibri" panose="020F0502020204030204" pitchFamily="34" charset="0"/>
              </a:rPr>
              <a:t>Eylül</a:t>
            </a:r>
            <a:r>
              <a:rPr lang="tr-TR" dirty="0">
                <a:solidFill>
                  <a:schemeClr val="bg1"/>
                </a:solidFill>
                <a:latin typeface="Calibri" panose="020F0502020204030204" pitchFamily="34" charset="0"/>
                <a:cs typeface="Calibri" panose="020F0502020204030204" pitchFamily="34" charset="0"/>
              </a:rPr>
              <a:t> 2026</a:t>
            </a:r>
            <a:endParaRPr lang="en-US" dirty="0">
              <a:solidFill>
                <a:schemeClr val="bg1"/>
              </a:solidFill>
              <a:latin typeface="Calibri" panose="020F0502020204030204" pitchFamily="34" charset="0"/>
              <a:cs typeface="Calibri" panose="020F0502020204030204" pitchFamily="34" charset="0"/>
            </a:endParaRPr>
          </a:p>
        </p:txBody>
      </p:sp>
      <p:sp>
        <p:nvSpPr>
          <p:cNvPr id="35" name="Oval 34">
            <a:extLst>
              <a:ext uri="{FF2B5EF4-FFF2-40B4-BE49-F238E27FC236}">
                <a16:creationId xmlns:a16="http://schemas.microsoft.com/office/drawing/2014/main" id="{2DEF3F28-48E5-46B0-87AD-4AD173E306E9}"/>
              </a:ext>
            </a:extLst>
          </p:cNvPr>
          <p:cNvSpPr/>
          <p:nvPr/>
        </p:nvSpPr>
        <p:spPr>
          <a:xfrm rot="19210176">
            <a:off x="8320880" y="5780054"/>
            <a:ext cx="485022" cy="485022"/>
          </a:xfrm>
          <a:prstGeom prst="ellipse">
            <a:avLst/>
          </a:prstGeom>
          <a:solidFill>
            <a:srgbClr val="FFFFFF"/>
          </a:solidFill>
          <a:ln w="12700" cap="flat" cmpd="sng" algn="ctr">
            <a:noFill/>
            <a:prstDash val="solid"/>
            <a:miter lim="800000"/>
          </a:ln>
          <a:effectLst>
            <a:outerShdw blurRad="393700" dist="50800" dir="5400000" algn="ctr" rotWithShape="0">
              <a:srgbClr val="000000">
                <a:alpha val="2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37" name="Freeform: Shape 36">
            <a:extLst>
              <a:ext uri="{FF2B5EF4-FFF2-40B4-BE49-F238E27FC236}">
                <a16:creationId xmlns:a16="http://schemas.microsoft.com/office/drawing/2014/main" id="{62320595-D2BA-4114-BB14-C7D615578289}"/>
              </a:ext>
            </a:extLst>
          </p:cNvPr>
          <p:cNvSpPr/>
          <p:nvPr/>
        </p:nvSpPr>
        <p:spPr>
          <a:xfrm rot="2700000">
            <a:off x="8454007" y="5917124"/>
            <a:ext cx="218766" cy="218766"/>
          </a:xfrm>
          <a:custGeom>
            <a:avLst/>
            <a:gdLst>
              <a:gd name="connsiteX0" fmla="*/ 1063636 w 1327482"/>
              <a:gd name="connsiteY0" fmla="*/ 0 h 1327482"/>
              <a:gd name="connsiteX1" fmla="*/ 1086849 w 1327482"/>
              <a:gd name="connsiteY1" fmla="*/ 0 h 1327482"/>
              <a:gd name="connsiteX2" fmla="*/ 1327482 w 1327482"/>
              <a:gd name="connsiteY2" fmla="*/ 240633 h 1327482"/>
              <a:gd name="connsiteX3" fmla="*/ 1327482 w 1327482"/>
              <a:gd name="connsiteY3" fmla="*/ 1086849 h 1327482"/>
              <a:gd name="connsiteX4" fmla="*/ 1086849 w 1327482"/>
              <a:gd name="connsiteY4" fmla="*/ 1327482 h 1327482"/>
              <a:gd name="connsiteX5" fmla="*/ 240633 w 1327482"/>
              <a:gd name="connsiteY5" fmla="*/ 1327482 h 1327482"/>
              <a:gd name="connsiteX6" fmla="*/ 0 w 1327482"/>
              <a:gd name="connsiteY6" fmla="*/ 1086849 h 1327482"/>
              <a:gd name="connsiteX7" fmla="*/ 0 w 1327482"/>
              <a:gd name="connsiteY7" fmla="*/ 1065660 h 1327482"/>
              <a:gd name="connsiteX8" fmla="*/ 890953 w 1327482"/>
              <a:gd name="connsiteY8" fmla="*/ 1065662 h 1327482"/>
              <a:gd name="connsiteX9" fmla="*/ 7859 w 1327482"/>
              <a:gd name="connsiteY9" fmla="*/ 182568 h 1327482"/>
              <a:gd name="connsiteX10" fmla="*/ 18910 w 1327482"/>
              <a:gd name="connsiteY10" fmla="*/ 146968 h 1327482"/>
              <a:gd name="connsiteX11" fmla="*/ 192137 w 1327482"/>
              <a:gd name="connsiteY11" fmla="*/ 4889 h 1327482"/>
              <a:gd name="connsiteX12" fmla="*/ 202609 w 1327482"/>
              <a:gd name="connsiteY12" fmla="*/ 3833 h 1327482"/>
              <a:gd name="connsiteX13" fmla="*/ 1063636 w 1327482"/>
              <a:gd name="connsiteY13" fmla="*/ 864860 h 1327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27482" h="1327482">
                <a:moveTo>
                  <a:pt x="1063636" y="0"/>
                </a:moveTo>
                <a:lnTo>
                  <a:pt x="1086849" y="0"/>
                </a:lnTo>
                <a:cubicBezTo>
                  <a:pt x="1219747" y="0"/>
                  <a:pt x="1327482" y="107735"/>
                  <a:pt x="1327482" y="240633"/>
                </a:cubicBezTo>
                <a:lnTo>
                  <a:pt x="1327482" y="1086849"/>
                </a:lnTo>
                <a:cubicBezTo>
                  <a:pt x="1327482" y="1219747"/>
                  <a:pt x="1219747" y="1327482"/>
                  <a:pt x="1086849" y="1327482"/>
                </a:cubicBezTo>
                <a:lnTo>
                  <a:pt x="240633" y="1327482"/>
                </a:lnTo>
                <a:cubicBezTo>
                  <a:pt x="107735" y="1327482"/>
                  <a:pt x="0" y="1219747"/>
                  <a:pt x="0" y="1086849"/>
                </a:cubicBezTo>
                <a:lnTo>
                  <a:pt x="0" y="1065660"/>
                </a:lnTo>
                <a:lnTo>
                  <a:pt x="890953" y="1065662"/>
                </a:lnTo>
                <a:lnTo>
                  <a:pt x="7859" y="182568"/>
                </a:lnTo>
                <a:lnTo>
                  <a:pt x="18910" y="146968"/>
                </a:lnTo>
                <a:cubicBezTo>
                  <a:pt x="49352" y="74995"/>
                  <a:pt x="113814" y="20916"/>
                  <a:pt x="192137" y="4889"/>
                </a:cubicBezTo>
                <a:lnTo>
                  <a:pt x="202609" y="3833"/>
                </a:lnTo>
                <a:lnTo>
                  <a:pt x="1063636" y="864860"/>
                </a:lnTo>
                <a:close/>
              </a:path>
            </a:pathLst>
          </a:custGeom>
          <a:solidFill>
            <a:srgbClr val="FF5620"/>
          </a:solidFill>
          <a:ln>
            <a:noFill/>
          </a:ln>
        </p:spPr>
        <p:txBody>
          <a:bodyPr vert="horz" wrap="square" lIns="91440" tIns="45720" rIns="91440" bIns="45720" numCol="1" anchor="t" anchorCtr="0" compatLnSpc="1">
            <a:prstTxWarp prst="textNoShape">
              <a:avLst/>
            </a:prstTxWarp>
          </a:bodyPr>
          <a:lstStyle/>
          <a:p>
            <a:endParaRPr lang="tr-TR" kern="0" dirty="0">
              <a:solidFill>
                <a:prstClr val="black"/>
              </a:solidFill>
              <a:latin typeface="Calibri" panose="020F0502020204030204" pitchFamily="34" charset="0"/>
            </a:endParaRPr>
          </a:p>
        </p:txBody>
      </p:sp>
      <p:sp>
        <p:nvSpPr>
          <p:cNvPr id="2" name="TextBox 1">
            <a:extLst>
              <a:ext uri="{FF2B5EF4-FFF2-40B4-BE49-F238E27FC236}">
                <a16:creationId xmlns:a16="http://schemas.microsoft.com/office/drawing/2014/main" id="{8269E67F-5369-4BA0-9224-10A574D3CEAA}"/>
              </a:ext>
            </a:extLst>
          </p:cNvPr>
          <p:cNvSpPr txBox="1"/>
          <p:nvPr/>
        </p:nvSpPr>
        <p:spPr>
          <a:xfrm>
            <a:off x="753723" y="2903998"/>
            <a:ext cx="3702271" cy="738664"/>
          </a:xfrm>
          <a:prstGeom prst="rect">
            <a:avLst/>
          </a:prstGeom>
          <a:noFill/>
        </p:spPr>
        <p:txBody>
          <a:bodyPr wrap="square" rtlCol="0">
            <a:spAutoFit/>
          </a:bodyPr>
          <a:lstStyle/>
          <a:p>
            <a:r>
              <a:rPr lang="tr-TR" sz="1400" i="1" dirty="0">
                <a:solidFill>
                  <a:schemeClr val="bg1">
                    <a:lumMod val="65000"/>
                  </a:schemeClr>
                </a:solidFill>
                <a:latin typeface="Segoe UI" panose="020B0502040204020203" pitchFamily="34" charset="0"/>
                <a:cs typeface="Segoe UI" panose="020B0502040204020203" pitchFamily="34" charset="0"/>
              </a:rPr>
              <a:t>Alanımızda </a:t>
            </a:r>
            <a:r>
              <a:rPr lang="tr-TR" sz="1400" b="1" i="1" dirty="0">
                <a:solidFill>
                  <a:schemeClr val="bg1">
                    <a:lumMod val="65000"/>
                  </a:schemeClr>
                </a:solidFill>
                <a:latin typeface="Segoe UI" panose="020B0502040204020203" pitchFamily="34" charset="0"/>
                <a:cs typeface="Segoe UI" panose="020B0502040204020203" pitchFamily="34" charset="0"/>
              </a:rPr>
              <a:t>en iyileri </a:t>
            </a:r>
            <a:r>
              <a:rPr lang="tr-TR" sz="1400" i="1" dirty="0">
                <a:solidFill>
                  <a:schemeClr val="bg1">
                    <a:lumMod val="65000"/>
                  </a:schemeClr>
                </a:solidFill>
                <a:latin typeface="Segoe UI" panose="020B0502040204020203" pitchFamily="34" charset="0"/>
                <a:cs typeface="Segoe UI" panose="020B0502040204020203" pitchFamily="34" charset="0"/>
              </a:rPr>
              <a:t>üretmek,</a:t>
            </a:r>
          </a:p>
          <a:p>
            <a:r>
              <a:rPr lang="tr-TR" sz="1400" b="1" i="1" dirty="0">
                <a:solidFill>
                  <a:schemeClr val="bg1">
                    <a:lumMod val="65000"/>
                  </a:schemeClr>
                </a:solidFill>
                <a:latin typeface="Segoe UI" panose="020B0502040204020203" pitchFamily="34" charset="0"/>
                <a:cs typeface="Segoe UI" panose="020B0502040204020203" pitchFamily="34" charset="0"/>
              </a:rPr>
              <a:t>Oyun değiştirici </a:t>
            </a:r>
            <a:r>
              <a:rPr lang="tr-TR" sz="1400" i="1" dirty="0">
                <a:solidFill>
                  <a:schemeClr val="bg1">
                    <a:lumMod val="65000"/>
                  </a:schemeClr>
                </a:solidFill>
                <a:latin typeface="Segoe UI" panose="020B0502040204020203" pitchFamily="34" charset="0"/>
                <a:cs typeface="Segoe UI" panose="020B0502040204020203" pitchFamily="34" charset="0"/>
              </a:rPr>
              <a:t>teknolojileri geliştirmek,</a:t>
            </a:r>
          </a:p>
          <a:p>
            <a:r>
              <a:rPr lang="tr-TR" sz="1400" b="1" i="1" dirty="0">
                <a:solidFill>
                  <a:schemeClr val="bg1">
                    <a:lumMod val="65000"/>
                  </a:schemeClr>
                </a:solidFill>
                <a:latin typeface="Segoe UI" panose="020B0502040204020203" pitchFamily="34" charset="0"/>
                <a:cs typeface="Segoe UI" panose="020B0502040204020203" pitchFamily="34" charset="0"/>
              </a:rPr>
              <a:t>İhracat</a:t>
            </a:r>
            <a:r>
              <a:rPr lang="tr-TR" sz="1400" i="1" dirty="0">
                <a:solidFill>
                  <a:schemeClr val="bg1">
                    <a:lumMod val="65000"/>
                  </a:schemeClr>
                </a:solidFill>
                <a:latin typeface="Segoe UI" panose="020B0502040204020203" pitchFamily="34" charset="0"/>
                <a:cs typeface="Segoe UI" panose="020B0502040204020203" pitchFamily="34" charset="0"/>
              </a:rPr>
              <a:t> odaklı büyümek.</a:t>
            </a:r>
          </a:p>
        </p:txBody>
      </p:sp>
    </p:spTree>
    <p:extLst>
      <p:ext uri="{BB962C8B-B14F-4D97-AF65-F5344CB8AC3E}">
        <p14:creationId xmlns:p14="http://schemas.microsoft.com/office/powerpoint/2010/main" val="2779230412"/>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9">
            <a:extLst>
              <a:ext uri="{FF2B5EF4-FFF2-40B4-BE49-F238E27FC236}">
                <a16:creationId xmlns:a16="http://schemas.microsoft.com/office/drawing/2014/main" id="{3B5455EA-DF9A-4BBF-BF42-4980D73BBC15}"/>
              </a:ext>
            </a:extLst>
          </p:cNvPr>
          <p:cNvSpPr>
            <a:spLocks noGrp="1"/>
          </p:cNvSpPr>
          <p:nvPr>
            <p:ph type="title"/>
          </p:nvPr>
        </p:nvSpPr>
        <p:spPr>
          <a:xfrm>
            <a:off x="409713" y="360534"/>
            <a:ext cx="5128938" cy="1208921"/>
          </a:xfrm>
          <a:prstGeom prst="rect">
            <a:avLst/>
          </a:prstGeom>
        </p:spPr>
        <p:txBody>
          <a:bodyPr/>
          <a:lstStyle/>
          <a:p>
            <a:r>
              <a:rPr lang="tr-TR" b="0" dirty="0">
                <a:latin typeface="Segoe UI Black" panose="020B0A02040204020203" pitchFamily="34" charset="0"/>
                <a:ea typeface="Segoe UI Black" panose="020B0A02040204020203" pitchFamily="34" charset="0"/>
              </a:rPr>
              <a:t>ÇALIŞMA</a:t>
            </a:r>
          </a:p>
        </p:txBody>
      </p:sp>
      <p:sp>
        <p:nvSpPr>
          <p:cNvPr id="2" name="Rectangle 1">
            <a:extLst>
              <a:ext uri="{FF2B5EF4-FFF2-40B4-BE49-F238E27FC236}">
                <a16:creationId xmlns:a16="http://schemas.microsoft.com/office/drawing/2014/main" id="{D47F25F7-396C-4CA9-B73D-7E5DE0B7D628}"/>
              </a:ext>
            </a:extLst>
          </p:cNvPr>
          <p:cNvSpPr/>
          <p:nvPr/>
        </p:nvSpPr>
        <p:spPr>
          <a:xfrm>
            <a:off x="10610850" y="6457951"/>
            <a:ext cx="742950" cy="257175"/>
          </a:xfrm>
          <a:prstGeom prst="rect">
            <a:avLst/>
          </a:prstGeom>
          <a:solidFill>
            <a:srgbClr val="F0592B"/>
          </a:solidFill>
          <a:ln>
            <a:solidFill>
              <a:srgbClr val="EF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Rectangle 8">
            <a:extLst>
              <a:ext uri="{FF2B5EF4-FFF2-40B4-BE49-F238E27FC236}">
                <a16:creationId xmlns:a16="http://schemas.microsoft.com/office/drawing/2014/main" id="{371BD727-1CC7-44B3-8D58-13A54724542A}"/>
              </a:ext>
            </a:extLst>
          </p:cNvPr>
          <p:cNvSpPr/>
          <p:nvPr/>
        </p:nvSpPr>
        <p:spPr>
          <a:xfrm>
            <a:off x="10610850" y="6431947"/>
            <a:ext cx="359394" cy="338554"/>
          </a:xfrm>
          <a:prstGeom prst="rect">
            <a:avLst/>
          </a:prstGeom>
        </p:spPr>
        <p:txBody>
          <a:bodyPr wrap="none">
            <a:spAutoFit/>
          </a:bodyPr>
          <a:lstStyle/>
          <a:p>
            <a:r>
              <a:rPr lang="tr-TR" sz="1600" dirty="0">
                <a:solidFill>
                  <a:schemeClr val="bg1"/>
                </a:solidFill>
              </a:rPr>
              <a:t>3/18</a:t>
            </a:r>
          </a:p>
        </p:txBody>
      </p:sp>
      <p:sp>
        <p:nvSpPr>
          <p:cNvPr id="90" name="Icerik Metni"/>
          <p:cNvSpPr txBox="1"/>
          <p:nvPr/>
        </p:nvSpPr>
        <p:spPr>
          <a:xfrm>
            <a:off x="411480" y="1450000"/>
            <a:ext cx="11338560" cy="1150000"/>
          </a:xfrm>
          <a:prstGeom prst="rect">
            <a:avLst/>
          </a:prstGeom>
          <a:noFill/>
        </p:spPr>
        <p:txBody>
          <a:bodyPr wrap="square" lIns="0" tIns="0" rIns="0" bIns="0" anchor="ctr">
            <a:normAutofit/>
          </a:bodyPr>
          <a:lstStyle/>
          <a:p>
            <a:pPr marL="228600" indent="-228600">
              <a:spcBef>
                <a:spcPts val="900"/>
              </a:spcBef>
              <a:buClr>
                <a:srgbClr val="E8541F"/>
              </a:buClr>
              <a:buFont typeface="Arial" pitchFamily="34" charset="0"/>
              <a:buChar char="•"/>
            </a:pPr>
            <a:r>
              <a:rPr lang="tr-TR" sz="1600" dirty="0">
                <a:solidFill>
                  <a:srgbClr val="1D2A4D"/>
                </a:solidFill>
                <a:latin typeface="Calibri" pitchFamily="34" charset="0"/>
              </a:rPr>
              <a:t>Soru: Yeni hat yapmadan mevcut altyapıdan daha fazla tren geçirilebilir mi?</a:t>
            </a:r>
          </a:p>
          <a:p>
            <a:pPr marL="228600" indent="-228600">
              <a:spcBef>
                <a:spcPts val="900"/>
              </a:spcBef>
              <a:buClr>
                <a:srgbClr val="E8541F"/>
              </a:buClr>
              <a:buFont typeface="Arial" pitchFamily="34" charset="0"/>
              <a:buChar char="•"/>
            </a:pPr>
            <a:r>
              <a:rPr lang="tr-TR" sz="1600" dirty="0">
                <a:solidFill>
                  <a:srgbClr val="1D2A4D"/>
                </a:solidFill>
                <a:latin typeface="Calibri" pitchFamily="34" charset="0"/>
              </a:rPr>
              <a:t>Yöntem: Aynı ağ, aynı filo, aynı tarife — yalnızca sinyalizasyon değişiyor.</a:t>
            </a:r>
          </a:p>
          <a:p>
            <a:pPr marL="228600" indent="-228600">
              <a:spcBef>
                <a:spcPts val="900"/>
              </a:spcBef>
              <a:buClr>
                <a:srgbClr val="E8541F"/>
              </a:buClr>
              <a:buFont typeface="Arial" pitchFamily="34" charset="0"/>
              <a:buChar char="•"/>
            </a:pPr>
            <a:r>
              <a:rPr lang="tr-TR" sz="1600" dirty="0">
                <a:solidFill>
                  <a:srgbClr val="1D2A4D"/>
                </a:solidFill>
                <a:latin typeface="Calibri" pitchFamily="34" charset="0"/>
              </a:rPr>
              <a:t>Ölçüt: Hattın gecikmeden sürdürebildiği en kısa tren aralığı.</a:t>
            </a:r>
          </a:p>
        </p:txBody>
      </p:sp>
      <p:pic>
        <p:nvPicPr>
          <p:cNvPr id="91" name="Akis"/>
          <p:cNvPicPr>
            <a:picLocks noChangeAspect="1"/>
          </p:cNvPicPr>
          <p:nvPr/>
        </p:nvPicPr>
        <p:blipFill>
          <a:blip r:embed="rId3"/>
          <a:stretch>
            <a:fillRect/>
          </a:stretch>
        </p:blipFill>
        <p:spPr>
          <a:xfrm>
            <a:off x="869649" y="3000000"/>
            <a:ext cx="10422222" cy="2100000"/>
          </a:xfrm>
          <a:prstGeom prst="rect">
            <a:avLst/>
          </a:prstGeom>
        </p:spPr>
      </p:pic>
    </p:spTree>
    <p:extLst>
      <p:ext uri="{BB962C8B-B14F-4D97-AF65-F5344CB8AC3E}">
        <p14:creationId xmlns:p14="http://schemas.microsoft.com/office/powerpoint/2010/main" val="589440327"/>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Metin kutusu 41">
            <a:extLst>
              <a:ext uri="{FF2B5EF4-FFF2-40B4-BE49-F238E27FC236}">
                <a16:creationId xmlns:a16="http://schemas.microsoft.com/office/drawing/2014/main" id="{3ADF1C07-BE85-46EF-8364-B1AB60C7522E}"/>
              </a:ext>
            </a:extLst>
          </p:cNvPr>
          <p:cNvSpPr txBox="1"/>
          <p:nvPr/>
        </p:nvSpPr>
        <p:spPr>
          <a:xfrm>
            <a:off x="1080015" y="2225518"/>
            <a:ext cx="7206129" cy="3385542"/>
          </a:xfrm>
          <a:prstGeom prst="rect">
            <a:avLst/>
          </a:prstGeom>
          <a:noFill/>
        </p:spPr>
        <p:txBody>
          <a:bodyPr wrap="square" rtlCol="0">
            <a:spAutoFit/>
          </a:bodyPr>
          <a:lstStyle/>
          <a:p>
            <a:pPr>
              <a:spcBef>
                <a:spcPts val="1200"/>
              </a:spcBef>
            </a:pPr>
            <a:r>
              <a:rPr lang="tr-TR" b="1" cap="all" dirty="0">
                <a:solidFill>
                  <a:srgbClr val="003087"/>
                </a:solidFill>
                <a:latin typeface="Segoe UI" panose="020B0502040204020203" pitchFamily="34" charset="0"/>
                <a:cs typeface="Segoe UI" panose="020B0502040204020203" pitchFamily="34" charset="0"/>
              </a:rPr>
              <a:t>Çalışma</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Test Ağı</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Literatür</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Sinyalizasyon Sistemleri</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Tren Modeli ve Dinamiği</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Kabuller ve Koşullar</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Deneyler ve Sonuçlar</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Ana Bulgular</a:t>
            </a:r>
          </a:p>
        </p:txBody>
      </p:sp>
      <p:sp>
        <p:nvSpPr>
          <p:cNvPr id="7" name="Oval 6">
            <a:extLst>
              <a:ext uri="{FF2B5EF4-FFF2-40B4-BE49-F238E27FC236}">
                <a16:creationId xmlns:a16="http://schemas.microsoft.com/office/drawing/2014/main" id="{421DA2A1-2B82-4049-8037-E629E1FF3431}"/>
              </a:ext>
            </a:extLst>
          </p:cNvPr>
          <p:cNvSpPr/>
          <p:nvPr/>
        </p:nvSpPr>
        <p:spPr>
          <a:xfrm>
            <a:off x="621287" y="2225518"/>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47" name="Oval 46">
            <a:extLst>
              <a:ext uri="{FF2B5EF4-FFF2-40B4-BE49-F238E27FC236}">
                <a16:creationId xmlns:a16="http://schemas.microsoft.com/office/drawing/2014/main" id="{1C2EE151-3BDE-41E5-A6CA-F331054FF6ED}"/>
              </a:ext>
            </a:extLst>
          </p:cNvPr>
          <p:cNvSpPr/>
          <p:nvPr/>
        </p:nvSpPr>
        <p:spPr>
          <a:xfrm>
            <a:off x="621287" y="2654526"/>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dirty="0"/>
          </a:p>
        </p:txBody>
      </p:sp>
      <p:sp>
        <p:nvSpPr>
          <p:cNvPr id="8" name="Oval 7">
            <a:extLst>
              <a:ext uri="{FF2B5EF4-FFF2-40B4-BE49-F238E27FC236}">
                <a16:creationId xmlns:a16="http://schemas.microsoft.com/office/drawing/2014/main" id="{BB502744-EDCA-4768-A3B5-B3401F023670}"/>
              </a:ext>
            </a:extLst>
          </p:cNvPr>
          <p:cNvSpPr/>
          <p:nvPr/>
        </p:nvSpPr>
        <p:spPr>
          <a:xfrm>
            <a:off x="621287" y="3077691"/>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2" name="Oval 11">
            <a:extLst>
              <a:ext uri="{FF2B5EF4-FFF2-40B4-BE49-F238E27FC236}">
                <a16:creationId xmlns:a16="http://schemas.microsoft.com/office/drawing/2014/main" id="{B367841E-60BF-44EA-A0AE-B3B973DAAF3D}"/>
              </a:ext>
            </a:extLst>
          </p:cNvPr>
          <p:cNvSpPr/>
          <p:nvPr/>
        </p:nvSpPr>
        <p:spPr>
          <a:xfrm>
            <a:off x="621287" y="3890333"/>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3" name="Oval 12">
            <a:extLst>
              <a:ext uri="{FF2B5EF4-FFF2-40B4-BE49-F238E27FC236}">
                <a16:creationId xmlns:a16="http://schemas.microsoft.com/office/drawing/2014/main" id="{13E71E64-10DC-4DA4-BCBD-64E14C2F1B62}"/>
              </a:ext>
            </a:extLst>
          </p:cNvPr>
          <p:cNvSpPr/>
          <p:nvPr/>
        </p:nvSpPr>
        <p:spPr>
          <a:xfrm>
            <a:off x="621287" y="3484012"/>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6" name="Title 9">
            <a:extLst>
              <a:ext uri="{FF2B5EF4-FFF2-40B4-BE49-F238E27FC236}">
                <a16:creationId xmlns:a16="http://schemas.microsoft.com/office/drawing/2014/main" id="{18A96956-405B-4837-AAD0-9AA1CC5CE7FC}"/>
              </a:ext>
            </a:extLst>
          </p:cNvPr>
          <p:cNvSpPr txBox="1">
            <a:spLocks/>
          </p:cNvSpPr>
          <p:nvPr/>
        </p:nvSpPr>
        <p:spPr>
          <a:xfrm>
            <a:off x="421520" y="374078"/>
            <a:ext cx="5946550" cy="595928"/>
          </a:xfrm>
          <a:prstGeom prst="rect">
            <a:avLst/>
          </a:prstGeom>
          <a:noFill/>
        </p:spPr>
        <p:txBody>
          <a:bodyPr wrap="square" rtlCol="0">
            <a:noAutofit/>
          </a:bodyPr>
          <a:lstStyle>
            <a:lvl1pPr marL="0" marR="0" indent="0" algn="l" defTabSz="914400" rtl="0" eaLnBrk="1" fontAlgn="auto" latinLnBrk="0" hangingPunct="1">
              <a:lnSpc>
                <a:spcPct val="100000"/>
              </a:lnSpc>
              <a:spcBef>
                <a:spcPts val="0"/>
              </a:spcBef>
              <a:spcAft>
                <a:spcPts val="0"/>
              </a:spcAft>
              <a:buClrTx/>
              <a:buSzTx/>
              <a:buFontTx/>
              <a:buNone/>
              <a:tabLst/>
              <a:defRPr kumimoji="0" lang="tr-TR" sz="3200" b="1" i="0" u="none" strike="noStrike" kern="1200" cap="all" spc="0" normalizeH="0" baseline="0" noProof="0" dirty="0">
                <a:ln>
                  <a:noFill/>
                </a:ln>
                <a:solidFill>
                  <a:srgbClr val="003087"/>
                </a:solidFill>
                <a:effectLst/>
                <a:uLnTx/>
                <a:uFillTx/>
                <a:latin typeface="Posterama" panose="020B0504020200020000" pitchFamily="34" charset="0"/>
                <a:ea typeface="+mn-ea"/>
                <a:cs typeface="Posterama" panose="020B0504020200020000" pitchFamily="34" charset="0"/>
              </a:defRPr>
            </a:lvl1pPr>
          </a:lstStyle>
          <a:p>
            <a:r>
              <a:rPr lang="tr-TR" dirty="0">
                <a:latin typeface="Segoe UI Black" panose="020B0A02040204020203" pitchFamily="34" charset="0"/>
                <a:ea typeface="Segoe UI Black" panose="020B0A02040204020203" pitchFamily="34" charset="0"/>
              </a:rPr>
              <a:t>İÇERİK</a:t>
            </a:r>
            <a:endParaRPr lang="tr-TR" sz="2400" b="0" dirty="0">
              <a:solidFill>
                <a:srgbClr val="F7931D"/>
              </a:solidFill>
              <a:latin typeface="Segoe UI Black" panose="020B0A02040204020203" pitchFamily="34" charset="0"/>
              <a:ea typeface="Segoe UI Black" panose="020B0A02040204020203" pitchFamily="34" charset="0"/>
            </a:endParaRPr>
          </a:p>
        </p:txBody>
      </p:sp>
      <p:sp>
        <p:nvSpPr>
          <p:cNvPr id="10" name="Oval 9">
            <a:extLst>
              <a:ext uri="{FF2B5EF4-FFF2-40B4-BE49-F238E27FC236}">
                <a16:creationId xmlns:a16="http://schemas.microsoft.com/office/drawing/2014/main" id="{96763803-F06A-4F8C-91C3-B6080C8BF0A4}"/>
              </a:ext>
            </a:extLst>
          </p:cNvPr>
          <p:cNvSpPr/>
          <p:nvPr/>
        </p:nvSpPr>
        <p:spPr>
          <a:xfrm>
            <a:off x="621287" y="4324986"/>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1" name="Oval 10">
            <a:extLst>
              <a:ext uri="{FF2B5EF4-FFF2-40B4-BE49-F238E27FC236}">
                <a16:creationId xmlns:a16="http://schemas.microsoft.com/office/drawing/2014/main" id="{7D009DDF-A7A9-42F9-9A58-F313227F5D2A}"/>
              </a:ext>
            </a:extLst>
          </p:cNvPr>
          <p:cNvSpPr/>
          <p:nvPr/>
        </p:nvSpPr>
        <p:spPr>
          <a:xfrm>
            <a:off x="621287" y="4759640"/>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4" name="Oval 13">
            <a:extLst>
              <a:ext uri="{FF2B5EF4-FFF2-40B4-BE49-F238E27FC236}">
                <a16:creationId xmlns:a16="http://schemas.microsoft.com/office/drawing/2014/main" id="{B8EF4556-5E02-4084-B247-3C1A50FE3201}"/>
              </a:ext>
            </a:extLst>
          </p:cNvPr>
          <p:cNvSpPr/>
          <p:nvPr/>
        </p:nvSpPr>
        <p:spPr>
          <a:xfrm>
            <a:off x="621287" y="5169458"/>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5" name="Oval 14">
            <a:extLst>
              <a:ext uri="{FF2B5EF4-FFF2-40B4-BE49-F238E27FC236}">
                <a16:creationId xmlns:a16="http://schemas.microsoft.com/office/drawing/2014/main" id="{0251A7EC-FFD9-4E04-8DAC-EB886D1891E8}"/>
              </a:ext>
            </a:extLst>
          </p:cNvPr>
          <p:cNvSpPr/>
          <p:nvPr/>
        </p:nvSpPr>
        <p:spPr>
          <a:xfrm>
            <a:off x="621287" y="5579276"/>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7" name="Rectangle 16">
            <a:extLst>
              <a:ext uri="{FF2B5EF4-FFF2-40B4-BE49-F238E27FC236}">
                <a16:creationId xmlns:a16="http://schemas.microsoft.com/office/drawing/2014/main" id="{EBE28D82-48A2-45B8-ACA3-958630194D66}"/>
              </a:ext>
            </a:extLst>
          </p:cNvPr>
          <p:cNvSpPr/>
          <p:nvPr/>
        </p:nvSpPr>
        <p:spPr>
          <a:xfrm>
            <a:off x="10610850" y="6467476"/>
            <a:ext cx="742950" cy="257175"/>
          </a:xfrm>
          <a:prstGeom prst="rect">
            <a:avLst/>
          </a:prstGeom>
          <a:solidFill>
            <a:srgbClr val="F0592B"/>
          </a:solidFill>
          <a:ln>
            <a:solidFill>
              <a:srgbClr val="EF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9" name="Rectangle 18">
            <a:extLst>
              <a:ext uri="{FF2B5EF4-FFF2-40B4-BE49-F238E27FC236}">
                <a16:creationId xmlns:a16="http://schemas.microsoft.com/office/drawing/2014/main" id="{27935050-2192-482F-8BFE-C3950B99E396}"/>
              </a:ext>
            </a:extLst>
          </p:cNvPr>
          <p:cNvSpPr/>
          <p:nvPr/>
        </p:nvSpPr>
        <p:spPr>
          <a:xfrm>
            <a:off x="10620375" y="6431947"/>
            <a:ext cx="359394" cy="338554"/>
          </a:xfrm>
          <a:prstGeom prst="rect">
            <a:avLst/>
          </a:prstGeom>
        </p:spPr>
        <p:txBody>
          <a:bodyPr wrap="none">
            <a:spAutoFit/>
          </a:bodyPr>
          <a:lstStyle/>
          <a:p>
            <a:r>
              <a:rPr lang="tr-TR" sz="1600" dirty="0">
                <a:solidFill>
                  <a:schemeClr val="bg1"/>
                </a:solidFill>
              </a:rPr>
              <a:t>2/18</a:t>
            </a:r>
          </a:p>
        </p:txBody>
      </p:sp>
    </p:spTree>
    <p:extLst>
      <p:ext uri="{BB962C8B-B14F-4D97-AF65-F5344CB8AC3E}">
        <p14:creationId xmlns:p14="http://schemas.microsoft.com/office/powerpoint/2010/main" val="1177313339"/>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42CAF-3293-D8EF-F148-7E38DAEB627B}"/>
              </a:ext>
            </a:extLst>
          </p:cNvPr>
          <p:cNvSpPr>
            <a:spLocks noGrp="1"/>
          </p:cNvSpPr>
          <p:nvPr>
            <p:ph type="title"/>
          </p:nvPr>
        </p:nvSpPr>
        <p:spPr/>
        <p:txBody>
          <a:bodyPr/>
          <a:lstStyle/>
          <a:p>
            <a:r>
              <a:rPr lang="en-US" b="0" dirty="0"/>
              <a:t>LİTERATÜR</a:t>
            </a:r>
            <a:br>
              <a:rPr lang="en-US" dirty="0"/>
            </a:br>
            <a:endParaRPr lang="en-US" dirty="0"/>
          </a:p>
        </p:txBody>
      </p:sp>
      <p:sp>
        <p:nvSpPr>
          <p:cNvPr id="3" name="Text Placeholder 2">
            <a:extLst>
              <a:ext uri="{FF2B5EF4-FFF2-40B4-BE49-F238E27FC236}">
                <a16:creationId xmlns:a16="http://schemas.microsoft.com/office/drawing/2014/main" id="{9D65E0A4-E215-4B12-17B1-EEC3373CE389}"/>
              </a:ext>
            </a:extLst>
          </p:cNvPr>
          <p:cNvSpPr>
            <a:spLocks noGrp="1"/>
          </p:cNvSpPr>
          <p:nvPr>
            <p:ph type="body" sz="quarter" idx="13"/>
          </p:nvPr>
        </p:nvSpPr>
        <p:spPr>
          <a:xfrm>
            <a:off x="411480" y="1463040"/>
            <a:ext cx="11338560" cy="548640"/>
          </a:xfrm>
        </p:spPr>
        <p:txBody>
          <a:bodyPr/>
          <a:lstStyle/>
          <a:p>
            <a:r>
              <a:rPr lang="tr-TR" dirty="0"/>
              <a:t>Sanal kuplajın kapasiteye etkisini ölçen iki temel çalışma ve bu çalışmanın onlara göre yeri.</a:t>
            </a:r>
          </a:p>
        </p:txBody>
      </p:sp>
      <p:pic>
        <p:nvPicPr>
          <p:cNvPr id="4" name="Kartlar"/>
          <p:cNvPicPr>
            <a:picLocks noChangeAspect="1"/>
          </p:cNvPicPr>
          <p:nvPr/>
        </p:nvPicPr>
        <p:blipFill>
          <a:blip r:embed="rId3"/>
          <a:stretch>
            <a:fillRect/>
          </a:stretch>
        </p:blipFill>
        <p:spPr>
          <a:xfrm>
            <a:off x="877569" y="2100000"/>
            <a:ext cx="10406382" cy="3650000"/>
          </a:xfrm>
          <a:prstGeom prst="rect">
            <a:avLst/>
          </a:prstGeom>
        </p:spPr>
      </p:pic>
    </p:spTree>
    <p:extLst>
      <p:ext uri="{BB962C8B-B14F-4D97-AF65-F5344CB8AC3E}">
        <p14:creationId xmlns:p14="http://schemas.microsoft.com/office/powerpoint/2010/main" val="1711816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E81D1-2F2D-8256-4D80-DEC31C90E1B2}"/>
              </a:ext>
            </a:extLst>
          </p:cNvPr>
          <p:cNvSpPr>
            <a:spLocks noGrp="1"/>
          </p:cNvSpPr>
          <p:nvPr>
            <p:ph type="title"/>
          </p:nvPr>
        </p:nvSpPr>
        <p:spPr/>
        <p:txBody>
          <a:bodyPr/>
          <a:lstStyle/>
          <a:p>
            <a:r>
              <a:rPr lang="en-US" b="0" dirty="0"/>
              <a:t>SİNYALİZASYON SİSTEMLERİ</a:t>
            </a:r>
            <a:br>
              <a:rPr lang="en-US" dirty="0"/>
            </a:br>
            <a:endParaRPr lang="en-US" dirty="0"/>
          </a:p>
        </p:txBody>
      </p:sp>
      <p:sp>
        <p:nvSpPr>
          <p:cNvPr id="21" name="Text Placeholder 20">
            <a:extLst>
              <a:ext uri="{FF2B5EF4-FFF2-40B4-BE49-F238E27FC236}">
                <a16:creationId xmlns:a16="http://schemas.microsoft.com/office/drawing/2014/main" id="{B829300A-3A55-49BD-B886-E727EF2BC3BD}"/>
              </a:ext>
            </a:extLst>
          </p:cNvPr>
          <p:cNvSpPr>
            <a:spLocks noGrp="1"/>
          </p:cNvSpPr>
          <p:nvPr>
            <p:ph type="body" sz="quarter" idx="13"/>
          </p:nvPr>
        </p:nvSpPr>
        <p:spPr>
          <a:xfrm>
            <a:off x="411480" y="1480000"/>
            <a:ext cx="11338560" cy="560000"/>
          </a:xfrm>
        </p:spPr>
        <p:txBody>
          <a:bodyPr/>
          <a:lstStyle/>
          <a:p>
            <a:endParaRPr lang="en-US" dirty="0"/>
            <a:r>
              <a:rPr lang="tr-TR" dirty="0"/>
              <a:t>Üçünün farkı tek soruda: ön trenle aramızdaki mesafeyi ne belirliyor?   [3][5]</a:t>
            </a:r>
          </a:p>
        </p:txBody>
      </p:sp>
      <p:pic>
        <p:nvPicPr>
          <p:cNvPr id="22" name="Matris"/>
          <p:cNvPicPr>
            <a:picLocks noChangeAspect="1"/>
          </p:cNvPicPr>
          <p:nvPr/>
        </p:nvPicPr>
        <p:blipFill>
          <a:blip r:embed="rId6"/>
          <a:stretch>
            <a:fillRect/>
          </a:stretch>
        </p:blipFill>
        <p:spPr>
          <a:xfrm>
            <a:off x="411480" y="2317294"/>
            <a:ext cx="11338560" cy="3215412"/>
          </a:xfrm>
          <a:prstGeom prst="rect">
            <a:avLst/>
          </a:prstGeom>
        </p:spPr>
      </p:pic>
    </p:spTree>
    <p:extLst>
      <p:ext uri="{BB962C8B-B14F-4D97-AF65-F5344CB8AC3E}">
        <p14:creationId xmlns:p14="http://schemas.microsoft.com/office/powerpoint/2010/main" val="425683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0B7A9-F84B-37B2-F6A2-ECBDD11357CB}"/>
              </a:ext>
            </a:extLst>
          </p:cNvPr>
          <p:cNvSpPr>
            <a:spLocks noGrp="1"/>
          </p:cNvSpPr>
          <p:nvPr>
            <p:ph type="title"/>
          </p:nvPr>
        </p:nvSpPr>
        <p:spPr/>
        <p:txBody>
          <a:bodyPr/>
          <a:lstStyle/>
          <a:p>
            <a:r>
              <a:rPr lang="en-US" dirty="0" err="1"/>
              <a:t>TEST AĞI</a:t>
            </a:r>
            <a:endParaRPr lang="en-US" dirty="0"/>
          </a:p>
        </p:txBody>
      </p:sp>
      <p:sp>
        <p:nvSpPr>
          <p:cNvPr id="3" name="Text Placeholder 2">
            <a:extLst>
              <a:ext uri="{FF2B5EF4-FFF2-40B4-BE49-F238E27FC236}">
                <a16:creationId xmlns:a16="http://schemas.microsoft.com/office/drawing/2014/main" id="{6FFFACB4-1568-DFBA-A64F-45D0F9665F13}"/>
              </a:ext>
            </a:extLst>
          </p:cNvPr>
          <p:cNvSpPr>
            <a:spLocks noGrp="1"/>
          </p:cNvSpPr>
          <p:nvPr>
            <p:ph type="body" sz="quarter" idx="13"/>
          </p:nvPr>
        </p:nvSpPr>
        <p:spPr>
          <a:xfrm>
            <a:off x="444277" y="915604"/>
            <a:ext cx="11338560" cy="1713290"/>
          </a:xfrm>
        </p:spPr>
        <p:txBody>
          <a:bodyPr/>
          <a:lstStyle/>
          <a:p>
            <a:r>
              <a:rPr lang="tr-TR" dirty="0"/>
              <a:t>Kapalı çevrim (ring)   ·   çift hat   ·   70 km tur   ·   11 istasyon   ·   22 duruş</a:t>
            </a:r>
          </a:p>
          <a:p>
            <a:r>
              <a:rPr lang="tr-TR" dirty="0"/>
              <a:t>3.1 km ortalama istasyon aralığı   ·   900 m blok   ·   10 makas bağlantısı</a:t>
            </a:r>
          </a:p>
          <a:p>
            <a:r>
              <a:rPr lang="tr-TR" dirty="0"/>
              <a:t>80 km/h azami hat hızı   ·   30 s peron beklemesi   ·   12 tren</a:t>
            </a:r>
          </a:p>
          <a:p>
            <a:r>
              <a:rPr lang="tr-TR" dirty="0"/>
              <a:t>Kentiçi demiryolu (urban railway) profili — metro değil, banliyö karakterinde.   [4][6]</a:t>
            </a:r>
          </a:p>
        </p:txBody>
      </p:sp>
      <p:pic>
        <p:nvPicPr>
          <p:cNvPr id="5" name="Picture 4">
            <a:extLst>
              <a:ext uri="{FF2B5EF4-FFF2-40B4-BE49-F238E27FC236}">
                <a16:creationId xmlns:a16="http://schemas.microsoft.com/office/drawing/2014/main" id="{9A2CEE2B-1696-52C2-B75B-160B564246F2}"/>
              </a:ext>
            </a:extLst>
          </p:cNvPr>
          <p:cNvPicPr>
            <a:picLocks noChangeAspect="1"/>
          </p:cNvPicPr>
          <p:nvPr/>
        </p:nvPicPr>
        <p:blipFill>
          <a:blip r:embed="rId2"/>
          <a:stretch>
            <a:fillRect/>
          </a:stretch>
        </p:blipFill>
        <p:spPr>
          <a:xfrm>
            <a:off x="737913" y="2900000"/>
            <a:ext cx="10685694" cy="2900000"/>
          </a:xfrm>
          <a:prstGeom prst="rect">
            <a:avLst/>
          </a:prstGeom>
        </p:spPr>
      </p:pic>
    </p:spTree>
    <p:extLst>
      <p:ext uri="{BB962C8B-B14F-4D97-AF65-F5344CB8AC3E}">
        <p14:creationId xmlns:p14="http://schemas.microsoft.com/office/powerpoint/2010/main" val="1755325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3DD44-FA6C-335B-7369-91F938446FA7}"/>
              </a:ext>
            </a:extLst>
          </p:cNvPr>
          <p:cNvSpPr>
            <a:spLocks noGrp="1"/>
          </p:cNvSpPr>
          <p:nvPr>
            <p:ph type="title"/>
          </p:nvPr>
        </p:nvSpPr>
        <p:spPr/>
        <p:txBody>
          <a:bodyPr/>
          <a:lstStyle/>
          <a:p>
            <a:r>
              <a:rPr lang="en-US" dirty="0"/>
              <a:t>TREN MODELİ VE DİNAMİĞİ</a:t>
            </a:r>
            <a:endParaRPr lang="en-US" dirty="0"/>
          </a:p>
        </p:txBody>
      </p:sp>
      <p:sp>
        <p:nvSpPr>
          <p:cNvPr id="3" name="Text Placeholder 2">
            <a:extLst>
              <a:ext uri="{FF2B5EF4-FFF2-40B4-BE49-F238E27FC236}">
                <a16:creationId xmlns:a16="http://schemas.microsoft.com/office/drawing/2014/main" id="{790FDF56-82D5-917C-286D-10C7115D4598}"/>
              </a:ext>
            </a:extLst>
          </p:cNvPr>
          <p:cNvSpPr>
            <a:spLocks noGrp="1"/>
          </p:cNvSpPr>
          <p:nvPr>
            <p:ph type="body" sz="quarter" idx="13"/>
          </p:nvPr>
        </p:nvSpPr>
        <p:spPr>
          <a:xfrm>
            <a:off x="411480" y="1554480"/>
            <a:ext cx="11338560" cy="4480560"/>
          </a:xfrm>
        </p:spPr>
        <p:txBody>
          <a:bodyPr/>
          <a:lstStyle/>
          <a:p>
            <a:r>
              <a:rPr lang="tr-TR" dirty="0"/>
              <a:t>Araç:   120 m   ·   216 t   ·   90 km/h   ·   2333 kW  (10.8 kW/t)</a:t>
            </a:r>
          </a:p>
          <a:p>
            <a:r>
              <a:rPr lang="tr-TR" dirty="0"/>
              <a:t>Performans:   kalkış 1.0   ·   servis freni 1.0   ·   acil fren 1.5 m/s²</a:t>
            </a:r>
          </a:p>
          <a:p>
            <a:r>
              <a:rPr lang="tr-TR" dirty="0"/>
              <a:t>Dinamik:   çeki eğrisi (taban hız 36 km/h)   ·   Davis direnci   ·   eğim   ·   jerk sınırı 0.5 m/s³</a:t>
            </a:r>
          </a:p>
          <a:p>
            <a:r>
              <a:rPr lang="tr-TR" dirty="0"/>
              <a:t>Türetilen:   kütle, güç, Davis katsayıları, taban hız — hiçbiri senaryo dosyasında yazmıyor</a:t>
            </a:r>
          </a:p>
        </p:txBody>
      </p:sp>
    </p:spTree>
    <p:extLst>
      <p:ext uri="{BB962C8B-B14F-4D97-AF65-F5344CB8AC3E}">
        <p14:creationId xmlns:p14="http://schemas.microsoft.com/office/powerpoint/2010/main" val="3825991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BBA49-041E-4086-8375-602C250F98C3}"/>
              </a:ext>
            </a:extLst>
          </p:cNvPr>
          <p:cNvSpPr>
            <a:spLocks noGrp="1"/>
          </p:cNvSpPr>
          <p:nvPr>
            <p:ph type="title"/>
          </p:nvPr>
        </p:nvSpPr>
        <p:spPr/>
        <p:txBody>
          <a:bodyPr/>
          <a:lstStyle/>
          <a:p>
            <a:r>
              <a:rPr lang="en-US" b="0" dirty="0"/>
              <a:t>KARŞILAŞTIRMALI SONUÇLAR</a:t>
            </a:r>
            <a:br>
              <a:rPr lang="en-US" dirty="0"/>
            </a:br>
            <a:endParaRPr lang="en-US" dirty="0"/>
          </a:p>
        </p:txBody>
      </p:sp>
      <p:sp>
        <p:nvSpPr>
          <p:cNvPr id="3" name="Text Placeholder 2">
            <a:extLst>
              <a:ext uri="{FF2B5EF4-FFF2-40B4-BE49-F238E27FC236}">
                <a16:creationId xmlns:a16="http://schemas.microsoft.com/office/drawing/2014/main" id="{F7D2BFF2-56A7-E1E3-DBB1-4BAC2BFBC3FB}"/>
              </a:ext>
            </a:extLst>
          </p:cNvPr>
          <p:cNvSpPr>
            <a:spLocks noGrp="1"/>
          </p:cNvSpPr>
          <p:nvPr>
            <p:ph type="body" sz="quarter" idx="13"/>
          </p:nvPr>
        </p:nvSpPr>
        <p:spPr>
          <a:xfrm>
            <a:off x="411480" y="1554480"/>
            <a:ext cx="11338560" cy="4480560"/>
          </a:xfrm>
        </p:spPr>
        <p:txBody>
          <a:bodyPr/>
          <a:lstStyle/>
          <a:p>
            <a:r>
              <a:rPr lang="tr-TR" b="1" dirty="0"/>
              <a:t>Aynı ağ, aynı filo, aynı tarife — tek değişken sinyalizasyon.</a:t>
            </a:r>
          </a:p>
        </p:txBody>
      </p:sp>
      <p:pic>
        <p:nvPicPr>
          <p:cNvPr id="4" name="Ozet"/>
          <p:cNvPicPr>
            <a:picLocks noChangeAspect="1"/>
          </p:cNvPicPr>
          <p:nvPr/>
        </p:nvPicPr>
        <p:blipFill>
          <a:blip r:embed="rId3"/>
          <a:stretch>
            <a:fillRect/>
          </a:stretch>
        </p:blipFill>
        <p:spPr>
          <a:xfrm>
            <a:off x="411480" y="2224875"/>
            <a:ext cx="11338560" cy="3400250"/>
          </a:xfrm>
          <a:prstGeom prst="rect">
            <a:avLst/>
          </a:prstGeom>
        </p:spPr>
      </p:pic>
    </p:spTree>
    <p:extLst>
      <p:ext uri="{BB962C8B-B14F-4D97-AF65-F5344CB8AC3E}">
        <p14:creationId xmlns:p14="http://schemas.microsoft.com/office/powerpoint/2010/main" val="6055742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0B7A9-F84B-37B2-F6A2-ECBDD11357CB}"/>
              </a:ext>
            </a:extLst>
          </p:cNvPr>
          <p:cNvSpPr>
            <a:spLocks noGrp="1"/>
          </p:cNvSpPr>
          <p:nvPr>
            <p:ph type="title"/>
          </p:nvPr>
        </p:nvSpPr>
        <p:spPr/>
        <p:txBody>
          <a:bodyPr/>
          <a:lstStyle/>
          <a:p>
            <a:r>
              <a:rPr lang="en-US" dirty="0" err="1"/>
              <a:t>HAREKET EĞRİLERİ</a:t>
            </a:r>
            <a:endParaRPr lang="en-US" dirty="0"/>
          </a:p>
        </p:txBody>
      </p:sp>
      <p:sp>
        <p:nvSpPr>
          <p:cNvPr id="3" name="Text Placeholder 2">
            <a:extLst>
              <a:ext uri="{FF2B5EF4-FFF2-40B4-BE49-F238E27FC236}">
                <a16:creationId xmlns:a16="http://schemas.microsoft.com/office/drawing/2014/main" id="{6FFFACB4-1568-DFBA-A64F-45D0F9665F13}"/>
              </a:ext>
            </a:extLst>
          </p:cNvPr>
          <p:cNvSpPr>
            <a:spLocks noGrp="1"/>
          </p:cNvSpPr>
          <p:nvPr>
            <p:ph type="body" sz="quarter" idx="13"/>
          </p:nvPr>
        </p:nvSpPr>
        <p:spPr>
          <a:xfrm>
            <a:off x="444277" y="915604"/>
            <a:ext cx="11338560" cy="1713290"/>
          </a:xfrm>
        </p:spPr>
        <p:txBody>
          <a:bodyPr/>
          <a:lstStyle/>
          <a:p>
            <a:r>
              <a:rPr lang="tr-TR" dirty="0"/>
              <a:t>Hareket yetkisi bir fren mesafesi değildir:  44 + 22 + 247 + 25 = 339 m.</a:t>
            </a:r>
          </a:p>
          <a:p>
            <a:r>
              <a:rPr lang="tr-TR" dirty="0"/>
              <a:t>Her nokta simülatörün kendi fonksiyonundan — jerk sınırı dahil.</a:t>
            </a:r>
          </a:p>
        </p:txBody>
      </p:sp>
      <p:pic>
        <p:nvPicPr>
          <p:cNvPr id="5" name="Picture 4">
            <a:extLst>
              <a:ext uri="{FF2B5EF4-FFF2-40B4-BE49-F238E27FC236}">
                <a16:creationId xmlns:a16="http://schemas.microsoft.com/office/drawing/2014/main" id="{9A2CEE2B-1696-52C2-B75B-160B564246F2}"/>
              </a:ext>
            </a:extLst>
          </p:cNvPr>
          <p:cNvPicPr>
            <a:picLocks noChangeAspect="1"/>
          </p:cNvPicPr>
          <p:nvPr/>
        </p:nvPicPr>
        <p:blipFill>
          <a:blip r:embed="rId2"/>
          <a:stretch>
            <a:fillRect/>
          </a:stretch>
        </p:blipFill>
        <p:spPr>
          <a:xfrm>
            <a:off x="473569" y="2745766"/>
            <a:ext cx="11214381" cy="3058467"/>
          </a:xfrm>
          <a:prstGeom prst="rect">
            <a:avLst/>
          </a:prstGeom>
        </p:spPr>
      </p:pic>
    </p:spTree>
    <p:extLst>
      <p:ext uri="{BB962C8B-B14F-4D97-AF65-F5344CB8AC3E}">
        <p14:creationId xmlns:p14="http://schemas.microsoft.com/office/powerpoint/2010/main" val="1755325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BBA49-041E-4086-8375-602C250F98C3}"/>
              </a:ext>
            </a:extLst>
          </p:cNvPr>
          <p:cNvSpPr>
            <a:spLocks noGrp="1"/>
          </p:cNvSpPr>
          <p:nvPr>
            <p:ph type="title"/>
          </p:nvPr>
        </p:nvSpPr>
        <p:spPr/>
        <p:txBody>
          <a:bodyPr/>
          <a:lstStyle/>
          <a:p>
            <a:r>
              <a:rPr lang="en-US" b="0" dirty="0"/>
              <a:t>KABULLER VE SİMÜLASYON KOŞULLARI</a:t>
            </a:r>
            <a:br>
              <a:rPr lang="en-US" dirty="0"/>
            </a:br>
            <a:endParaRPr lang="en-US" dirty="0"/>
          </a:p>
        </p:txBody>
      </p:sp>
      <p:sp>
        <p:nvSpPr>
          <p:cNvPr id="3" name="Text Placeholder 2">
            <a:extLst>
              <a:ext uri="{FF2B5EF4-FFF2-40B4-BE49-F238E27FC236}">
                <a16:creationId xmlns:a16="http://schemas.microsoft.com/office/drawing/2014/main" id="{F7D2BFF2-56A7-E1E3-DBB1-4BAC2BFBC3FB}"/>
              </a:ext>
            </a:extLst>
          </p:cNvPr>
          <p:cNvSpPr>
            <a:spLocks noGrp="1"/>
          </p:cNvSpPr>
          <p:nvPr>
            <p:ph type="body" sz="quarter" idx="13"/>
          </p:nvPr>
        </p:nvSpPr>
        <p:spPr>
          <a:xfrm>
            <a:off x="411480" y="1554480"/>
            <a:ext cx="11338560" cy="4480560"/>
          </a:xfrm>
        </p:spPr>
        <p:txBody>
          <a:bodyPr/>
          <a:lstStyle/>
          <a:p>
            <a:r>
              <a:rPr lang="tr-TR" b="1" dirty="0"/>
              <a:t>ARAÇ VE HAREKET</a:t>
            </a:r>
          </a:p>
          <a:p>
            <a:pPr lvl="1"/>
            <a:r>
              <a:rPr lang="tr-TR" dirty="0"/>
              <a:t>120 m · 216 t   ·   90 km/h   ·   1.0 / 1.0 / 1.5 m/s²   ·   jerk 0.5 m/s³</a:t>
            </a:r>
          </a:p>
          <a:p>
            <a:r>
              <a:rPr lang="tr-TR" b="1" dirty="0"/>
              <a:t>AYRIM VE EMNİYET</a:t>
            </a:r>
          </a:p>
          <a:p>
            <a:pPr lvl="1"/>
            <a:r>
              <a:rPr lang="tr-TR" dirty="0"/>
              <a:t>Sistem payı: hareketli blok 100 m · sanal kuplaj 50 m · sabit blok yok</a:t>
            </a:r>
          </a:p>
          <a:p>
            <a:pPr lvl="1"/>
            <a:r>
              <a:rPr lang="tr-TR" dirty="0"/>
              <a:t>Sürücü payı: 25 m, sistemden bağımsız — ikisi toplanır</a:t>
            </a:r>
          </a:p>
          <a:p>
            <a:pPr lvl="1"/>
            <a:r>
              <a:rPr lang="tr-TR" dirty="0"/>
              <a:t>Sürücü: izin verilen her metreyi kullanır; tepki 2.0 s (kabinde 0 s)</a:t>
            </a:r>
          </a:p>
          <a:p>
            <a:r>
              <a:rPr lang="tr-TR" b="1" dirty="0"/>
              <a:t>HABERLEŞME VE ALTYAPI</a:t>
            </a:r>
          </a:p>
          <a:p>
            <a:pPr lvl="1"/>
            <a:r>
              <a:rPr lang="tr-TR" dirty="0"/>
              <a:t>V2V gecikmesi 0.5 s   ·   kesintisiz kapsama   ·   40 km/h makas, 50 km/h dönüş kavisi</a:t>
            </a:r>
          </a:p>
          <a:p>
            <a:r>
              <a:rPr lang="tr-TR" b="1" dirty="0"/>
              <a:t>KOŞULLAR</a:t>
            </a:r>
          </a:p>
          <a:p>
            <a:pPr lvl="1"/>
            <a:r>
              <a:rPr lang="tr-TR" dirty="0"/>
              <a:t>dt = 1.0 s (tümü dt = 0.5 s ile doğrulandı)   ·   12 servis   ·   30 s bekleme</a:t>
            </a:r>
          </a:p>
        </p:txBody>
      </p:sp>
    </p:spTree>
    <p:extLst>
      <p:ext uri="{BB962C8B-B14F-4D97-AF65-F5344CB8AC3E}">
        <p14:creationId xmlns:p14="http://schemas.microsoft.com/office/powerpoint/2010/main" val="605574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6DA32-9D7C-48E0-B063-CC1A4B8D2A66}"/>
              </a:ext>
            </a:extLst>
          </p:cNvPr>
          <p:cNvSpPr>
            <a:spLocks noGrp="1"/>
          </p:cNvSpPr>
          <p:nvPr>
            <p:ph type="title"/>
          </p:nvPr>
        </p:nvSpPr>
        <p:spPr/>
        <p:txBody>
          <a:bodyPr/>
          <a:lstStyle/>
          <a:p>
            <a:r>
              <a:rPr lang="en-US" dirty="0"/>
              <a:t>DURAKSIZ (EXPRESS) İŞLETME</a:t>
            </a:r>
          </a:p>
        </p:txBody>
      </p:sp>
      <p:sp>
        <p:nvSpPr>
          <p:cNvPr id="3" name="Text Placeholder 2">
            <a:extLst>
              <a:ext uri="{FF2B5EF4-FFF2-40B4-BE49-F238E27FC236}">
                <a16:creationId xmlns:a16="http://schemas.microsoft.com/office/drawing/2014/main" id="{67366213-77AB-9F47-59BC-88694E73B2B8}"/>
              </a:ext>
            </a:extLst>
          </p:cNvPr>
          <p:cNvSpPr>
            <a:spLocks noGrp="1"/>
          </p:cNvSpPr>
          <p:nvPr>
            <p:ph type="body" sz="quarter" idx="13"/>
          </p:nvPr>
        </p:nvSpPr>
        <p:spPr>
          <a:xfrm>
            <a:off x="411480" y="1463040"/>
            <a:ext cx="11338560" cy="548640"/>
          </a:xfrm>
        </p:spPr>
        <p:txBody>
          <a:bodyPr/>
          <a:lstStyle/>
          <a:p>
            <a:r>
              <a:rPr lang="tr-TR" dirty="0"/>
              <a:t>Peron kısıtı devrede değil — bağlayıcı olan tek şey trenler arası mesafe.</a:t>
            </a:r>
          </a:p>
        </p:txBody>
      </p:sp>
      <p:pic>
        <p:nvPicPr>
          <p:cNvPr id="203" name="Grafik"/>
          <p:cNvPicPr>
            <a:picLocks noChangeAspect="1"/>
          </p:cNvPicPr>
          <p:nvPr/>
        </p:nvPicPr>
        <p:blipFill>
          <a:blip r:embed="rId3"/>
          <a:stretch>
            <a:fillRect/>
          </a:stretch>
        </p:blipFill>
        <p:spPr>
          <a:xfrm>
            <a:off x="411480" y="2512295"/>
            <a:ext cx="11338560" cy="2875410"/>
          </a:xfrm>
          <a:prstGeom prst="rect">
            <a:avLst/>
          </a:prstGeom>
        </p:spPr>
      </p:pic>
    </p:spTree>
    <p:extLst>
      <p:ext uri="{BB962C8B-B14F-4D97-AF65-F5344CB8AC3E}">
        <p14:creationId xmlns:p14="http://schemas.microsoft.com/office/powerpoint/2010/main" val="1523495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CB793-14AB-F568-A32F-5645D6ACA969}"/>
              </a:ext>
            </a:extLst>
          </p:cNvPr>
          <p:cNvSpPr>
            <a:spLocks noGrp="1"/>
          </p:cNvSpPr>
          <p:nvPr>
            <p:ph type="title"/>
          </p:nvPr>
        </p:nvSpPr>
        <p:spPr/>
        <p:txBody>
          <a:bodyPr/>
          <a:lstStyle/>
          <a:p>
            <a:r>
              <a:rPr lang="en-US" dirty="0"/>
              <a:t>DURAKLAMALI (ALL-STOP) İŞLETME</a:t>
            </a:r>
          </a:p>
        </p:txBody>
      </p:sp>
      <p:sp>
        <p:nvSpPr>
          <p:cNvPr id="3" name="Text Placeholder 2">
            <a:extLst>
              <a:ext uri="{FF2B5EF4-FFF2-40B4-BE49-F238E27FC236}">
                <a16:creationId xmlns:a16="http://schemas.microsoft.com/office/drawing/2014/main" id="{9805FF9A-EB0F-494A-8CB2-3A8FEDFF936A}"/>
              </a:ext>
            </a:extLst>
          </p:cNvPr>
          <p:cNvSpPr>
            <a:spLocks noGrp="1"/>
          </p:cNvSpPr>
          <p:nvPr>
            <p:ph type="body" sz="quarter" idx="13"/>
          </p:nvPr>
        </p:nvSpPr>
        <p:spPr>
          <a:xfrm>
            <a:off x="411480" y="1463040"/>
            <a:ext cx="11338560" cy="548640"/>
          </a:xfrm>
        </p:spPr>
        <p:txBody>
          <a:bodyPr/>
          <a:lstStyle/>
          <a:p>
            <a:r>
              <a:rPr lang="tr-TR" dirty="0"/>
              <a:t>22 duruşlu tur — bağlayıcı kısıt artık sinyalizasyon değil, peron işgali.</a:t>
            </a:r>
          </a:p>
        </p:txBody>
      </p:sp>
      <p:pic>
        <p:nvPicPr>
          <p:cNvPr id="204" name="Grafik"/>
          <p:cNvPicPr>
            <a:picLocks noChangeAspect="1"/>
          </p:cNvPicPr>
          <p:nvPr/>
        </p:nvPicPr>
        <p:blipFill>
          <a:blip r:embed="rId3"/>
          <a:stretch>
            <a:fillRect/>
          </a:stretch>
        </p:blipFill>
        <p:spPr>
          <a:xfrm>
            <a:off x="411480" y="2512295"/>
            <a:ext cx="11338560" cy="2875410"/>
          </a:xfrm>
          <a:prstGeom prst="rect">
            <a:avLst/>
          </a:prstGeom>
        </p:spPr>
      </p:pic>
    </p:spTree>
    <p:extLst>
      <p:ext uri="{BB962C8B-B14F-4D97-AF65-F5344CB8AC3E}">
        <p14:creationId xmlns:p14="http://schemas.microsoft.com/office/powerpoint/2010/main" val="265175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5F1BA-B50D-4FA0-1E12-C910A798D243}"/>
              </a:ext>
            </a:extLst>
          </p:cNvPr>
          <p:cNvSpPr>
            <a:spLocks noGrp="1"/>
          </p:cNvSpPr>
          <p:nvPr>
            <p:ph type="title"/>
          </p:nvPr>
        </p:nvSpPr>
        <p:spPr/>
        <p:txBody>
          <a:bodyPr/>
          <a:lstStyle/>
          <a:p>
            <a:r>
              <a:rPr lang="en-US" dirty="0"/>
              <a:t>BOZUCU ETKİ ALTINDA DAVRANIŞ</a:t>
            </a:r>
          </a:p>
        </p:txBody>
      </p:sp>
      <p:sp>
        <p:nvSpPr>
          <p:cNvPr id="3" name="Text Placeholder 2">
            <a:extLst>
              <a:ext uri="{FF2B5EF4-FFF2-40B4-BE49-F238E27FC236}">
                <a16:creationId xmlns:a16="http://schemas.microsoft.com/office/drawing/2014/main" id="{EAB6E82C-AFE1-FC1E-3B25-E4C8086E1CB8}"/>
              </a:ext>
            </a:extLst>
          </p:cNvPr>
          <p:cNvSpPr>
            <a:spLocks noGrp="1"/>
          </p:cNvSpPr>
          <p:nvPr>
            <p:ph type="body" sz="quarter" idx="13"/>
          </p:nvPr>
        </p:nvSpPr>
        <p:spPr>
          <a:xfrm>
            <a:off x="411480" y="1554480"/>
            <a:ext cx="11338560" cy="4480560"/>
          </a:xfrm>
        </p:spPr>
        <p:txBody>
          <a:bodyPr/>
          <a:lstStyle/>
          <a:p>
            <a:r>
              <a:rPr lang="tr-TR" dirty="0"/>
              <a:t>Üç bozucu etki, iki okuma: aynı tarifede ve her sistem kendi sürdürülebilir aralığında.</a:t>
            </a:r>
          </a:p>
          <a:p>
            <a:r>
              <a:rPr lang="tr-TR" dirty="0"/>
              <a:t>Kazanç sistemin kendisinden değil, elinde kalan paydan geliyor.</a:t>
            </a:r>
          </a:p>
        </p:txBody>
      </p:sp>
      <p:pic>
        <p:nvPicPr>
          <p:cNvPr id="4" name="Bozucu etki grafiği"/>
          <p:cNvPicPr>
            <a:picLocks noChangeAspect="1"/>
          </p:cNvPicPr>
          <p:nvPr/>
        </p:nvPicPr>
        <p:blipFill>
          <a:blip r:embed="rId3"/>
          <a:stretch>
            <a:fillRect/>
          </a:stretch>
        </p:blipFill>
        <p:spPr>
          <a:xfrm>
            <a:off x="694813" y="2330000"/>
            <a:ext cx="5583333" cy="3350000"/>
          </a:xfrm>
          <a:prstGeom prst="rect">
            <a:avLst/>
          </a:prstGeom>
        </p:spPr>
      </p:pic>
      <p:pic>
        <p:nvPicPr>
          <p:cNvPr id="5" name="Bozucu-b"/>
          <p:cNvPicPr>
            <a:picLocks noChangeAspect="1"/>
          </p:cNvPicPr>
          <p:nvPr/>
        </p:nvPicPr>
        <p:blipFill>
          <a:blip r:embed="rId5"/>
          <a:stretch>
            <a:fillRect/>
          </a:stretch>
        </p:blipFill>
        <p:spPr>
          <a:xfrm>
            <a:off x="6650000" y="2422388"/>
            <a:ext cx="5100000" cy="3165224"/>
          </a:xfrm>
          <a:prstGeom prst="rect">
            <a:avLst/>
          </a:prstGeom>
        </p:spPr>
      </p:pic>
    </p:spTree>
    <p:extLst>
      <p:ext uri="{BB962C8B-B14F-4D97-AF65-F5344CB8AC3E}">
        <p14:creationId xmlns:p14="http://schemas.microsoft.com/office/powerpoint/2010/main" val="28218105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D1C50-7279-B932-5A8B-B9F31FADBF91}"/>
              </a:ext>
            </a:extLst>
          </p:cNvPr>
          <p:cNvSpPr>
            <a:spLocks noGrp="1"/>
          </p:cNvSpPr>
          <p:nvPr>
            <p:ph type="title"/>
          </p:nvPr>
        </p:nvSpPr>
        <p:spPr/>
        <p:txBody>
          <a:bodyPr/>
          <a:lstStyle/>
          <a:p>
            <a:r>
              <a:rPr lang="en-US" dirty="0"/>
              <a:t>KONVOY DAVRANIŞI</a:t>
            </a:r>
          </a:p>
        </p:txBody>
      </p:sp>
      <p:sp>
        <p:nvSpPr>
          <p:cNvPr id="3" name="Text Placeholder 2">
            <a:extLst>
              <a:ext uri="{FF2B5EF4-FFF2-40B4-BE49-F238E27FC236}">
                <a16:creationId xmlns:a16="http://schemas.microsoft.com/office/drawing/2014/main" id="{546D0D9C-DE6C-DA93-D4B4-5B95C96A783D}"/>
              </a:ext>
            </a:extLst>
          </p:cNvPr>
          <p:cNvSpPr>
            <a:spLocks noGrp="1"/>
          </p:cNvSpPr>
          <p:nvPr>
            <p:ph type="body" sz="quarter" idx="13"/>
          </p:nvPr>
        </p:nvSpPr>
        <p:spPr>
          <a:xfrm>
            <a:off x="411480" y="1920240"/>
            <a:ext cx="11338560" cy="4114800"/>
          </a:xfrm>
        </p:spPr>
        <p:txBody>
          <a:bodyPr/>
          <a:lstStyle/>
          <a:p>
            <a:r>
              <a:rPr lang="tr-TR" dirty="0"/>
              <a:t>Kural: 70 km/h ile sınırlı; yalnızca öndekine yaklaşırken hat hızına serbest bırakılıyor.</a:t>
            </a:r>
          </a:p>
          <a:p>
            <a:r>
              <a:rPr lang="tr-TR" dirty="0"/>
              <a:t>Kural aralığı kısaltıyor, ama trenler kalıcı konvoy kurmuyor: kuplajlar kısa ve ikişerli.</a:t>
            </a:r>
          </a:p>
        </p:txBody>
      </p:sp>
      <p:pic>
        <p:nvPicPr>
          <p:cNvPr id="4" name="Chart"/>
          <p:cNvPicPr>
            <a:picLocks noChangeAspect="1"/>
          </p:cNvPicPr>
          <p:nvPr/>
        </p:nvPicPr>
        <p:blipFill>
          <a:blip r:embed="rId2"/>
          <a:stretch>
            <a:fillRect/>
          </a:stretch>
        </p:blipFill>
        <p:spPr>
          <a:xfrm>
            <a:off x="933846" y="2700000"/>
            <a:ext cx="10293827" cy="2980000"/>
          </a:xfrm>
          <a:prstGeom prst="rect">
            <a:avLst/>
          </a:prstGeom>
        </p:spPr>
      </p:pic>
    </p:spTree>
    <p:extLst>
      <p:ext uri="{BB962C8B-B14F-4D97-AF65-F5344CB8AC3E}">
        <p14:creationId xmlns:p14="http://schemas.microsoft.com/office/powerpoint/2010/main" val="2203774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5581A-5EE1-B669-4160-F6E89C531053}"/>
              </a:ext>
            </a:extLst>
          </p:cNvPr>
          <p:cNvSpPr>
            <a:spLocks noGrp="1"/>
          </p:cNvSpPr>
          <p:nvPr>
            <p:ph type="title"/>
          </p:nvPr>
        </p:nvSpPr>
        <p:spPr/>
        <p:txBody>
          <a:bodyPr/>
          <a:lstStyle/>
          <a:p>
            <a:r>
              <a:rPr lang="en-US" dirty="0"/>
              <a:t>ANA BULGULAR</a:t>
            </a:r>
          </a:p>
        </p:txBody>
      </p:sp>
      <p:sp>
        <p:nvSpPr>
          <p:cNvPr id="3" name="Text Placeholder 2">
            <a:extLst>
              <a:ext uri="{FF2B5EF4-FFF2-40B4-BE49-F238E27FC236}">
                <a16:creationId xmlns:a16="http://schemas.microsoft.com/office/drawing/2014/main" id="{9EEBA305-9B08-AAF7-DDF3-FA4A17F1EB69}"/>
              </a:ext>
            </a:extLst>
          </p:cNvPr>
          <p:cNvSpPr>
            <a:spLocks noGrp="1"/>
          </p:cNvSpPr>
          <p:nvPr>
            <p:ph type="body" sz="quarter" idx="13"/>
          </p:nvPr>
        </p:nvSpPr>
        <p:spPr>
          <a:xfrm>
            <a:off x="411480" y="1920240"/>
            <a:ext cx="11338560" cy="4114800"/>
          </a:xfrm>
        </p:spPr>
        <p:txBody>
          <a:bodyPr/>
          <a:lstStyle/>
          <a:p>
            <a:r>
              <a:rPr lang="tr-TR" dirty="0"/>
              <a:t>SANAL KUPLAJ NEREDE KAZANDIRIYOR</a:t>
            </a:r>
          </a:p>
          <a:p>
            <a:pPr lvl="1"/>
            <a:r>
              <a:rPr lang="tr-TR" dirty="0"/>
              <a:t>Duraksız işletme   39 s → 32 s   (%18)   ·   konvoy kuralıyla 25 s → 17 s   (%32)</a:t>
            </a:r>
          </a:p>
          <a:p>
            <a:pPr lvl="1"/>
            <a:r>
              <a:rPr lang="tr-TR" dirty="0"/>
              <a:t>Aynı tarifede bozucu etki altında   %16 daha az yayılan gecikme</a:t>
            </a:r>
          </a:p>
          <a:p>
            <a:r>
              <a:rPr lang="tr-TR" dirty="0"/>
              <a:t>NEREDE KAZANDIRMIYOR</a:t>
            </a:r>
          </a:p>
          <a:p>
            <a:pPr lvl="1"/>
            <a:r>
              <a:rPr lang="tr-TR" dirty="0"/>
              <a:t>Duraklamalı işletme   78 s → 71 s   (%9) — kısıt peron, ve peron bir takip mesafesi değil</a:t>
            </a:r>
          </a:p>
          <a:p>
            <a:pPr lvl="1"/>
            <a:r>
              <a:rPr lang="tr-TR" dirty="0"/>
              <a:t>Kendi sürdürülebilir aralığında bozucu etki altında   %0.6</a:t>
            </a:r>
          </a:p>
          <a:p>
            <a:r>
              <a:rPr lang="tr-TR" dirty="0"/>
              <a:t>BAĞLAMI KAÇIRMAMAK İÇİN</a:t>
            </a:r>
          </a:p>
          <a:p>
            <a:pPr lvl="1"/>
            <a:r>
              <a:rPr lang="tr-TR" dirty="0"/>
              <a:t>Asıl sıçrama sabit blok → hareketli blok:   148 s → 78 s   (%47)</a:t>
            </a:r>
          </a:p>
        </p:txBody>
      </p:sp>
    </p:spTree>
    <p:extLst>
      <p:ext uri="{BB962C8B-B14F-4D97-AF65-F5344CB8AC3E}">
        <p14:creationId xmlns:p14="http://schemas.microsoft.com/office/powerpoint/2010/main" val="4687884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42CAF-3293-D8EF-F148-7E38DAEB627B}"/>
              </a:ext>
            </a:extLst>
          </p:cNvPr>
          <p:cNvSpPr>
            <a:spLocks noGrp="1"/>
          </p:cNvSpPr>
          <p:nvPr>
            <p:ph type="title"/>
          </p:nvPr>
        </p:nvSpPr>
        <p:spPr/>
        <p:txBody>
          <a:bodyPr/>
          <a:lstStyle/>
          <a:p>
            <a:r>
              <a:rPr lang="en-US" b="0" dirty="0"/>
              <a:t>KAYNAKLAR</a:t>
            </a:r>
            <a:br>
              <a:rPr lang="en-US" dirty="0"/>
            </a:br>
            <a:endParaRPr lang="en-US" dirty="0"/>
          </a:p>
        </p:txBody>
      </p:sp>
      <p:sp>
        <p:nvSpPr>
          <p:cNvPr id="3" name="Text Placeholder 2">
            <a:extLst>
              <a:ext uri="{FF2B5EF4-FFF2-40B4-BE49-F238E27FC236}">
                <a16:creationId xmlns:a16="http://schemas.microsoft.com/office/drawing/2014/main" id="{9D65E0A4-E215-4B12-17B1-EEC3373CE389}"/>
              </a:ext>
            </a:extLst>
          </p:cNvPr>
          <p:cNvSpPr>
            <a:spLocks noGrp="1"/>
          </p:cNvSpPr>
          <p:nvPr>
            <p:ph type="body" sz="quarter" idx="13"/>
          </p:nvPr>
        </p:nvSpPr>
        <p:spPr>
          <a:xfrm>
            <a:off x="411480" y="1463040"/>
            <a:ext cx="11338560" cy="4663440"/>
          </a:xfrm>
        </p:spPr>
        <p:txBody>
          <a:bodyPr/>
          <a:lstStyle/>
          <a:p>
            <a:pPr marL="342900" indent="-342900">
              <a:spcBef>
                <a:spcPts val="500"/>
              </a:spcBef>
              <a:buNone/>
            </a:pPr>
            <a:r>
              <a:rPr lang="tr-TR" sz="1150" dirty="0">
                <a:solidFill>
                  <a:srgbClr val="1D2A4D"/>
                </a:solidFill>
                <a:latin typeface="Calibri"/>
              </a:rPr>
              <a:t>[1]  Quaglietta, E., Wang, M., Goverde, R.M.P. (2020). A multi-state train-following model for the analysis of virtual coupling railway operations. Journal of Rail Transport Planning &amp; Management, 15, 100195. doi:10.1016/j.jrtpm.2020.100195</a:t>
            </a:r>
          </a:p>
          <a:p>
            <a:pPr marL="342900" indent="-342900">
              <a:spcBef>
                <a:spcPts val="500"/>
              </a:spcBef>
              <a:buNone/>
            </a:pPr>
            <a:r>
              <a:rPr lang="tr-TR" sz="1150" dirty="0">
                <a:solidFill>
                  <a:srgbClr val="1D2A4D"/>
                </a:solidFill>
                <a:latin typeface="Calibri"/>
              </a:rPr>
              <a:t>[2]  Aoun, J., Quaglietta, E., Goverde, R.M.P., Scheidt, M., Blumenfeld, M., Jack, A., Redfern, B. (2021). A hybrid Delphi-AHP multi-criteria analysis of Moving Block and Virtual Coupling railway signalling. Transportation Research Part C, 129, 103250. doi:10.1016/j.trc.2021.103250</a:t>
            </a:r>
          </a:p>
          <a:p>
            <a:pPr marL="342900" indent="-342900">
              <a:spcBef>
                <a:spcPts val="500"/>
              </a:spcBef>
              <a:buNone/>
            </a:pPr>
            <a:r>
              <a:rPr lang="tr-TR" sz="1150" dirty="0">
                <a:solidFill>
                  <a:srgbClr val="1D2A4D"/>
                </a:solidFill>
                <a:latin typeface="Calibri"/>
              </a:rPr>
              <a:t>[3]  UNISIG (2016). ERTMS/ETCS System Requirements Specification, Subset-026, version 3.6.0.</a:t>
            </a:r>
          </a:p>
          <a:p>
            <a:pPr marL="342900" indent="-342900">
              <a:spcBef>
                <a:spcPts val="500"/>
              </a:spcBef>
              <a:buNone/>
            </a:pPr>
            <a:r>
              <a:rPr lang="tr-TR" sz="1150" dirty="0">
                <a:solidFill>
                  <a:srgbClr val="1D2A4D"/>
                </a:solidFill>
                <a:latin typeface="Calibri"/>
              </a:rPr>
              <a:t>[4]  Hansen, I.A., Pachl, J. (Ed.) (2014). Railway Timetabling and Operations. Eurailpress, Hamburg.</a:t>
            </a:r>
          </a:p>
          <a:p>
            <a:pPr marL="342900" indent="-342900">
              <a:spcBef>
                <a:spcPts val="500"/>
              </a:spcBef>
              <a:buNone/>
            </a:pPr>
            <a:r>
              <a:rPr lang="tr-TR" sz="1150" dirty="0">
                <a:solidFill>
                  <a:srgbClr val="1D2A4D"/>
                </a:solidFill>
                <a:latin typeface="Calibri"/>
              </a:rPr>
              <a:t>[5]  Theeg, G., Vlasenko, S. (Ed.) (2009). Railway Signalling and Interlocking: International Compendium. Eurailpress, Hamburg.</a:t>
            </a:r>
          </a:p>
          <a:p>
            <a:pPr marL="342900" indent="-342900">
              <a:spcBef>
                <a:spcPts val="500"/>
              </a:spcBef>
              <a:buNone/>
            </a:pPr>
            <a:r>
              <a:rPr lang="tr-TR" sz="1150" dirty="0">
                <a:solidFill>
                  <a:srgbClr val="1D2A4D"/>
                </a:solidFill>
                <a:latin typeface="Calibri"/>
              </a:rPr>
              <a:t>[6]  UIC (2013). UIC Code 406: Capacity, 2nd edition. International Union of Railways, Paris.</a:t>
            </a:r>
          </a:p>
        </p:txBody>
      </p:sp>
    </p:spTree>
    <p:extLst>
      <p:ext uri="{BB962C8B-B14F-4D97-AF65-F5344CB8AC3E}">
        <p14:creationId xmlns:p14="http://schemas.microsoft.com/office/powerpoint/2010/main" val="17118160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10">
            <a:extLst>
              <a:ext uri="{FF2B5EF4-FFF2-40B4-BE49-F238E27FC236}">
                <a16:creationId xmlns:a16="http://schemas.microsoft.com/office/drawing/2014/main" id="{A60DAAB4-D7C7-4D39-B5C0-C991D9698E89}"/>
              </a:ext>
            </a:extLst>
          </p:cNvPr>
          <p:cNvSpPr txBox="1"/>
          <p:nvPr/>
        </p:nvSpPr>
        <p:spPr>
          <a:xfrm>
            <a:off x="3196311" y="2004552"/>
            <a:ext cx="5799378" cy="2660964"/>
          </a:xfrm>
          <a:prstGeom prst="rect">
            <a:avLst/>
          </a:prstGeom>
          <a:noFill/>
        </p:spPr>
        <p:txBody>
          <a:bodyPr wrap="square" lIns="360000" rtlCol="0" anchor="ctr" anchorCtr="0">
            <a:noAutofit/>
          </a:bodyPr>
          <a:lstStyle/>
          <a:p>
            <a:pPr algn="ctr">
              <a:lnSpc>
                <a:spcPts val="4500"/>
              </a:lnSpc>
            </a:pPr>
            <a:r>
              <a:rPr lang="tr-TR" sz="4400" cap="all" dirty="0">
                <a:solidFill>
                  <a:srgbClr val="003087"/>
                </a:solidFill>
                <a:latin typeface="Segoe UI Black" panose="020B0A02040204020203" pitchFamily="34" charset="0"/>
                <a:ea typeface="Segoe UI Black" panose="020B0A02040204020203" pitchFamily="34" charset="0"/>
                <a:cs typeface="Posterama" panose="020B0504020200020000" pitchFamily="34" charset="0"/>
              </a:rPr>
              <a:t>TEŞEKKÜRLER</a:t>
            </a:r>
          </a:p>
        </p:txBody>
      </p:sp>
      <p:grpSp>
        <p:nvGrpSpPr>
          <p:cNvPr id="28" name="Group 27">
            <a:extLst>
              <a:ext uri="{FF2B5EF4-FFF2-40B4-BE49-F238E27FC236}">
                <a16:creationId xmlns:a16="http://schemas.microsoft.com/office/drawing/2014/main" id="{0DC78FF3-615B-4D31-932C-8ACC1FFDB17F}"/>
              </a:ext>
            </a:extLst>
          </p:cNvPr>
          <p:cNvGrpSpPr/>
          <p:nvPr/>
        </p:nvGrpSpPr>
        <p:grpSpPr>
          <a:xfrm>
            <a:off x="2814206" y="5991497"/>
            <a:ext cx="6563587" cy="496389"/>
            <a:chOff x="2814206" y="5991497"/>
            <a:chExt cx="6563587" cy="496389"/>
          </a:xfrm>
        </p:grpSpPr>
        <p:sp>
          <p:nvSpPr>
            <p:cNvPr id="4" name="Rectangle: Rounded Corners 3">
              <a:extLst>
                <a:ext uri="{FF2B5EF4-FFF2-40B4-BE49-F238E27FC236}">
                  <a16:creationId xmlns:a16="http://schemas.microsoft.com/office/drawing/2014/main" id="{327970B7-7EB9-431D-BEED-59F137A6FE21}"/>
                </a:ext>
              </a:extLst>
            </p:cNvPr>
            <p:cNvSpPr/>
            <p:nvPr/>
          </p:nvSpPr>
          <p:spPr>
            <a:xfrm>
              <a:off x="2814206" y="5991497"/>
              <a:ext cx="6435074" cy="496389"/>
            </a:xfrm>
            <a:prstGeom prst="roundRect">
              <a:avLst/>
            </a:prstGeom>
            <a:solidFill>
              <a:srgbClr val="FF5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Metin kutusu 22">
              <a:extLst>
                <a:ext uri="{FF2B5EF4-FFF2-40B4-BE49-F238E27FC236}">
                  <a16:creationId xmlns:a16="http://schemas.microsoft.com/office/drawing/2014/main" id="{AD2AC26D-DE1A-4CEB-BCA6-276B701657A5}"/>
                </a:ext>
              </a:extLst>
            </p:cNvPr>
            <p:cNvSpPr txBox="1"/>
            <p:nvPr/>
          </p:nvSpPr>
          <p:spPr>
            <a:xfrm>
              <a:off x="3033864" y="6046316"/>
              <a:ext cx="1780820" cy="338554"/>
            </a:xfrm>
            <a:prstGeom prst="rect">
              <a:avLst/>
            </a:prstGeom>
            <a:noFill/>
          </p:spPr>
          <p:txBody>
            <a:bodyPr wrap="square" rtlCol="0">
              <a:spAutoFit/>
            </a:bodyPr>
            <a:lstStyle/>
            <a:p>
              <a:r>
                <a:rPr lang="tr-TR" sz="1600" b="1"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www.aselsan.com</a:t>
              </a:r>
            </a:p>
          </p:txBody>
        </p:sp>
        <p:cxnSp>
          <p:nvCxnSpPr>
            <p:cNvPr id="10" name="Straight Connector 9">
              <a:extLst>
                <a:ext uri="{FF2B5EF4-FFF2-40B4-BE49-F238E27FC236}">
                  <a16:creationId xmlns:a16="http://schemas.microsoft.com/office/drawing/2014/main" id="{CBEF8130-B0F1-45AB-A075-8ACA270B6FDF}"/>
                </a:ext>
              </a:extLst>
            </p:cNvPr>
            <p:cNvCxnSpPr/>
            <p:nvPr/>
          </p:nvCxnSpPr>
          <p:spPr>
            <a:xfrm>
              <a:off x="4804887" y="6124767"/>
              <a:ext cx="0" cy="216000"/>
            </a:xfrm>
            <a:prstGeom prst="line">
              <a:avLst/>
            </a:prstGeom>
            <a:ln>
              <a:solidFill>
                <a:schemeClr val="bg1"/>
              </a:solidFill>
            </a:ln>
          </p:spPr>
          <p:style>
            <a:lnRef idx="3">
              <a:schemeClr val="accent4"/>
            </a:lnRef>
            <a:fillRef idx="0">
              <a:schemeClr val="accent4"/>
            </a:fillRef>
            <a:effectRef idx="2">
              <a:schemeClr val="accent4"/>
            </a:effectRef>
            <a:fontRef idx="minor">
              <a:schemeClr val="tx1"/>
            </a:fontRef>
          </p:style>
        </p:cxnSp>
        <p:pic>
          <p:nvPicPr>
            <p:cNvPr id="24" name="Picture 23">
              <a:extLst>
                <a:ext uri="{FF2B5EF4-FFF2-40B4-BE49-F238E27FC236}">
                  <a16:creationId xmlns:a16="http://schemas.microsoft.com/office/drawing/2014/main" id="{120ACF76-FC65-4512-B95A-C9800745D3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2529" y="6115242"/>
              <a:ext cx="232526" cy="217118"/>
            </a:xfrm>
            <a:prstGeom prst="rect">
              <a:avLst/>
            </a:prstGeom>
          </p:spPr>
        </p:pic>
        <p:grpSp>
          <p:nvGrpSpPr>
            <p:cNvPr id="11" name="成组">
              <a:extLst>
                <a:ext uri="{FF2B5EF4-FFF2-40B4-BE49-F238E27FC236}">
                  <a16:creationId xmlns:a16="http://schemas.microsoft.com/office/drawing/2014/main" id="{60F83EC0-E54C-4939-BB0C-095EB427309F}"/>
                </a:ext>
              </a:extLst>
            </p:cNvPr>
            <p:cNvGrpSpPr/>
            <p:nvPr/>
          </p:nvGrpSpPr>
          <p:grpSpPr>
            <a:xfrm>
              <a:off x="5382375" y="6069216"/>
              <a:ext cx="299769" cy="299769"/>
              <a:chOff x="0" y="0"/>
              <a:chExt cx="457200" cy="457200"/>
            </a:xfrm>
          </p:grpSpPr>
          <p:sp>
            <p:nvSpPr>
              <p:cNvPr id="12" name="任意形状 741">
                <a:extLst>
                  <a:ext uri="{FF2B5EF4-FFF2-40B4-BE49-F238E27FC236}">
                    <a16:creationId xmlns:a16="http://schemas.microsoft.com/office/drawing/2014/main" id="{B588F2B4-ECA2-49BB-A64E-148239F23290}"/>
                  </a:ext>
                </a:extLst>
              </p:cNvPr>
              <p:cNvSpPr/>
              <p:nvPr/>
            </p:nvSpPr>
            <p:spPr>
              <a:xfrm>
                <a:off x="0" y="0"/>
                <a:ext cx="457200" cy="457200"/>
              </a:xfrm>
              <a:prstGeom prst="rect">
                <a:avLst/>
              </a:prstGeom>
              <a:solidFill>
                <a:srgbClr val="FFFFFF">
                  <a:alpha val="0"/>
                </a:srgbClr>
              </a:solidFill>
              <a:ln w="12700" cap="flat">
                <a:noFill/>
                <a:miter lim="400000"/>
              </a:ln>
              <a:effectLst/>
            </p:spPr>
            <p:txBody>
              <a:bodyPr wrap="square" lIns="45719" tIns="45719" rIns="45719" bIns="45719" numCol="1" anchor="ctr">
                <a:noAutofit/>
              </a:bodyPr>
              <a:lstStyle/>
              <a:p>
                <a:endParaRPr>
                  <a:solidFill>
                    <a:schemeClr val="bg1"/>
                  </a:solidFill>
                </a:endParaRPr>
              </a:p>
            </p:txBody>
          </p:sp>
          <p:sp>
            <p:nvSpPr>
              <p:cNvPr id="13" name="任意形状 742">
                <a:extLst>
                  <a:ext uri="{FF2B5EF4-FFF2-40B4-BE49-F238E27FC236}">
                    <a16:creationId xmlns:a16="http://schemas.microsoft.com/office/drawing/2014/main" id="{B7F8CFB0-6DDE-4E85-844B-38E2D5BD183A}"/>
                  </a:ext>
                </a:extLst>
              </p:cNvPr>
              <p:cNvSpPr/>
              <p:nvPr/>
            </p:nvSpPr>
            <p:spPr>
              <a:xfrm>
                <a:off x="133350" y="38100"/>
                <a:ext cx="200027" cy="381000"/>
              </a:xfrm>
              <a:custGeom>
                <a:avLst/>
                <a:gdLst/>
                <a:ahLst/>
                <a:cxnLst>
                  <a:cxn ang="0">
                    <a:pos x="wd2" y="hd2"/>
                  </a:cxn>
                  <a:cxn ang="5400000">
                    <a:pos x="wd2" y="hd2"/>
                  </a:cxn>
                  <a:cxn ang="10800000">
                    <a:pos x="wd2" y="hd2"/>
                  </a:cxn>
                  <a:cxn ang="16200000">
                    <a:pos x="wd2" y="hd2"/>
                  </a:cxn>
                </a:cxnLst>
                <a:rect l="0" t="0" r="r" b="b"/>
                <a:pathLst>
                  <a:path w="21600" h="21600" extrusionOk="0">
                    <a:moveTo>
                      <a:pt x="14400" y="12420"/>
                    </a:moveTo>
                    <a:lnTo>
                      <a:pt x="19543" y="12420"/>
                    </a:lnTo>
                    <a:lnTo>
                      <a:pt x="21600" y="8100"/>
                    </a:lnTo>
                    <a:lnTo>
                      <a:pt x="14400" y="8100"/>
                    </a:lnTo>
                    <a:lnTo>
                      <a:pt x="14400" y="5940"/>
                    </a:lnTo>
                    <a:cubicBezTo>
                      <a:pt x="14400" y="4828"/>
                      <a:pt x="14400" y="3780"/>
                      <a:pt x="18514" y="3780"/>
                    </a:cubicBezTo>
                    <a:lnTo>
                      <a:pt x="21600" y="3780"/>
                    </a:lnTo>
                    <a:lnTo>
                      <a:pt x="21600" y="151"/>
                    </a:lnTo>
                    <a:cubicBezTo>
                      <a:pt x="20929" y="105"/>
                      <a:pt x="18397" y="0"/>
                      <a:pt x="15723" y="0"/>
                    </a:cubicBezTo>
                    <a:cubicBezTo>
                      <a:pt x="10138" y="0"/>
                      <a:pt x="6171" y="1790"/>
                      <a:pt x="6171" y="5076"/>
                    </a:cubicBezTo>
                    <a:lnTo>
                      <a:pt x="6171" y="8100"/>
                    </a:lnTo>
                    <a:lnTo>
                      <a:pt x="0" y="8100"/>
                    </a:lnTo>
                    <a:lnTo>
                      <a:pt x="0" y="12420"/>
                    </a:lnTo>
                    <a:lnTo>
                      <a:pt x="6171" y="12420"/>
                    </a:lnTo>
                    <a:lnTo>
                      <a:pt x="6171" y="21600"/>
                    </a:lnTo>
                    <a:lnTo>
                      <a:pt x="14400" y="21600"/>
                    </a:lnTo>
                    <a:lnTo>
                      <a:pt x="14400" y="12420"/>
                    </a:lnTo>
                    <a:close/>
                  </a:path>
                </a:pathLst>
              </a:custGeom>
              <a:solidFill>
                <a:schemeClr val="bg1"/>
              </a:solidFill>
              <a:ln w="12700" cap="flat">
                <a:noFill/>
                <a:miter lim="400000"/>
              </a:ln>
              <a:effectLst/>
            </p:spPr>
            <p:txBody>
              <a:bodyPr wrap="square" lIns="45719" tIns="45719" rIns="45719" bIns="45719" numCol="1" anchor="ctr">
                <a:noAutofit/>
              </a:bodyPr>
              <a:lstStyle/>
              <a:p>
                <a:endParaRPr>
                  <a:solidFill>
                    <a:schemeClr val="bg1"/>
                  </a:solidFill>
                </a:endParaRPr>
              </a:p>
            </p:txBody>
          </p:sp>
        </p:grpSp>
        <p:grpSp>
          <p:nvGrpSpPr>
            <p:cNvPr id="14" name="成组">
              <a:extLst>
                <a:ext uri="{FF2B5EF4-FFF2-40B4-BE49-F238E27FC236}">
                  <a16:creationId xmlns:a16="http://schemas.microsoft.com/office/drawing/2014/main" id="{CBEFBE6A-608E-4EFC-A897-55949B18421A}"/>
                </a:ext>
              </a:extLst>
            </p:cNvPr>
            <p:cNvGrpSpPr/>
            <p:nvPr/>
          </p:nvGrpSpPr>
          <p:grpSpPr>
            <a:xfrm>
              <a:off x="6239215" y="6054525"/>
              <a:ext cx="342674" cy="342674"/>
              <a:chOff x="0" y="0"/>
              <a:chExt cx="457200" cy="457200"/>
            </a:xfrm>
          </p:grpSpPr>
          <p:sp>
            <p:nvSpPr>
              <p:cNvPr id="15" name="任意形状 780">
                <a:extLst>
                  <a:ext uri="{FF2B5EF4-FFF2-40B4-BE49-F238E27FC236}">
                    <a16:creationId xmlns:a16="http://schemas.microsoft.com/office/drawing/2014/main" id="{9DE2F884-69BF-4C08-BA37-28627F4C82DC}"/>
                  </a:ext>
                </a:extLst>
              </p:cNvPr>
              <p:cNvSpPr/>
              <p:nvPr/>
            </p:nvSpPr>
            <p:spPr>
              <a:xfrm>
                <a:off x="0" y="0"/>
                <a:ext cx="457200" cy="457200"/>
              </a:xfrm>
              <a:prstGeom prst="rect">
                <a:avLst/>
              </a:prstGeom>
              <a:solidFill>
                <a:srgbClr val="FFFFFF">
                  <a:alpha val="0"/>
                </a:srgbClr>
              </a:solidFill>
              <a:ln w="12700" cap="flat">
                <a:noFill/>
                <a:miter lim="400000"/>
              </a:ln>
              <a:effectLst/>
            </p:spPr>
            <p:txBody>
              <a:bodyPr wrap="square" lIns="45719" tIns="45719" rIns="45719" bIns="45719" numCol="1" anchor="ctr">
                <a:noAutofit/>
              </a:bodyPr>
              <a:lstStyle/>
              <a:p>
                <a:endParaRPr>
                  <a:solidFill>
                    <a:schemeClr val="bg1"/>
                  </a:solidFill>
                </a:endParaRPr>
              </a:p>
            </p:txBody>
          </p:sp>
          <p:sp>
            <p:nvSpPr>
              <p:cNvPr id="16" name="任意形状 781">
                <a:extLst>
                  <a:ext uri="{FF2B5EF4-FFF2-40B4-BE49-F238E27FC236}">
                    <a16:creationId xmlns:a16="http://schemas.microsoft.com/office/drawing/2014/main" id="{6B82C8F1-99D8-46D1-AB19-DFAF42942A4B}"/>
                  </a:ext>
                </a:extLst>
              </p:cNvPr>
              <p:cNvSpPr/>
              <p:nvPr/>
            </p:nvSpPr>
            <p:spPr>
              <a:xfrm>
                <a:off x="38100" y="38100"/>
                <a:ext cx="381000" cy="381000"/>
              </a:xfrm>
              <a:custGeom>
                <a:avLst/>
                <a:gdLst/>
                <a:ahLst/>
                <a:cxnLst>
                  <a:cxn ang="0">
                    <a:pos x="wd2" y="hd2"/>
                  </a:cxn>
                  <a:cxn ang="5400000">
                    <a:pos x="wd2" y="hd2"/>
                  </a:cxn>
                  <a:cxn ang="10800000">
                    <a:pos x="wd2" y="hd2"/>
                  </a:cxn>
                  <a:cxn ang="16200000">
                    <a:pos x="wd2" y="hd2"/>
                  </a:cxn>
                </a:cxnLst>
                <a:rect l="0" t="0" r="r" b="b"/>
                <a:pathLst>
                  <a:path w="21600" h="21600" extrusionOk="0">
                    <a:moveTo>
                      <a:pt x="10800" y="7560"/>
                    </a:moveTo>
                    <a:cubicBezTo>
                      <a:pt x="9011" y="7560"/>
                      <a:pt x="7560" y="9011"/>
                      <a:pt x="7560" y="10800"/>
                    </a:cubicBezTo>
                    <a:cubicBezTo>
                      <a:pt x="7560" y="12589"/>
                      <a:pt x="9011" y="14040"/>
                      <a:pt x="10800" y="14040"/>
                    </a:cubicBezTo>
                    <a:cubicBezTo>
                      <a:pt x="12589" y="14040"/>
                      <a:pt x="14040" y="12589"/>
                      <a:pt x="14040" y="10800"/>
                    </a:cubicBezTo>
                    <a:cubicBezTo>
                      <a:pt x="14040" y="9011"/>
                      <a:pt x="12589" y="7560"/>
                      <a:pt x="10800" y="7560"/>
                    </a:cubicBezTo>
                    <a:close/>
                    <a:moveTo>
                      <a:pt x="10800" y="5400"/>
                    </a:moveTo>
                    <a:cubicBezTo>
                      <a:pt x="13782" y="5400"/>
                      <a:pt x="16200" y="7818"/>
                      <a:pt x="16200" y="10800"/>
                    </a:cubicBezTo>
                    <a:cubicBezTo>
                      <a:pt x="16200" y="13782"/>
                      <a:pt x="13782" y="16200"/>
                      <a:pt x="10800" y="16200"/>
                    </a:cubicBezTo>
                    <a:cubicBezTo>
                      <a:pt x="7818" y="16200"/>
                      <a:pt x="5400" y="13782"/>
                      <a:pt x="5400" y="10800"/>
                    </a:cubicBezTo>
                    <a:cubicBezTo>
                      <a:pt x="5400" y="7818"/>
                      <a:pt x="7818" y="5400"/>
                      <a:pt x="10800" y="5400"/>
                    </a:cubicBezTo>
                    <a:close/>
                    <a:moveTo>
                      <a:pt x="17820" y="5130"/>
                    </a:moveTo>
                    <a:cubicBezTo>
                      <a:pt x="17820" y="5876"/>
                      <a:pt x="17216" y="6480"/>
                      <a:pt x="16470" y="6480"/>
                    </a:cubicBezTo>
                    <a:cubicBezTo>
                      <a:pt x="15724" y="6480"/>
                      <a:pt x="15120" y="5876"/>
                      <a:pt x="15120" y="5130"/>
                    </a:cubicBezTo>
                    <a:cubicBezTo>
                      <a:pt x="15120" y="4384"/>
                      <a:pt x="15724" y="3780"/>
                      <a:pt x="16470" y="3780"/>
                    </a:cubicBezTo>
                    <a:cubicBezTo>
                      <a:pt x="17216" y="3780"/>
                      <a:pt x="17820" y="4384"/>
                      <a:pt x="17820" y="5130"/>
                    </a:cubicBezTo>
                    <a:close/>
                    <a:moveTo>
                      <a:pt x="10800" y="2160"/>
                    </a:moveTo>
                    <a:cubicBezTo>
                      <a:pt x="8128" y="2160"/>
                      <a:pt x="7692" y="2168"/>
                      <a:pt x="6449" y="2223"/>
                    </a:cubicBezTo>
                    <a:cubicBezTo>
                      <a:pt x="5602" y="2263"/>
                      <a:pt x="5034" y="2376"/>
                      <a:pt x="4507" y="2581"/>
                    </a:cubicBezTo>
                    <a:cubicBezTo>
                      <a:pt x="4038" y="2763"/>
                      <a:pt x="3700" y="2980"/>
                      <a:pt x="3340" y="3340"/>
                    </a:cubicBezTo>
                    <a:cubicBezTo>
                      <a:pt x="3002" y="3667"/>
                      <a:pt x="2742" y="4066"/>
                      <a:pt x="2580" y="4507"/>
                    </a:cubicBezTo>
                    <a:cubicBezTo>
                      <a:pt x="2375" y="5036"/>
                      <a:pt x="2261" y="5603"/>
                      <a:pt x="2223" y="6449"/>
                    </a:cubicBezTo>
                    <a:cubicBezTo>
                      <a:pt x="2166" y="7641"/>
                      <a:pt x="2160" y="8058"/>
                      <a:pt x="2160" y="10800"/>
                    </a:cubicBezTo>
                    <a:cubicBezTo>
                      <a:pt x="2160" y="13472"/>
                      <a:pt x="2168" y="13908"/>
                      <a:pt x="2223" y="15151"/>
                    </a:cubicBezTo>
                    <a:cubicBezTo>
                      <a:pt x="2263" y="15997"/>
                      <a:pt x="2376" y="16566"/>
                      <a:pt x="2580" y="17092"/>
                    </a:cubicBezTo>
                    <a:cubicBezTo>
                      <a:pt x="2764" y="17562"/>
                      <a:pt x="2980" y="17900"/>
                      <a:pt x="3338" y="18259"/>
                    </a:cubicBezTo>
                    <a:cubicBezTo>
                      <a:pt x="3702" y="18621"/>
                      <a:pt x="4040" y="18838"/>
                      <a:pt x="4505" y="19018"/>
                    </a:cubicBezTo>
                    <a:cubicBezTo>
                      <a:pt x="5038" y="19224"/>
                      <a:pt x="5606" y="19339"/>
                      <a:pt x="6449" y="19377"/>
                    </a:cubicBezTo>
                    <a:cubicBezTo>
                      <a:pt x="7641" y="19434"/>
                      <a:pt x="8058" y="19440"/>
                      <a:pt x="10800" y="19440"/>
                    </a:cubicBezTo>
                    <a:cubicBezTo>
                      <a:pt x="13472" y="19440"/>
                      <a:pt x="13908" y="19432"/>
                      <a:pt x="15151" y="19377"/>
                    </a:cubicBezTo>
                    <a:cubicBezTo>
                      <a:pt x="15996" y="19337"/>
                      <a:pt x="16565" y="19224"/>
                      <a:pt x="17092" y="19020"/>
                    </a:cubicBezTo>
                    <a:cubicBezTo>
                      <a:pt x="17560" y="18837"/>
                      <a:pt x="17900" y="18620"/>
                      <a:pt x="18259" y="18262"/>
                    </a:cubicBezTo>
                    <a:cubicBezTo>
                      <a:pt x="18622" y="17898"/>
                      <a:pt x="18840" y="17560"/>
                      <a:pt x="19019" y="17095"/>
                    </a:cubicBezTo>
                    <a:cubicBezTo>
                      <a:pt x="19224" y="16563"/>
                      <a:pt x="19339" y="15994"/>
                      <a:pt x="19377" y="15151"/>
                    </a:cubicBezTo>
                    <a:cubicBezTo>
                      <a:pt x="19434" y="13959"/>
                      <a:pt x="19440" y="13542"/>
                      <a:pt x="19440" y="10800"/>
                    </a:cubicBezTo>
                    <a:cubicBezTo>
                      <a:pt x="19440" y="8128"/>
                      <a:pt x="19432" y="7692"/>
                      <a:pt x="19377" y="6449"/>
                    </a:cubicBezTo>
                    <a:cubicBezTo>
                      <a:pt x="19337" y="5604"/>
                      <a:pt x="19224" y="5034"/>
                      <a:pt x="19019" y="4507"/>
                    </a:cubicBezTo>
                    <a:cubicBezTo>
                      <a:pt x="18856" y="4066"/>
                      <a:pt x="18597" y="3668"/>
                      <a:pt x="18260" y="3340"/>
                    </a:cubicBezTo>
                    <a:cubicBezTo>
                      <a:pt x="17933" y="3002"/>
                      <a:pt x="17534" y="2742"/>
                      <a:pt x="17093" y="2580"/>
                    </a:cubicBezTo>
                    <a:cubicBezTo>
                      <a:pt x="16564" y="2375"/>
                      <a:pt x="15996" y="2261"/>
                      <a:pt x="15151" y="2223"/>
                    </a:cubicBezTo>
                    <a:cubicBezTo>
                      <a:pt x="13959" y="2166"/>
                      <a:pt x="13542" y="2160"/>
                      <a:pt x="10800" y="2160"/>
                    </a:cubicBezTo>
                    <a:close/>
                    <a:moveTo>
                      <a:pt x="10800" y="0"/>
                    </a:moveTo>
                    <a:cubicBezTo>
                      <a:pt x="13734" y="0"/>
                      <a:pt x="14100" y="11"/>
                      <a:pt x="15252" y="65"/>
                    </a:cubicBezTo>
                    <a:cubicBezTo>
                      <a:pt x="16402" y="119"/>
                      <a:pt x="17185" y="299"/>
                      <a:pt x="17874" y="567"/>
                    </a:cubicBezTo>
                    <a:cubicBezTo>
                      <a:pt x="18587" y="841"/>
                      <a:pt x="19187" y="1213"/>
                      <a:pt x="19788" y="1812"/>
                    </a:cubicBezTo>
                    <a:cubicBezTo>
                      <a:pt x="20337" y="2352"/>
                      <a:pt x="20762" y="3005"/>
                      <a:pt x="21033" y="3726"/>
                    </a:cubicBezTo>
                    <a:cubicBezTo>
                      <a:pt x="21300" y="4414"/>
                      <a:pt x="21481" y="5198"/>
                      <a:pt x="21535" y="6348"/>
                    </a:cubicBezTo>
                    <a:cubicBezTo>
                      <a:pt x="21586" y="7500"/>
                      <a:pt x="21600" y="7866"/>
                      <a:pt x="21600" y="10800"/>
                    </a:cubicBezTo>
                    <a:cubicBezTo>
                      <a:pt x="21600" y="13734"/>
                      <a:pt x="21589" y="14100"/>
                      <a:pt x="21535" y="15252"/>
                    </a:cubicBezTo>
                    <a:cubicBezTo>
                      <a:pt x="21481" y="16402"/>
                      <a:pt x="21300" y="17185"/>
                      <a:pt x="21033" y="17874"/>
                    </a:cubicBezTo>
                    <a:cubicBezTo>
                      <a:pt x="20763" y="18595"/>
                      <a:pt x="20338" y="19248"/>
                      <a:pt x="19788" y="19788"/>
                    </a:cubicBezTo>
                    <a:cubicBezTo>
                      <a:pt x="19248" y="20337"/>
                      <a:pt x="18595" y="20762"/>
                      <a:pt x="17874" y="21033"/>
                    </a:cubicBezTo>
                    <a:cubicBezTo>
                      <a:pt x="17186" y="21300"/>
                      <a:pt x="16402" y="21481"/>
                      <a:pt x="15252" y="21535"/>
                    </a:cubicBezTo>
                    <a:cubicBezTo>
                      <a:pt x="14100" y="21586"/>
                      <a:pt x="13734" y="21600"/>
                      <a:pt x="10800" y="21600"/>
                    </a:cubicBezTo>
                    <a:cubicBezTo>
                      <a:pt x="7866" y="21600"/>
                      <a:pt x="7500" y="21589"/>
                      <a:pt x="6348" y="21535"/>
                    </a:cubicBezTo>
                    <a:cubicBezTo>
                      <a:pt x="5198" y="21481"/>
                      <a:pt x="4415" y="21300"/>
                      <a:pt x="3726" y="21033"/>
                    </a:cubicBezTo>
                    <a:cubicBezTo>
                      <a:pt x="3005" y="20762"/>
                      <a:pt x="2352" y="20337"/>
                      <a:pt x="1812" y="19788"/>
                    </a:cubicBezTo>
                    <a:cubicBezTo>
                      <a:pt x="1263" y="19248"/>
                      <a:pt x="838" y="18595"/>
                      <a:pt x="567" y="17874"/>
                    </a:cubicBezTo>
                    <a:cubicBezTo>
                      <a:pt x="299" y="17186"/>
                      <a:pt x="119" y="16402"/>
                      <a:pt x="65" y="15252"/>
                    </a:cubicBezTo>
                    <a:cubicBezTo>
                      <a:pt x="14" y="14100"/>
                      <a:pt x="0" y="13734"/>
                      <a:pt x="0" y="10800"/>
                    </a:cubicBezTo>
                    <a:cubicBezTo>
                      <a:pt x="0" y="7866"/>
                      <a:pt x="11" y="7500"/>
                      <a:pt x="65" y="6348"/>
                    </a:cubicBezTo>
                    <a:cubicBezTo>
                      <a:pt x="119" y="5197"/>
                      <a:pt x="299" y="4415"/>
                      <a:pt x="567" y="3726"/>
                    </a:cubicBezTo>
                    <a:cubicBezTo>
                      <a:pt x="837" y="3005"/>
                      <a:pt x="1262" y="2352"/>
                      <a:pt x="1812" y="1812"/>
                    </a:cubicBezTo>
                    <a:cubicBezTo>
                      <a:pt x="2352" y="1263"/>
                      <a:pt x="3005" y="838"/>
                      <a:pt x="3726" y="567"/>
                    </a:cubicBezTo>
                    <a:cubicBezTo>
                      <a:pt x="4415" y="299"/>
                      <a:pt x="5197" y="119"/>
                      <a:pt x="6348" y="65"/>
                    </a:cubicBezTo>
                    <a:cubicBezTo>
                      <a:pt x="7500" y="14"/>
                      <a:pt x="7866" y="0"/>
                      <a:pt x="10800" y="0"/>
                    </a:cubicBezTo>
                    <a:close/>
                  </a:path>
                </a:pathLst>
              </a:custGeom>
              <a:solidFill>
                <a:schemeClr val="bg1"/>
              </a:solidFill>
              <a:ln w="12700" cap="flat">
                <a:noFill/>
                <a:miter lim="400000"/>
              </a:ln>
              <a:effectLst/>
            </p:spPr>
            <p:txBody>
              <a:bodyPr wrap="square" lIns="45719" tIns="45719" rIns="45719" bIns="45719" numCol="1" anchor="ctr">
                <a:noAutofit/>
              </a:bodyPr>
              <a:lstStyle/>
              <a:p>
                <a:endParaRPr>
                  <a:solidFill>
                    <a:schemeClr val="bg1"/>
                  </a:solidFill>
                </a:endParaRPr>
              </a:p>
            </p:txBody>
          </p:sp>
        </p:grpSp>
        <p:grpSp>
          <p:nvGrpSpPr>
            <p:cNvPr id="17" name="成组">
              <a:extLst>
                <a:ext uri="{FF2B5EF4-FFF2-40B4-BE49-F238E27FC236}">
                  <a16:creationId xmlns:a16="http://schemas.microsoft.com/office/drawing/2014/main" id="{FC31723D-28CC-4550-B846-02F84D98A140}"/>
                </a:ext>
              </a:extLst>
            </p:cNvPr>
            <p:cNvGrpSpPr/>
            <p:nvPr/>
          </p:nvGrpSpPr>
          <p:grpSpPr>
            <a:xfrm>
              <a:off x="5789464" y="6048085"/>
              <a:ext cx="338555" cy="338555"/>
              <a:chOff x="0" y="0"/>
              <a:chExt cx="457200" cy="457200"/>
            </a:xfrm>
          </p:grpSpPr>
          <p:sp>
            <p:nvSpPr>
              <p:cNvPr id="18" name="任意形状 801">
                <a:extLst>
                  <a:ext uri="{FF2B5EF4-FFF2-40B4-BE49-F238E27FC236}">
                    <a16:creationId xmlns:a16="http://schemas.microsoft.com/office/drawing/2014/main" id="{11DFE674-8B96-4ACE-98B6-587213F72CD8}"/>
                  </a:ext>
                </a:extLst>
              </p:cNvPr>
              <p:cNvSpPr/>
              <p:nvPr/>
            </p:nvSpPr>
            <p:spPr>
              <a:xfrm>
                <a:off x="0" y="0"/>
                <a:ext cx="457200" cy="457200"/>
              </a:xfrm>
              <a:prstGeom prst="rect">
                <a:avLst/>
              </a:prstGeom>
              <a:solidFill>
                <a:srgbClr val="FFFFFF">
                  <a:alpha val="0"/>
                </a:srgbClr>
              </a:solidFill>
              <a:ln w="12700" cap="flat">
                <a:noFill/>
                <a:miter lim="400000"/>
              </a:ln>
              <a:effectLst/>
            </p:spPr>
            <p:txBody>
              <a:bodyPr wrap="square" lIns="45719" tIns="45719" rIns="45719" bIns="45719" numCol="1" anchor="ctr">
                <a:noAutofit/>
              </a:bodyPr>
              <a:lstStyle/>
              <a:p>
                <a:endParaRPr>
                  <a:solidFill>
                    <a:schemeClr val="bg1"/>
                  </a:solidFill>
                </a:endParaRPr>
              </a:p>
            </p:txBody>
          </p:sp>
          <p:sp>
            <p:nvSpPr>
              <p:cNvPr id="19" name="任意形状 802">
                <a:extLst>
                  <a:ext uri="{FF2B5EF4-FFF2-40B4-BE49-F238E27FC236}">
                    <a16:creationId xmlns:a16="http://schemas.microsoft.com/office/drawing/2014/main" id="{76033BCF-7D42-441A-871C-81671DB7C658}"/>
                  </a:ext>
                </a:extLst>
              </p:cNvPr>
              <p:cNvSpPr/>
              <p:nvPr/>
            </p:nvSpPr>
            <p:spPr>
              <a:xfrm>
                <a:off x="56005" y="57130"/>
                <a:ext cx="363095" cy="342921"/>
              </a:xfrm>
              <a:custGeom>
                <a:avLst/>
                <a:gdLst/>
                <a:ahLst/>
                <a:cxnLst>
                  <a:cxn ang="0">
                    <a:pos x="wd2" y="hd2"/>
                  </a:cxn>
                  <a:cxn ang="5400000">
                    <a:pos x="wd2" y="hd2"/>
                  </a:cxn>
                  <a:cxn ang="10800000">
                    <a:pos x="wd2" y="hd2"/>
                  </a:cxn>
                  <a:cxn ang="16200000">
                    <a:pos x="wd2" y="hd2"/>
                  </a:cxn>
                </a:cxnLst>
                <a:rect l="0" t="0" r="r" b="b"/>
                <a:pathLst>
                  <a:path w="21599" h="21599" extrusionOk="0">
                    <a:moveTo>
                      <a:pt x="4533" y="2401"/>
                    </a:moveTo>
                    <a:cubicBezTo>
                      <a:pt x="4532" y="3726"/>
                      <a:pt x="3517" y="4800"/>
                      <a:pt x="2265" y="4799"/>
                    </a:cubicBezTo>
                    <a:cubicBezTo>
                      <a:pt x="1013" y="4799"/>
                      <a:pt x="-1" y="3724"/>
                      <a:pt x="0" y="2398"/>
                    </a:cubicBezTo>
                    <a:cubicBezTo>
                      <a:pt x="0" y="1073"/>
                      <a:pt x="1016" y="-1"/>
                      <a:pt x="2267" y="0"/>
                    </a:cubicBezTo>
                    <a:cubicBezTo>
                      <a:pt x="3519" y="0"/>
                      <a:pt x="4533" y="1075"/>
                      <a:pt x="4533" y="2401"/>
                    </a:cubicBezTo>
                    <a:close/>
                    <a:moveTo>
                      <a:pt x="4601" y="6576"/>
                    </a:moveTo>
                    <a:lnTo>
                      <a:pt x="68" y="6576"/>
                    </a:lnTo>
                    <a:lnTo>
                      <a:pt x="68" y="21599"/>
                    </a:lnTo>
                    <a:lnTo>
                      <a:pt x="4601" y="21599"/>
                    </a:lnTo>
                    <a:lnTo>
                      <a:pt x="4601" y="6576"/>
                    </a:lnTo>
                    <a:close/>
                    <a:moveTo>
                      <a:pt x="11763" y="6576"/>
                    </a:moveTo>
                    <a:lnTo>
                      <a:pt x="7252" y="6576"/>
                    </a:lnTo>
                    <a:lnTo>
                      <a:pt x="7252" y="21599"/>
                    </a:lnTo>
                    <a:lnTo>
                      <a:pt x="11717" y="21599"/>
                    </a:lnTo>
                    <a:lnTo>
                      <a:pt x="11717" y="13716"/>
                    </a:lnTo>
                    <a:cubicBezTo>
                      <a:pt x="11717" y="9324"/>
                      <a:pt x="17123" y="8916"/>
                      <a:pt x="17123" y="13716"/>
                    </a:cubicBezTo>
                    <a:lnTo>
                      <a:pt x="17123" y="21599"/>
                    </a:lnTo>
                    <a:lnTo>
                      <a:pt x="21599" y="21599"/>
                    </a:lnTo>
                    <a:lnTo>
                      <a:pt x="21599" y="12084"/>
                    </a:lnTo>
                    <a:cubicBezTo>
                      <a:pt x="21599" y="4680"/>
                      <a:pt x="13598" y="4956"/>
                      <a:pt x="11717" y="8592"/>
                    </a:cubicBezTo>
                    <a:lnTo>
                      <a:pt x="11763" y="6576"/>
                    </a:lnTo>
                    <a:close/>
                  </a:path>
                </a:pathLst>
              </a:custGeom>
              <a:solidFill>
                <a:schemeClr val="bg1"/>
              </a:solidFill>
              <a:ln w="12700" cap="flat">
                <a:noFill/>
                <a:miter lim="400000"/>
              </a:ln>
              <a:effectLst/>
            </p:spPr>
            <p:txBody>
              <a:bodyPr wrap="square" lIns="45719" tIns="45719" rIns="45719" bIns="45719" numCol="1" anchor="ctr">
                <a:noAutofit/>
              </a:bodyPr>
              <a:lstStyle/>
              <a:p>
                <a:endParaRPr>
                  <a:solidFill>
                    <a:schemeClr val="bg1"/>
                  </a:solidFill>
                </a:endParaRPr>
              </a:p>
            </p:txBody>
          </p:sp>
        </p:grpSp>
        <p:grpSp>
          <p:nvGrpSpPr>
            <p:cNvPr id="20" name="成组">
              <a:extLst>
                <a:ext uri="{FF2B5EF4-FFF2-40B4-BE49-F238E27FC236}">
                  <a16:creationId xmlns:a16="http://schemas.microsoft.com/office/drawing/2014/main" id="{B63B867D-5FC1-48FB-A286-ECD16B6A7598}"/>
                </a:ext>
              </a:extLst>
            </p:cNvPr>
            <p:cNvGrpSpPr/>
            <p:nvPr/>
          </p:nvGrpSpPr>
          <p:grpSpPr>
            <a:xfrm>
              <a:off x="7636350" y="6054524"/>
              <a:ext cx="338555" cy="338555"/>
              <a:chOff x="0" y="0"/>
              <a:chExt cx="457200" cy="457200"/>
            </a:xfrm>
          </p:grpSpPr>
          <p:sp>
            <p:nvSpPr>
              <p:cNvPr id="21" name="任意形状 948">
                <a:extLst>
                  <a:ext uri="{FF2B5EF4-FFF2-40B4-BE49-F238E27FC236}">
                    <a16:creationId xmlns:a16="http://schemas.microsoft.com/office/drawing/2014/main" id="{1A83EFD6-C859-41C3-9A3F-4905AB36368B}"/>
                  </a:ext>
                </a:extLst>
              </p:cNvPr>
              <p:cNvSpPr/>
              <p:nvPr/>
            </p:nvSpPr>
            <p:spPr>
              <a:xfrm>
                <a:off x="0" y="0"/>
                <a:ext cx="457200" cy="457200"/>
              </a:xfrm>
              <a:prstGeom prst="rect">
                <a:avLst/>
              </a:prstGeom>
              <a:solidFill>
                <a:srgbClr val="FFFFFF">
                  <a:alpha val="0"/>
                </a:srgbClr>
              </a:solidFill>
              <a:ln w="12700" cap="flat">
                <a:noFill/>
                <a:miter lim="400000"/>
              </a:ln>
              <a:effectLst/>
            </p:spPr>
            <p:txBody>
              <a:bodyPr wrap="square" lIns="45719" tIns="45719" rIns="45719" bIns="45719" numCol="1" anchor="ctr">
                <a:noAutofit/>
              </a:bodyPr>
              <a:lstStyle/>
              <a:p>
                <a:endParaRPr>
                  <a:solidFill>
                    <a:schemeClr val="bg1"/>
                  </a:solidFill>
                </a:endParaRPr>
              </a:p>
            </p:txBody>
          </p:sp>
          <p:sp>
            <p:nvSpPr>
              <p:cNvPr id="22" name="任意形状 949">
                <a:extLst>
                  <a:ext uri="{FF2B5EF4-FFF2-40B4-BE49-F238E27FC236}">
                    <a16:creationId xmlns:a16="http://schemas.microsoft.com/office/drawing/2014/main" id="{3D671CC7-A4CA-428D-B847-0BB65DA92B29}"/>
                  </a:ext>
                </a:extLst>
              </p:cNvPr>
              <p:cNvSpPr/>
              <p:nvPr/>
            </p:nvSpPr>
            <p:spPr>
              <a:xfrm>
                <a:off x="38100" y="76200"/>
                <a:ext cx="381000" cy="304800"/>
              </a:xfrm>
              <a:custGeom>
                <a:avLst/>
                <a:gdLst/>
                <a:ahLst/>
                <a:cxnLst>
                  <a:cxn ang="0">
                    <a:pos x="wd2" y="hd2"/>
                  </a:cxn>
                  <a:cxn ang="5400000">
                    <a:pos x="wd2" y="hd2"/>
                  </a:cxn>
                  <a:cxn ang="10800000">
                    <a:pos x="wd2" y="hd2"/>
                  </a:cxn>
                  <a:cxn ang="16200000">
                    <a:pos x="wd2" y="hd2"/>
                  </a:cxn>
                </a:cxnLst>
                <a:rect l="0" t="0" r="r" b="b"/>
                <a:pathLst>
                  <a:path w="21600" h="21600" extrusionOk="0">
                    <a:moveTo>
                      <a:pt x="19014" y="4043"/>
                    </a:moveTo>
                    <a:cubicBezTo>
                      <a:pt x="18932" y="3641"/>
                      <a:pt x="18699" y="3337"/>
                      <a:pt x="18432" y="3244"/>
                    </a:cubicBezTo>
                    <a:cubicBezTo>
                      <a:pt x="17960" y="3078"/>
                      <a:pt x="15660" y="2700"/>
                      <a:pt x="10800" y="2700"/>
                    </a:cubicBezTo>
                    <a:cubicBezTo>
                      <a:pt x="5940" y="2700"/>
                      <a:pt x="3642" y="3078"/>
                      <a:pt x="3166" y="3244"/>
                    </a:cubicBezTo>
                    <a:cubicBezTo>
                      <a:pt x="2902" y="3336"/>
                      <a:pt x="2669" y="3640"/>
                      <a:pt x="2586" y="4043"/>
                    </a:cubicBezTo>
                    <a:cubicBezTo>
                      <a:pt x="2468" y="4616"/>
                      <a:pt x="2160" y="7015"/>
                      <a:pt x="2160" y="10800"/>
                    </a:cubicBezTo>
                    <a:cubicBezTo>
                      <a:pt x="2160" y="14585"/>
                      <a:pt x="2468" y="16983"/>
                      <a:pt x="2586" y="17558"/>
                    </a:cubicBezTo>
                    <a:cubicBezTo>
                      <a:pt x="2668" y="17959"/>
                      <a:pt x="2901" y="18263"/>
                      <a:pt x="3167" y="18355"/>
                    </a:cubicBezTo>
                    <a:cubicBezTo>
                      <a:pt x="3642" y="18522"/>
                      <a:pt x="5940" y="18900"/>
                      <a:pt x="10800" y="18900"/>
                    </a:cubicBezTo>
                    <a:cubicBezTo>
                      <a:pt x="15660" y="18900"/>
                      <a:pt x="17959" y="18522"/>
                      <a:pt x="18434" y="18356"/>
                    </a:cubicBezTo>
                    <a:cubicBezTo>
                      <a:pt x="18698" y="18264"/>
                      <a:pt x="18931" y="17960"/>
                      <a:pt x="19014" y="17557"/>
                    </a:cubicBezTo>
                    <a:cubicBezTo>
                      <a:pt x="19132" y="16984"/>
                      <a:pt x="19440" y="14580"/>
                      <a:pt x="19440" y="10800"/>
                    </a:cubicBezTo>
                    <a:cubicBezTo>
                      <a:pt x="19440" y="7020"/>
                      <a:pt x="19132" y="4617"/>
                      <a:pt x="19014" y="4043"/>
                    </a:cubicBezTo>
                    <a:close/>
                    <a:moveTo>
                      <a:pt x="21106" y="3372"/>
                    </a:moveTo>
                    <a:cubicBezTo>
                      <a:pt x="21600" y="5778"/>
                      <a:pt x="21600" y="10800"/>
                      <a:pt x="21600" y="10800"/>
                    </a:cubicBezTo>
                    <a:cubicBezTo>
                      <a:pt x="21600" y="10800"/>
                      <a:pt x="21600" y="15822"/>
                      <a:pt x="21106" y="18228"/>
                    </a:cubicBezTo>
                    <a:cubicBezTo>
                      <a:pt x="20832" y="19557"/>
                      <a:pt x="20030" y="20604"/>
                      <a:pt x="19013" y="20957"/>
                    </a:cubicBezTo>
                    <a:cubicBezTo>
                      <a:pt x="17168" y="21600"/>
                      <a:pt x="10800" y="21600"/>
                      <a:pt x="10800" y="21600"/>
                    </a:cubicBezTo>
                    <a:cubicBezTo>
                      <a:pt x="10800" y="21600"/>
                      <a:pt x="4436" y="21600"/>
                      <a:pt x="2587" y="20957"/>
                    </a:cubicBezTo>
                    <a:cubicBezTo>
                      <a:pt x="1566" y="20598"/>
                      <a:pt x="765" y="19553"/>
                      <a:pt x="494" y="18228"/>
                    </a:cubicBezTo>
                    <a:cubicBezTo>
                      <a:pt x="0" y="15822"/>
                      <a:pt x="0" y="10800"/>
                      <a:pt x="0" y="10800"/>
                    </a:cubicBezTo>
                    <a:cubicBezTo>
                      <a:pt x="0" y="10800"/>
                      <a:pt x="0" y="5778"/>
                      <a:pt x="494" y="3372"/>
                    </a:cubicBezTo>
                    <a:cubicBezTo>
                      <a:pt x="768" y="2043"/>
                      <a:pt x="1570" y="996"/>
                      <a:pt x="2587" y="643"/>
                    </a:cubicBezTo>
                    <a:cubicBezTo>
                      <a:pt x="4436" y="0"/>
                      <a:pt x="10800" y="0"/>
                      <a:pt x="10800" y="0"/>
                    </a:cubicBezTo>
                    <a:cubicBezTo>
                      <a:pt x="10800" y="0"/>
                      <a:pt x="17168" y="0"/>
                      <a:pt x="19013" y="643"/>
                    </a:cubicBezTo>
                    <a:cubicBezTo>
                      <a:pt x="20034" y="1002"/>
                      <a:pt x="20835" y="2047"/>
                      <a:pt x="21106" y="3372"/>
                    </a:cubicBezTo>
                    <a:close/>
                    <a:moveTo>
                      <a:pt x="8640" y="15525"/>
                    </a:moveTo>
                    <a:lnTo>
                      <a:pt x="8640" y="6075"/>
                    </a:lnTo>
                    <a:lnTo>
                      <a:pt x="15120" y="10800"/>
                    </a:lnTo>
                    <a:lnTo>
                      <a:pt x="8640" y="15525"/>
                    </a:lnTo>
                    <a:close/>
                  </a:path>
                </a:pathLst>
              </a:custGeom>
              <a:solidFill>
                <a:schemeClr val="bg1"/>
              </a:solidFill>
              <a:ln w="12700" cap="flat">
                <a:noFill/>
                <a:miter lim="400000"/>
              </a:ln>
              <a:effectLst/>
            </p:spPr>
            <p:txBody>
              <a:bodyPr wrap="square" lIns="45719" tIns="45719" rIns="45719" bIns="45719" numCol="1" anchor="ctr">
                <a:noAutofit/>
              </a:bodyPr>
              <a:lstStyle/>
              <a:p>
                <a:endParaRPr>
                  <a:solidFill>
                    <a:schemeClr val="bg1"/>
                  </a:solidFill>
                </a:endParaRPr>
              </a:p>
            </p:txBody>
          </p:sp>
        </p:grpSp>
        <p:sp>
          <p:nvSpPr>
            <p:cNvPr id="25" name="Metin kutusu 22">
              <a:extLst>
                <a:ext uri="{FF2B5EF4-FFF2-40B4-BE49-F238E27FC236}">
                  <a16:creationId xmlns:a16="http://schemas.microsoft.com/office/drawing/2014/main" id="{C748A148-B949-4311-A66B-8EC60E011977}"/>
                </a:ext>
              </a:extLst>
            </p:cNvPr>
            <p:cNvSpPr txBox="1"/>
            <p:nvPr/>
          </p:nvSpPr>
          <p:spPr>
            <a:xfrm>
              <a:off x="6597611" y="6044369"/>
              <a:ext cx="1158646" cy="338554"/>
            </a:xfrm>
            <a:prstGeom prst="rect">
              <a:avLst/>
            </a:prstGeom>
            <a:noFill/>
          </p:spPr>
          <p:txBody>
            <a:bodyPr wrap="square" rtlCol="0">
              <a:spAutoFit/>
            </a:bodyPr>
            <a:lstStyle/>
            <a:p>
              <a:r>
                <a:rPr lang="tr-TR" sz="1600"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a:t>
              </a:r>
              <a:r>
                <a:rPr lang="tr-TR" sz="1600" dirty="0" err="1">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aselsan</a:t>
              </a:r>
              <a:endParaRPr lang="tr-TR" sz="1600"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endParaRPr>
            </a:p>
          </p:txBody>
        </p:sp>
        <p:sp>
          <p:nvSpPr>
            <p:cNvPr id="26" name="Metin kutusu 22">
              <a:extLst>
                <a:ext uri="{FF2B5EF4-FFF2-40B4-BE49-F238E27FC236}">
                  <a16:creationId xmlns:a16="http://schemas.microsoft.com/office/drawing/2014/main" id="{7BA1B2C0-BDF4-4CE1-B2A8-469125958CF8}"/>
                </a:ext>
              </a:extLst>
            </p:cNvPr>
            <p:cNvSpPr txBox="1"/>
            <p:nvPr/>
          </p:nvSpPr>
          <p:spPr>
            <a:xfrm>
              <a:off x="7935260" y="6044369"/>
              <a:ext cx="1442533" cy="338554"/>
            </a:xfrm>
            <a:prstGeom prst="rect">
              <a:avLst/>
            </a:prstGeom>
            <a:noFill/>
          </p:spPr>
          <p:txBody>
            <a:bodyPr wrap="square" rtlCol="0">
              <a:spAutoFit/>
            </a:bodyPr>
            <a:lstStyle/>
            <a:p>
              <a:r>
                <a:rPr lang="tr-TR" sz="1600"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a:t>
              </a:r>
              <a:r>
                <a:rPr lang="tr-TR" sz="1600" dirty="0" err="1">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aselsantv</a:t>
              </a:r>
              <a:endParaRPr lang="tr-TR" sz="1600"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endParaRPr>
            </a:p>
          </p:txBody>
        </p:sp>
      </p:grpSp>
    </p:spTree>
    <p:extLst>
      <p:ext uri="{BB962C8B-B14F-4D97-AF65-F5344CB8AC3E}">
        <p14:creationId xmlns:p14="http://schemas.microsoft.com/office/powerpoint/2010/main" val="165600519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5581A-5EE1-B669-4160-F6E89C531053}"/>
              </a:ext>
            </a:extLst>
          </p:cNvPr>
          <p:cNvSpPr>
            <a:spLocks noGrp="1"/>
          </p:cNvSpPr>
          <p:nvPr>
            <p:ph type="title"/>
          </p:nvPr>
        </p:nvSpPr>
        <p:spPr/>
        <p:txBody>
          <a:bodyPr/>
          <a:lstStyle/>
          <a:p>
            <a:r>
              <a:rPr lang="en-US" dirty="0"/>
              <a:t>YEDİ SANİYE: TRENE Mİ, DAYANIKLILIĞA MI?</a:t>
            </a:r>
          </a:p>
        </p:txBody>
      </p:sp>
      <p:sp>
        <p:nvSpPr>
          <p:cNvPr id="3" name="Text Placeholder 2">
            <a:extLst>
              <a:ext uri="{FF2B5EF4-FFF2-40B4-BE49-F238E27FC236}">
                <a16:creationId xmlns:a16="http://schemas.microsoft.com/office/drawing/2014/main" id="{9EEBA305-9B08-AAF7-DDF3-FA4A17F1EB69}"/>
              </a:ext>
            </a:extLst>
          </p:cNvPr>
          <p:cNvSpPr>
            <a:spLocks noGrp="1"/>
          </p:cNvSpPr>
          <p:nvPr>
            <p:ph type="body" sz="quarter" idx="13"/>
          </p:nvPr>
        </p:nvSpPr>
        <p:spPr>
          <a:xfrm>
            <a:off x="411480" y="1920240"/>
            <a:ext cx="11338560" cy="4114800"/>
          </a:xfrm>
        </p:spPr>
        <p:txBody>
          <a:bodyPr/>
          <a:lstStyle/>
          <a:p>
            <a:r>
              <a:rPr lang="tr-TR" dirty="0"/>
              <a:t>Ölçüm tek bir şey söylüyor: teknoloji 7 saniye veriyor. Nereye harcanacağı bir işletme kararı.</a:t>
            </a:r>
          </a:p>
          <a:p>
            <a:r>
              <a:rPr lang="tr-TR" dirty="0"/>
              <a:t>TRENE HARCARSAN</a:t>
            </a:r>
          </a:p>
          <a:p>
            <a:pPr lvl="1"/>
            <a:r>
              <a:rPr lang="tr-TR" dirty="0"/>
              <a:t>%9 daha fazla tren — ama yeni tarife, yeni diyagram, yeni roster</a:t>
            </a:r>
          </a:p>
          <a:p>
            <a:r>
              <a:rPr lang="tr-TR" dirty="0"/>
              <a:t>DAYANIKLILIĞA HARCARSAN</a:t>
            </a:r>
          </a:p>
          <a:p>
            <a:pPr lvl="1"/>
            <a:r>
              <a:rPr lang="tr-TR" dirty="0"/>
              <a:t>Aynı trenler, %16 daha az yayılan gecikme — yalnızca araç donanımı</a:t>
            </a:r>
          </a:p>
          <a:p>
            <a:r>
              <a:rPr lang="tr-TR" dirty="0"/>
              <a:t>UYGULANABİLİRLİK</a:t>
            </a:r>
          </a:p>
          <a:p>
            <a:pPr lvl="1"/>
            <a:r>
              <a:rPr lang="tr-TR" dirty="0"/>
              <a:t>Gerektirdikleri: V2V haberleşme, tren–tren koordinasyonu, araç üstü sistemler, ETCS L3 altyapısı</a:t>
            </a:r>
          </a:p>
          <a:p>
            <a:pPr lvl="1"/>
            <a:r>
              <a:rPr lang="tr-TR" dirty="0"/>
              <a:t>Bu çalışmada maliyet analizi yapılmadı; olası kazanç saha donanımına bağımlılığın azalmasıdır</a:t>
            </a:r>
          </a:p>
        </p:txBody>
      </p:sp>
    </p:spTree>
    <p:extLst>
      <p:ext uri="{BB962C8B-B14F-4D97-AF65-F5344CB8AC3E}">
        <p14:creationId xmlns:p14="http://schemas.microsoft.com/office/powerpoint/2010/main" val="468788410"/>
      </p:ext>
    </p:extLst>
  </p:cSld>
  <p:clrMapOvr>
    <a:masterClrMapping/>
  </p:clrMapOvr>
</p:sld>
</file>

<file path=ppt/theme/theme1.xml><?xml version="1.0" encoding="utf-8"?>
<a:theme xmlns:a="http://schemas.openxmlformats.org/drawingml/2006/main" name="Office Teması">
  <a:themeElements>
    <a:clrScheme name="Custom 3">
      <a:dk1>
        <a:srgbClr val="3F3F3F"/>
      </a:dk1>
      <a:lt1>
        <a:srgbClr val="FFFFFF"/>
      </a:lt1>
      <a:dk2>
        <a:srgbClr val="003087"/>
      </a:dk2>
      <a:lt2>
        <a:srgbClr val="F7931D"/>
      </a:lt2>
      <a:accent1>
        <a:srgbClr val="003087"/>
      </a:accent1>
      <a:accent2>
        <a:srgbClr val="F7931D"/>
      </a:accent2>
      <a:accent3>
        <a:srgbClr val="0088EE"/>
      </a:accent3>
      <a:accent4>
        <a:srgbClr val="0070C0"/>
      </a:accent4>
      <a:accent5>
        <a:srgbClr val="C76F07"/>
      </a:accent5>
      <a:accent6>
        <a:srgbClr val="FABE77"/>
      </a:accent6>
      <a:hlink>
        <a:srgbClr val="003087"/>
      </a:hlink>
      <a:folHlink>
        <a:srgbClr val="F7931D"/>
      </a:folHlink>
    </a:clrScheme>
    <a:fontScheme name="UGES">
      <a:majorFont>
        <a:latin typeface="Posterama"/>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_dlc_DocId xmlns="51addbf6-cd97-4f3e-bcc7-a2381a20af9f">AKVJQPKRQQH7-344864422-405</_dlc_DocId>
    <_dlc_DocIdUrl xmlns="51addbf6-cd97-4f3e-bcc7-a2381a20af9f">
      <Url>https://ebilgi.aselsan.com.tr/gnysite/fbyon/kim/_layouts/15/DocIdRedir.aspx?ID=AKVJQPKRQQH7-344864422-405</Url>
      <Description>AKVJQPKRQQH7-344864422-405</Description>
    </_dlc_DocIdUrl>
    <PublishingExpirationDate xmlns="http://schemas.microsoft.com/sharepoint/v3" xsi:nil="true"/>
    <PublishingStartDate xmlns="http://schemas.microsoft.com/sharepoint/v3" xsi:nil="true"/>
    <SharedWithUsers xmlns="800cdfac-3bb6-46ea-8cac-b3a86bc27941">
      <UserInfo>
        <DisplayName>Evrim Ayşen ANIL</DisplayName>
        <AccountId>13715</AccountId>
        <AccountType/>
      </UserInfo>
      <UserInfo>
        <DisplayName>Başak NALBANTOĞLU</DisplayName>
        <AccountId>18177</AccountId>
        <AccountType/>
      </UserInfo>
      <UserInfo>
        <DisplayName>Can Onur GERGER</DisplayName>
        <AccountId>917</AccountId>
        <AccountType/>
      </UserInfo>
      <UserInfo>
        <DisplayName>Battal ACAR</DisplayName>
        <AccountId>25627</AccountId>
        <AccountType/>
      </UserInfo>
      <UserInfo>
        <DisplayName>Ali KÜÇÜKÖZKUL</DisplayName>
        <AccountId>19562</AccountId>
        <AccountType/>
      </UserInfo>
      <UserInfo>
        <DisplayName>Yasin DEMİR</DisplayName>
        <AccountId>19432</AccountId>
        <AccountType/>
      </UserInfo>
      <UserInfo>
        <DisplayName>Oğuzhan DAŞTAN</DisplayName>
        <AccountId>29242</AccountId>
        <AccountType/>
      </UserInfo>
      <UserInfo>
        <DisplayName>Ali Serhat YILMAZ</DisplayName>
        <AccountId>20754</AccountId>
        <AccountType/>
      </UserInfo>
      <UserInfo>
        <DisplayName>Esra AYTEPE</DisplayName>
        <AccountId>22559</AccountId>
        <AccountType/>
      </UserInfo>
      <UserInfo>
        <DisplayName>İbrahim Can TEMİZ</DisplayName>
        <AccountId>31643</AccountId>
        <AccountType/>
      </UserInfo>
      <UserInfo>
        <DisplayName>Ulaş ARSLAN</DisplayName>
        <AccountId>3654</AccountId>
        <AccountType/>
      </UserInfo>
      <UserInfo>
        <DisplayName>İsmail YURDAKUL</DisplayName>
        <AccountId>27629</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FBD396816AEB941A00F4DC137BAFD8F" ma:contentTypeVersion="3" ma:contentTypeDescription="Create a new document." ma:contentTypeScope="" ma:versionID="52e952c5ef54db361ac247bb5c84aeac">
  <xsd:schema xmlns:xsd="http://www.w3.org/2001/XMLSchema" xmlns:xs="http://www.w3.org/2001/XMLSchema" xmlns:p="http://schemas.microsoft.com/office/2006/metadata/properties" xmlns:ns1="http://schemas.microsoft.com/sharepoint/v3" xmlns:ns2="51addbf6-cd97-4f3e-bcc7-a2381a20af9f" xmlns:ns3="800cdfac-3bb6-46ea-8cac-b3a86bc27941" targetNamespace="http://schemas.microsoft.com/office/2006/metadata/properties" ma:root="true" ma:fieldsID="3ee15cf3b5c84fd0120f2521fd1ca569" ns1:_="" ns2:_="" ns3:_="">
    <xsd:import namespace="http://schemas.microsoft.com/sharepoint/v3"/>
    <xsd:import namespace="51addbf6-cd97-4f3e-bcc7-a2381a20af9f"/>
    <xsd:import namespace="800cdfac-3bb6-46ea-8cac-b3a86bc27941"/>
    <xsd:element name="properties">
      <xsd:complexType>
        <xsd:sequence>
          <xsd:element name="documentManagement">
            <xsd:complexType>
              <xsd:all>
                <xsd:element ref="ns2:_dlc_DocId" minOccurs="0"/>
                <xsd:element ref="ns2:_dlc_DocIdUrl" minOccurs="0"/>
                <xsd:element ref="ns2:_dlc_DocIdPersistId" minOccurs="0"/>
                <xsd:element ref="ns1:PublishingStartDate" minOccurs="0"/>
                <xsd:element ref="ns1:PublishingExpirationDat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1" nillable="true" ma:displayName="Scheduling Start Date" ma:description="" ma:hidden="true" ma:internalName="PublishingStartDate">
      <xsd:simpleType>
        <xsd:restriction base="dms:Unknown"/>
      </xsd:simpleType>
    </xsd:element>
    <xsd:element name="PublishingExpirationDate" ma:index="12"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1addbf6-cd97-4f3e-bcc7-a2381a20af9f"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00cdfac-3bb6-46ea-8cac-b3a86bc2794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titus xmlns="http://schemas.titus.com/TitusProperties/">
  <TitusGUID xmlns="">d45359ed-079b-4ac9-b049-57dad483a8a6</TitusGUID>
  <TitusMetadata xmlns="">eyJucyI6IkFTRUxTQU4iLCJwcm9wcyI6W3sibiI6IkxBTkdVQUdFIiwidmFscyI6W3sidmFsdWUiOiJUUiJ9XX0seyJuIjoiQ0FURUdPUlkiLCJ2YWxzIjpbeyJ2YWx1ZSI6IkNUMSJ9XX0seyJuIjoiTUlMTElDTEFTU0lGSUNBVElPTiIsInZhbHMiOlt7InZhbHVlIjoiQXMwMm10OVF5In1dfSx7Im4iOiJOQVRPQ0xBU1NJRklDQVRJT04iLCJ2YWxzIjpbXX0seyJuIjoiS1ZLSyIsInZhbHMiOlt7InZhbHVlIjoiQTY1dmVFN0FLIn1dfSx7Im4iOiJMQUJFTElORyIsInZhbHMiOlt7InZhbHVlIjoiTGFiZWxpbmcyIn1dfV19</TitusMetadata>
</titus>
</file>

<file path=customXml/itemProps1.xml><?xml version="1.0" encoding="utf-8"?>
<ds:datastoreItem xmlns:ds="http://schemas.openxmlformats.org/officeDocument/2006/customXml" ds:itemID="{DE7B94FA-DB44-42E5-86CF-1299DE871408}">
  <ds:schemaRefs>
    <ds:schemaRef ds:uri="http://schemas.microsoft.com/sharepoint/events"/>
  </ds:schemaRefs>
</ds:datastoreItem>
</file>

<file path=customXml/itemProps2.xml><?xml version="1.0" encoding="utf-8"?>
<ds:datastoreItem xmlns:ds="http://schemas.openxmlformats.org/officeDocument/2006/customXml" ds:itemID="{C709281E-227A-43E0-BF29-1716AB5499AA}">
  <ds:schemaRefs>
    <ds:schemaRef ds:uri="http://www.w3.org/XML/1998/namespace"/>
    <ds:schemaRef ds:uri="http://schemas.openxmlformats.org/package/2006/metadata/core-properties"/>
    <ds:schemaRef ds:uri="http://schemas.microsoft.com/office/2006/metadata/properties"/>
    <ds:schemaRef ds:uri="http://purl.org/dc/dcmitype/"/>
    <ds:schemaRef ds:uri="51addbf6-cd97-4f3e-bcc7-a2381a20af9f"/>
    <ds:schemaRef ds:uri="http://purl.org/dc/elements/1.1/"/>
    <ds:schemaRef ds:uri="http://schemas.microsoft.com/office/2006/documentManagement/types"/>
    <ds:schemaRef ds:uri="http://purl.org/dc/terms/"/>
    <ds:schemaRef ds:uri="http://schemas.microsoft.com/office/infopath/2007/PartnerControls"/>
    <ds:schemaRef ds:uri="800cdfac-3bb6-46ea-8cac-b3a86bc27941"/>
    <ds:schemaRef ds:uri="http://schemas.microsoft.com/sharepoint/v3"/>
  </ds:schemaRefs>
</ds:datastoreItem>
</file>

<file path=customXml/itemProps3.xml><?xml version="1.0" encoding="utf-8"?>
<ds:datastoreItem xmlns:ds="http://schemas.openxmlformats.org/officeDocument/2006/customXml" ds:itemID="{78E85DD4-F03E-44EB-8DE4-4DD7C8B080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1addbf6-cd97-4f3e-bcc7-a2381a20af9f"/>
    <ds:schemaRef ds:uri="800cdfac-3bb6-46ea-8cac-b3a86bc2794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BC776708-A014-4D09-84CC-31521924571B}">
  <ds:schemaRefs>
    <ds:schemaRef ds:uri="http://schemas.microsoft.com/sharepoint/v3/contenttype/forms"/>
  </ds:schemaRefs>
</ds:datastoreItem>
</file>

<file path=customXml/itemProps5.xml><?xml version="1.0" encoding="utf-8"?>
<ds:datastoreItem xmlns:ds="http://schemas.openxmlformats.org/officeDocument/2006/customXml" ds:itemID="{874ECE91-D256-41A1-98BD-156FDEEA250B}">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emplate/>
  <TotalTime>16526</TotalTime>
  <Words>1807</Words>
  <Application>Microsoft Office PowerPoint</Application>
  <PresentationFormat>Widescreen</PresentationFormat>
  <Paragraphs>182</Paragraphs>
  <Slides>18</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Segoe UI Black</vt:lpstr>
      <vt:lpstr>Calibri</vt:lpstr>
      <vt:lpstr>Segoe UI Semilight</vt:lpstr>
      <vt:lpstr>Source Sans Pro</vt:lpstr>
      <vt:lpstr>Segoe UI</vt:lpstr>
      <vt:lpstr>Posterama</vt:lpstr>
      <vt:lpstr>Arial</vt:lpstr>
      <vt:lpstr>Office Teması</vt:lpstr>
      <vt:lpstr>PowerPoint Presentation</vt:lpstr>
      <vt:lpstr>NEDEN BU SUNUM HAZIRLANDI</vt:lpstr>
      <vt:lpstr>PowerPoint Presentation</vt:lpstr>
      <vt:lpstr>Problem ve amaç</vt:lpstr>
      <vt:lpstr>LİTERATÜR TARAMASI  </vt:lpstr>
      <vt:lpstr>QUAGLIETTA vd. (2020) </vt:lpstr>
      <vt:lpstr>AOUN vd. (2021) </vt:lpstr>
      <vt:lpstr>SİNYALİZASYON SİSTEMLERİ  </vt:lpstr>
      <vt:lpstr>Demiryolu modeli</vt:lpstr>
      <vt:lpstr>Tren modelİ</vt:lpstr>
      <vt:lpstr>SİMÜLASYON ORTAMI  </vt:lpstr>
      <vt:lpstr>EXPRESS ROTA</vt:lpstr>
      <vt:lpstr>DURAKLAMALI ROTA</vt:lpstr>
      <vt:lpstr>BOZUCU ETKİLERE TEPKİ</vt:lpstr>
      <vt:lpstr>KONVOY DAVRANIŞINI ARTTIRMA</vt:lpstr>
      <vt:lpstr>SONUÇLAR VE ÇIKARIMLAR</vt:lpstr>
      <vt:lpstr>KAYNAKLAR </vt:lpstr>
      <vt:lpstr>PowerPoint Presentation</vt:lpstr>
    </vt:vector>
  </TitlesOfParts>
  <Manager>ASELSAN</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ASELSAN</dc:title>
  <dc:subject>ASELSAN</dc:subject>
  <dc:creator>Cemil Seyis</dc:creator>
  <cp:keywords/>
  <cp:lastModifiedBy>Recepcan Yetimoğlu</cp:lastModifiedBy>
  <cp:revision>417</cp:revision>
  <cp:lastPrinted>2024-07-04T05:35:52Z</cp:lastPrinted>
  <dcterms:created xsi:type="dcterms:W3CDTF">2022-10-12T20:35:02Z</dcterms:created>
  <dcterms:modified xsi:type="dcterms:W3CDTF">2026-09-10T03:15:10Z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d45359ed-079b-4ac9-b049-57dad483a8a6</vt:lpwstr>
  </property>
  <property fmtid="{D5CDD505-2E9C-101B-9397-08002B2CF9AE}" pid="3" name="LANGUAGE">
    <vt:lpwstr>TR</vt:lpwstr>
  </property>
  <property fmtid="{D5CDD505-2E9C-101B-9397-08002B2CF9AE}" pid="4" name="CATEGORY">
    <vt:lpwstr>CT1</vt:lpwstr>
  </property>
  <property fmtid="{D5CDD505-2E9C-101B-9397-08002B2CF9AE}" pid="5" name="MILLICLASSIFICATION">
    <vt:lpwstr>As02mt9Qy</vt:lpwstr>
  </property>
  <property fmtid="{D5CDD505-2E9C-101B-9397-08002B2CF9AE}" pid="6" name="KVKK">
    <vt:lpwstr>A65veE7AK</vt:lpwstr>
  </property>
  <property fmtid="{D5CDD505-2E9C-101B-9397-08002B2CF9AE}" pid="7" name="LABELING">
    <vt:lpwstr>Labeling2</vt:lpwstr>
  </property>
  <property fmtid="{D5CDD505-2E9C-101B-9397-08002B2CF9AE}" pid="8" name="ContentTypeId">
    <vt:lpwstr>0x0101003FBD396816AEB941A00F4DC137BAFD8F</vt:lpwstr>
  </property>
  <property fmtid="{D5CDD505-2E9C-101B-9397-08002B2CF9AE}" pid="9" name="_dlc_DocIdItemGuid">
    <vt:lpwstr>ff3a9f1a-72b0-465a-878a-5d88f7976d6a</vt:lpwstr>
  </property>
</Properties>
</file>