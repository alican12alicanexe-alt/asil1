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1.xml" ContentType="application/vnd.openxmlformats-officedocument.presentationml.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6"/>
  </p:sldMasterIdLst>
  <p:notesMasterIdLst>
    <p:notesMasterId r:id="rId25"/>
  </p:notesMasterIdLst>
  <p:handoutMasterIdLst>
    <p:handoutMasterId r:id="rId26"/>
  </p:handoutMasterIdLst>
  <p:sldIdLst>
    <p:sldId id="300" r:id="rId7"/>
    <p:sldId id="3458" r:id="rId9"/>
    <p:sldId id="3481" r:id="rId8"/>
    <p:sldId id="3485" r:id="rId15"/>
    <p:sldId id="3483" r:id="rId11"/>
    <p:sldId id="3484" r:id="rId14"/>
    <p:sldId id="3486" r:id="rId16"/>
    <p:sldId id="3499" r:id="rId50"/>
    <p:sldId id="3487" r:id="rId17"/>
    <p:sldId id="3500" r:id="rId51"/>
    <p:sldId id="3501" r:id="rId52"/>
    <p:sldId id="3502" r:id="rId53"/>
    <p:sldId id="3488" r:id="rId18"/>
    <p:sldId id="3489" r:id="rId19"/>
    <p:sldId id="3490" r:id="rId20"/>
    <p:sldId id="3491" r:id="rId21"/>
    <p:sldId id="3496" r:id="rId47"/>
    <p:sldId id="3492" r:id="rId22"/>
    <p:sldId id="3498" r:id="rId49"/>
    <p:sldId id="3495" r:id="rId23"/>
    <p:sldId id="302" r:id="rId24"/>
  </p:sldIdLst>
  <p:sldSz cx="12192000" cy="6858000"/>
  <p:notesSz cx="6797675" cy="9926638"/>
  <p:embeddedFontLst>
    <p:embeddedFont>
      <p:font typeface="Posterama" panose="020B0504020200020000" pitchFamily="34" charset="0"/>
      <p:regular r:id="rId27"/>
      <p:bold r:id="rId28"/>
      <p:italic r:id="rId29"/>
      <p:boldItalic r:id="rId30"/>
    </p:embeddedFont>
    <p:embeddedFont>
      <p:font typeface="Segoe UI" panose="020B0502040204020203" pitchFamily="34" charset="0"/>
      <p:regular r:id="rId31"/>
      <p:bold r:id="rId32"/>
      <p:italic r:id="rId33"/>
      <p:boldItalic r:id="rId34"/>
    </p:embeddedFont>
    <p:embeddedFont>
      <p:font typeface="Segoe UI Black" panose="020B0A02040204020203" pitchFamily="34" charset="0"/>
      <p:bold r:id="rId35"/>
      <p:boldItalic r:id="rId36"/>
    </p:embeddedFont>
    <p:embeddedFont>
      <p:font typeface="Segoe UI Semilight" panose="020B0402040204020203" pitchFamily="34" charset="0"/>
      <p:regular r:id="rId37"/>
      <p:italic r:id="rId38"/>
    </p:embeddedFont>
    <p:embeddedFont>
      <p:font typeface="Source Sans Pro" panose="020B0503030403020204" pitchFamily="34" charset="0"/>
      <p:regular r:id="rId39"/>
      <p:bold r:id="rId40"/>
      <p:italic r:id="rId41"/>
      <p:boldItalic r:id="rId42"/>
    </p:embeddedFont>
  </p:embeddedFont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SELSAN" id="{93DD7066-AEC4-4222-8AF9-CDFEECF47427}">
          <p14:sldIdLst>
            <p14:sldId id="300"/>
            <p14:sldId id="3481"/>
            <p14:sldId id="3458"/>
            <p14:sldId id="3482"/>
            <p14:sldId id="3483"/>
            <p14:sldId id="3493"/>
            <p14:sldId id="3494"/>
            <p14:sldId id="3484"/>
            <p14:sldId id="3485"/>
            <p14:sldId id="3486"/>
            <p14:sldId id="3487"/>
            <p14:sldId id="3488"/>
            <p14:sldId id="3489"/>
            <p14:sldId id="3490"/>
            <p14:sldId id="3491"/>
            <p14:sldId id="3492"/>
            <p14:sldId id="3495"/>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EF582A"/>
    <a:srgbClr val="F0592B"/>
    <a:srgbClr val="FF6635"/>
    <a:srgbClr val="FF8022"/>
    <a:srgbClr val="EBEBEE"/>
    <a:srgbClr val="FF5620"/>
    <a:srgbClr val="A8CF38"/>
    <a:srgbClr val="003087"/>
    <a:srgbClr val="00254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6" autoAdjust="0"/>
    <p:restoredTop sz="96410" autoAdjust="0"/>
  </p:normalViewPr>
  <p:slideViewPr>
    <p:cSldViewPr snapToGrid="0">
      <p:cViewPr varScale="1">
        <p:scale>
          <a:sx n="75" d="100"/>
          <a:sy n="75" d="100"/>
        </p:scale>
        <p:origin x="984" y="38"/>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11.xml"/><Relationship Id="rId49" Type="http://schemas.openxmlformats.org/officeDocument/2006/relationships/slide" Target="slides/slide21.xml"/><Relationship Id="rId50" Type="http://schemas.openxmlformats.org/officeDocument/2006/relationships/slide" Target="slides/slide22.xml"/><Relationship Id="rId51" Type="http://schemas.openxmlformats.org/officeDocument/2006/relationships/slide" Target="slides/slide23.xml"/><Relationship Id="rId52" Type="http://schemas.openxmlformats.org/officeDocument/2006/relationships/slide" Target="slides/slide24.xml"/><Relationship Id="rId53" Type="http://schemas.openxmlformats.org/officeDocument/2006/relationships/slide" Target="slides/slide2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48E6431-A79F-4691-AEA7-6E09E7B1FF0D}"/>
              </a:ext>
            </a:extLst>
          </p:cNvPr>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Date Placeholder 2">
            <a:extLst>
              <a:ext uri="{FF2B5EF4-FFF2-40B4-BE49-F238E27FC236}">
                <a16:creationId xmlns:a16="http://schemas.microsoft.com/office/drawing/2014/main" id="{C00843A7-623F-4CBE-BDDF-33813BBAEFE2}"/>
              </a:ext>
            </a:extLst>
          </p:cNvPr>
          <p:cNvSpPr>
            <a:spLocks noGrp="1"/>
          </p:cNvSpPr>
          <p:nvPr>
            <p:ph type="dt" sz="quarter" idx="1"/>
          </p:nvPr>
        </p:nvSpPr>
        <p:spPr>
          <a:xfrm>
            <a:off x="3850443" y="0"/>
            <a:ext cx="2945659" cy="498056"/>
          </a:xfrm>
          <a:prstGeom prst="rect">
            <a:avLst/>
          </a:prstGeom>
        </p:spPr>
        <p:txBody>
          <a:bodyPr vert="horz" lIns="91440" tIns="45720" rIns="91440" bIns="45720" rtlCol="0"/>
          <a:lstStyle>
            <a:lvl1pPr algn="r">
              <a:defRPr sz="1200"/>
            </a:lvl1pPr>
          </a:lstStyle>
          <a:p>
            <a:fld id="{0AB740B6-646D-4A4C-AEDE-E73833C6E508}" type="datetimeFigureOut">
              <a:rPr lang="tr-TR" smtClean="0"/>
              <a:t>10.09.2026</a:t>
            </a:fld>
            <a:endParaRPr lang="tr-TR"/>
          </a:p>
        </p:txBody>
      </p:sp>
      <p:sp>
        <p:nvSpPr>
          <p:cNvPr id="4" name="Footer Placeholder 3">
            <a:extLst>
              <a:ext uri="{FF2B5EF4-FFF2-40B4-BE49-F238E27FC236}">
                <a16:creationId xmlns:a16="http://schemas.microsoft.com/office/drawing/2014/main" id="{5A51A982-76FD-43B3-89D7-8121928D1225}"/>
              </a:ext>
            </a:extLst>
          </p:cNvPr>
          <p:cNvSpPr>
            <a:spLocks noGrp="1"/>
          </p:cNvSpPr>
          <p:nvPr>
            <p:ph type="ftr" sz="quarter" idx="2"/>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5" name="Slide Number Placeholder 4">
            <a:extLst>
              <a:ext uri="{FF2B5EF4-FFF2-40B4-BE49-F238E27FC236}">
                <a16:creationId xmlns:a16="http://schemas.microsoft.com/office/drawing/2014/main" id="{56960F27-9299-4461-9481-B66A2F1BF762}"/>
              </a:ext>
            </a:extLst>
          </p:cNvPr>
          <p:cNvSpPr>
            <a:spLocks noGrp="1"/>
          </p:cNvSpPr>
          <p:nvPr>
            <p:ph type="sldNum" sz="quarter" idx="3"/>
          </p:nvPr>
        </p:nvSpPr>
        <p:spPr>
          <a:xfrm>
            <a:off x="3850443" y="9428584"/>
            <a:ext cx="2945659" cy="498055"/>
          </a:xfrm>
          <a:prstGeom prst="rect">
            <a:avLst/>
          </a:prstGeom>
        </p:spPr>
        <p:txBody>
          <a:bodyPr vert="horz" lIns="91440" tIns="45720" rIns="91440" bIns="45720" rtlCol="0" anchor="b"/>
          <a:lstStyle>
            <a:lvl1pPr algn="r">
              <a:defRPr sz="1200"/>
            </a:lvl1pPr>
          </a:lstStyle>
          <a:p>
            <a:fld id="{D12C0598-3F49-47EA-A73A-00936C53184B}" type="slidenum">
              <a:rPr lang="tr-TR" smtClean="0"/>
              <a:t>‹#›</a:t>
            </a:fld>
            <a:endParaRPr lang="tr-TR"/>
          </a:p>
        </p:txBody>
      </p:sp>
    </p:spTree>
    <p:extLst>
      <p:ext uri="{BB962C8B-B14F-4D97-AF65-F5344CB8AC3E}">
        <p14:creationId xmlns:p14="http://schemas.microsoft.com/office/powerpoint/2010/main" val="161085023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3D126F64-650B-4185-81A8-0D0989901828}" type="datetimeFigureOut">
              <a:rPr lang="tr-TR" smtClean="0"/>
              <a:t>10.09.2026</a:t>
            </a:fld>
            <a:endParaRPr lang="tr-TR"/>
          </a:p>
        </p:txBody>
      </p:sp>
      <p:sp>
        <p:nvSpPr>
          <p:cNvPr id="4" name="Slayt Resmi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145DDAFB-7AE0-4170-B9CE-C1E67ACBDE43}" type="slidenum">
              <a:rPr lang="tr-TR" smtClean="0"/>
              <a:t>‹#›</a:t>
            </a:fld>
            <a:endParaRPr lang="tr-TR"/>
          </a:p>
        </p:txBody>
      </p:sp>
    </p:spTree>
    <p:extLst>
      <p:ext uri="{BB962C8B-B14F-4D97-AF65-F5344CB8AC3E}">
        <p14:creationId xmlns:p14="http://schemas.microsoft.com/office/powerpoint/2010/main" val="1375722832"/>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bir literatur derlemesi degil: simulator staj boyunca sifirdan yazildi. Icinde tren dinamigi, surucu modeli, uc sinyalizasyon sistemi, kilitleme ve tarife var.</a:t>
            </a:r>
          </a:p>
          <a:p>
            <a:r>
              <a:rPr lang="tr-TR" dirty="0"/>
              <a:t>Neden onemli: kapasiteyi arttirmanin klasik yolu yeni hat veya yeni peron yapmak, ikisi de pahali ve yavas. Sinyalizasyon degistirmek ayni altyapidan daha fazla tren gecirmenin en ucuz yolu olarak one suruluyor - bu calisma o iddiayi olcuyor.</a:t>
            </a:r>
          </a:p>
          <a:p>
            <a:r>
              <a:rPr lang="tr-TR" dirty="0"/>
              <a:t>Sunumda gordugunuz her sayi bir kosunun ciktisi ve komutu depodaki COMMANDS.md'de yazili; hicbiri literaturden alinmadi.</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Stajin ilk gunlerinde kapasite artirimi uzerine cok sayida calisma okudum; bu ikisi ayri duruyor.</a:t>
            </a:r>
          </a:p>
          <a:p>
            <a:r>
              <a:rPr lang="tr-TR" dirty="0"/>
              <a:t>QUAGLIETTA: sanal kuplaji dort isletim durumu olan bir tren takip modeli olarak kuruyor - kuplaja hazirlanma, kuplajli seyir, istemsiz ayrilma (dik rampada tren ondekine yetisemiyor), istemli ayrilma (ayrilan kavsakta makas guvenle cevrilebilsin diye). Ingiltere'de South West Main Line'in 20 km'lik kesitinde iki tren kosturuyorlar. Kazanc senaryoya gore %13-%53; en buyugu duraklamali ve farkli rotali trenlerde.</a:t>
            </a:r>
          </a:p>
          <a:p>
            <a:r>
              <a:rPr lang="tr-TR" dirty="0"/>
              <a:t>AOUN: kapasitenin otesine bakiyor - maliyet, enerji, guvenlik, regulasyon onayi, kamuoyu kabulu. On bes sektor uzmaniyla anket. Cikan tablo: guvenlik tek basina kararin %45'i, regulasyon %32'si, kapasite sadece %5.6'si. Hareketli blok bugun daha olgun oldugu icin genel skorda one geciyor.</a:t>
            </a:r>
          </a:p>
          <a:p>
            <a:r>
              <a:rPr lang="tr-TR" dirty="0"/>
              <a:t>BENIM FARKIM: onlar iki trenin anlik mesafesini olcuyor, ben on iki trenin bir turu hangi aralikla surdurebildigini. Benim sayimin daha kucuk cikmasi bu yuzden beklenen - ayni seyi olcmuyoruz.</a:t>
            </a:r>
          </a:p>
          <a:p>
            <a:r>
              <a:rPr lang="tr-TR" dirty="0"/>
              <a:t>BURAYA GORSEL (istege bagli): iki makalenin kendi sekilleri. Telifli olduklari icin ben eklemedim; kaynak gostererek sen ekleyebilirsin.</a:t>
            </a:r>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tr-TR"/>
          </a:p>
        </p:txBody>
      </p:sp>
      <p:sp>
        <p:nvSpPr>
          <p:cNvPr id="4" name="Footer Placeholder 3"/>
          <p:cNvSpPr>
            <a:spLocks noGrp="1"/>
          </p:cNvSpPr>
          <p:nvPr>
            <p:ph type="ftr" sz="quarter" idx="4"/>
          </p:nvPr>
        </p:nvSpPr>
        <p:spPr/>
        <p:txBody>
          <a:bodyPr/>
          <a:lstStyle/>
          <a:p>
            <a:endParaRPr lang="tr-TR"/>
          </a:p>
        </p:txBody>
      </p:sp>
      <p:sp>
        <p:nvSpPr>
          <p:cNvPr id="5" name="Slide Number Placeholder 4"/>
          <p:cNvSpPr>
            <a:spLocks noGrp="1"/>
          </p:cNvSpPr>
          <p:nvPr>
            <p:ph type="sldNum" sz="quarter" idx="5"/>
          </p:nvPr>
        </p:nvSpPr>
        <p:spPr/>
        <p:txBody>
          <a:bodyPr/>
          <a:lstStyle/>
          <a:p>
            <a:fld id="{145DDAFB-7AE0-4170-B9CE-C1E67ACBDE43}" type="slidenum">
              <a:rPr lang="tr-TR" smtClean="0"/>
              <a:t>18</a:t>
            </a:fld>
            <a:endParaRPr lang="tr-TR"/>
          </a:p>
        </p:txBody>
      </p:sp>
    </p:spTree>
    <p:extLst>
      <p:ext uri="{BB962C8B-B14F-4D97-AF65-F5344CB8AC3E}">
        <p14:creationId xmlns:p14="http://schemas.microsoft.com/office/powerpoint/2010/main" val="3065218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SABIT BLOK: hat sabit parcalara bolunmus, on tren hangi bloktaysa o blok kapali. Tren blogun neresinde olursa olsun bir blok boyu kaybediyorsun - burada 900 m.</a:t>
            </a:r>
          </a:p>
          <a:p>
            <a:r>
              <a:rPr lang="tr-TR" dirty="0"/>
              <a:t>HAREKETLI BLOK (ETCS L3): blok yok. Yetki, on trenin gercek arkasinin 100 m gerisinde bitiyor ve tren oraya durabilecegi hizla yaklasiyor. Buna MUTLAK fren mesafesi denir: ondeki tren duvara carpmis gibi aninda duruyor varsayilir.</a:t>
            </a:r>
          </a:p>
          <a:p>
            <a:r>
              <a:rPr lang="tr-TR" dirty="0"/>
              <a:t>SANAL KUPLAJ: ondeki trenin de fren yapacagi varsayilir, yani gereken sey iki fren mesafesinin FARKI. NISPI fren mesafesi. Kazancin kaynagi bu - ve riski de bu: onde giden trenin freni dogrulanamaz, ve raydan cikan bir tren aninda durur. Aoun'un %45 guvenlik agirligi tam olarak bu belirsizligi olcuyor.</a:t>
            </a:r>
          </a:p>
          <a:p>
            <a:r>
              <a:rPr lang="tr-TR" dirty="0"/>
              <a:t>Kazancin buyuklugu hiza bagli: kabaca v/2 x (1/b - 1/b_acil), bu arac icin 0.17v. 80 km/h'te 3.7 saniye, duran trende sifir. Duraklamali bir hatta kazancin neden kucuk kaldigini bu tek satir aciklıyor.</a:t>
            </a:r>
          </a:p>
          <a:p>
            <a:r>
              <a:rPr lang="tr-TR" dirty="0"/>
              <a:t>ONERI - BURAYA GIF: uc sistemin ayni ani, yan yana. Sabit blokta trenin blok sinirinda beklemesi, hareketli blokta arkaya kilitlenmesi, sanal kuplajda icine girmesi.</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Terminoloji: bu gercek bir metro hatti degil, ve oyleymis gibi sunmuyorum. Istasyon araligi 3.1 km ve kapidan kapiya hiz 53 km/h; metroda bunlar 0.8-1.2 km ve 30-35 km/h olur. Kapali cevrim yapisi, her istasyonda durus ve 71-148 saniyelik takip araliklari ise metro-benzeri. Bu yuzden 'kentici demiryolu test agi' diyorum ve sunumun tamaminda bu terimi kullaniyorum.</a:t>
            </a:r>
          </a:p>
          <a:p>
            <a:r>
              <a:rPr lang="tr-TR" dirty="0"/>
              <a:t>Neden cevrim: gidis-donus hatlarda belli bir araligin altinda kisit sinyalizasyon olmaktan cikip terminaldeki sevk sirasi oluyor. Duran trenin kalkis suresini hicbir sinyalizasyon sistemi degistirmez, o yuzden karsilastirma duzlesiyor. Cevrimde her tren kosuyor ve beklemenin tek sebebi onunde birinin olmasi - olculen sey boylece sinyalizasyonun kendisi.</a:t>
            </a:r>
          </a:p>
          <a:p>
            <a:r>
              <a:rPr lang="tr-TR" dirty="0"/>
              <a:t>Istasyonlar bilerek esit araliksiz: gercek bir tarifenin en sikisik yeri vardir. Akyurt 1 - Macunkoy 1 arasindaki 2.5 km burada ilk baglayan yer.</a:t>
            </a:r>
          </a:p>
          <a:p>
            <a:r>
              <a:rPr lang="tr-TR" dirty="0"/>
              <a:t>Bos turda bir tur 79 dk 09 s; bunun 11 dakikasi peronda duruyor.</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modelin NE OLDUGUNU soyluyor; denklemleri bir sonraki, sayilari ondan sonraki slayt veriyor.</a:t>
            </a:r>
          </a:p>
          <a:p>
            <a:r>
              <a:rPr lang="tr-TR" dirty="0"/>
              <a:t>TEK BOYUT: tren bir noktada degil, bir uzunluga sahip. Konumu tek skaler ama uzunlugu her yerde hesaba giriyor - trenin altindaki hiz siniri burnundan kuyruguna en dusuk olan, altindaki egim ise uzunlukla agirliklandirilmis ortalama. Trenin %30'u bir egimde %70'i baskaysa kuvvet buna gore hesaplaniyor.</a:t>
            </a:r>
          </a:p>
          <a:p>
            <a:r>
              <a:rPr lang="tr-TR" dirty="0"/>
              <a:t>JERK: ivmenin degisim hizi, ve yolcu konforu standartlarinin olctugu buyukluk. Modelde fren brake build-up suresinden turetiliyor: 2 saniyede tam frene ulasan bir fren, saniyede 0.5 m/s2 degisebilen bir frendir.</a:t>
            </a:r>
          </a:p>
          <a:p>
            <a:r>
              <a:rPr lang="tr-TR" dirty="0"/>
              <a:t>SURUCU ideal ama 'agresif' anlamda: hicbir metreyi bosa harcamiyor. Amac sinyalizasyonu olcmek, surucu farkini degil.</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butun deneyleri tek karede topluyor.</a:t>
            </a:r>
          </a:p>
          <a:p>
            <a:r>
              <a:rPr lang="tr-TR" dirty="0"/>
              <a:t>Buyuk sicrama sabit bloktan hareketli bloga: duraklamali turda 148 saniyeden 78'e, kapasite neredeyse ikiye katlaniyor (%47). Hareketli bloktan sanal kuplaja gecis ise 78'den 71'e, %9.</a:t>
            </a:r>
          </a:p>
          <a:p>
            <a:r>
              <a:rPr lang="tr-TR" dirty="0"/>
              <a:t>Isletmeci icin yatirim sirasini belirleyen sey bu: buyuk kazanc zaten hareketli blokta aliniyor, sanal kuplaj onun ustune koyuyor.</a:t>
            </a:r>
          </a:p>
          <a:p>
            <a:r>
              <a:rPr lang="tr-TR" dirty="0"/>
              <a:t>Duraksiz isletmede tablo degisiyor: orada sanal kuplajin katkisi %18, yani iki kati. Kazanc isletme bicimine bagli.</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Senaryo dosyasi bunlarin cogunu YAZMIYOR. Bir arac icin yazilan sey uzunluk ve dort performans degeri: azami hiz, kalkis, servis freni, acil fren. Kutle, etkin kutle, kalkis kuvveti, guc, taban hiz ve Davis katsayilari bunlardan turetiliyor; stats.py hepsini yaninda formuluyle birlikte yazdiriyor. Boylece elle girilmis tek bir sayi yok.</a:t>
            </a:r>
          </a:p>
          <a:p>
            <a:r>
              <a:rPr lang="tr-TR" dirty="0"/>
              <a:t>IKI AYRI EMNIYET PAYI VAR VE TOPLANIYORLAR. Sistemin payi tehlike noktasinin NEREDE oldugunu belirliyor; surucunun payi ise verilen tehlike noktasindan ne kadar once durdugu - 25 m ve sinyalizasyondan bagimsiz. Hareketli blokta bir tren ondekinin arkasindan 100 + 25 = 125 m uzakta tutuluyor.</a:t>
            </a:r>
          </a:p>
          <a:p>
            <a:r>
              <a:rPr lang="tr-TR" dirty="0"/>
              <a:t>SURUCU: model surucusu 'agresif' anlamda ideal - izin verilen hicbir metreyi bosa harcamiyor, hiz sinirini da asmiyor. Bilerek boyle: amac sinyalizasyonu olcmek, surucu farkini degil. Gercek bir surucu daha temkinli surer ve butun sistemler ayni oranda kotulesir, yani karsilastirma bozulmaz.</a:t>
            </a:r>
          </a:p>
          <a:p>
            <a:r>
              <a:rPr lang="tr-TR" dirty="0"/>
              <a:t>V2V icin 0.5 s gecikme ve kesintisiz kapsama varsayildi; kapsama kaybi modellenmedi - bu bir sinirlama.</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sanal kuplaj icin en elverisli vaka: hicbir tren durmuyor, herkes hat hizinda. Nispi fren mesafesinin kazanci hizla buyudugu icin fark burada aciliyor - 39 saniyeden 32 saniyeye, %18.</a:t>
            </a:r>
          </a:p>
          <a:p>
            <a:r>
              <a:rPr lang="tr-TR" dirty="0"/>
              <a:t>Sabit blogun 139 saniyede kalmasinin sebebi sinyalizasyon felsefesi degil, blok uzunlugunun kendisi: 900 metrelik bir blok, tren nerede olursa olsun kaybedilen mesafedir.</a:t>
            </a:r>
          </a:p>
          <a:p>
            <a:r>
              <a:rPr lang="tr-TR" dirty="0"/>
              <a:t>ONERI - BURAYA GIF/VIDEO: duraksiz kosunun canli semasi. Uc sistemi yan yana gostermek en carpici olani; grafigin yerine degil, grafikten once gosterilebilir.</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Ayni ag, ayni filo, tek fark her istasyonda durulmasi. Sanal kuplajin ustunlugu %18'den %9'a iniyor.</a:t>
            </a:r>
          </a:p>
          <a:p>
            <a:r>
              <a:rPr lang="tr-TR" dirty="0"/>
              <a:t>Neden: turun buyuk kismi hat hizinin altinda geciyor ve nispi frenin kazanci hizla satin aliniyor - duran trende kazanc sifir. Daha onemlisi, bu araligin altinda baglayan sey peron: bir peron bir takip mesafesi degildir ve hicbir sinyalizasyon sistemi onu kisaltamaz.</a:t>
            </a:r>
          </a:p>
          <a:p>
            <a:r>
              <a:rPr lang="tr-TR" dirty="0"/>
              <a:t>Bu, calismanin en onemli tek bulgusu olabilir: sanal kuplajin kazanci isletme bicimine bagli, teknolojinin kendisine degil. Aoun da duraklamali isletmede kazancin %2'ye indigini buluyor - ayni yon.</a:t>
            </a:r>
          </a:p>
          <a:p>
            <a:r>
              <a:rPr lang="tr-TR" dirty="0"/>
              <a:t>ONERI - BURAYA GIF/VIDEO: duraklamali kosunun semasi; peron isgalinin baglayici oldugu an gorulsun.</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METODOLOJI: bir sistemi digerinin tarifesinde kosturmak haksiz karsilastirmadir - payi olan kazanir. O yuzden iki okuma var.</a:t>
            </a:r>
          </a:p>
          <a:p>
            <a:r>
              <a:rPr lang="tr-TR" dirty="0"/>
              <a:t>SOL: ikisi de 78 saniyede, yani isletmecinin bugun hareketli blokla kostugu tarife. Uc olayin ucunde de ayni trenler, ayni tarife; tek degisen sinyalizasyon.</a:t>
            </a:r>
          </a:p>
          <a:p>
            <a:r>
              <a:rPr lang="tr-TR" dirty="0"/>
              <a:t>HIZ KISITLAMASI: 455 saniyeye karsi 455 saniye. Tam olarak ayni. Sebebi su: kisitlama HATTIN kendisine uygulaniyor ve her treni birbirinden bagimsiz olarak ayni sekilde yavaslatiyor. Ortada kuyruk yok, yani nispi frenin kisaltacagi bir takip mesafesi de yok. Sanal kuplaj burada hicbir sey veremez.</a:t>
            </a:r>
          </a:p>
          <a:p>
            <a:r>
              <a:rPr lang="tr-TR" dirty="0"/>
              <a:t>KAPI ARIZASI: 1162'ye karsi 1009 saniye, %13 az. Burada kuyruk VAR - bir tren peronda takiliyor, arkasindakiler ona yetisiyor. Kuyruk tam olarak nispi frenin kisalttigi seydir.</a:t>
            </a:r>
          </a:p>
          <a:p>
            <a:r>
              <a:rPr lang="tr-TR" dirty="0"/>
              <a:t>BULGU: sanal kuplaj gecikmeyi degil KUYRUGU soguruyor. Hattin kendisi yavassa yapabilecegi bir sey yok.</a:t>
            </a:r>
          </a:p>
          <a:p>
            <a:r>
              <a:rPr lang="tr-TR" dirty="0"/>
              <a:t>Yayilan gecikme ayrica: kapi arizasinda MB 982 s, VC 829 s - %16 az. Slayttaki %13 toplam uzerinden, %16 yayilan uzerinden; ikisi de dogru, farkli buyuklukler.</a:t>
            </a:r>
          </a:p>
          <a:p>
            <a:r>
              <a:rPr lang="tr-TR" dirty="0"/>
              <a:t>SAG: kontrol deneyi. Her sistem kendi tum-yesil sinirinda - hareketli blok 78, sanal kuplaj 71. Ikisinde de pay yok ve fark 1162'ye karsi 1156: alti saniye, %0.5. Yani ayri bir toparlanma davranisi YOK. Teknoloji yedi saniye veriyor, baska bir sey degil; onu ya trene harcarsin ya dayanikliliga.</a:t>
            </a:r>
          </a:p>
          <a:p>
            <a:r>
              <a:rPr lang="tr-TR" dirty="0"/>
              <a:t>Hiz kisitlamasi sag grafikte yok cunku iki tarife kisitlamanin saatine farkli sayida tren sokuyor; o satir tarifeden kirleniyor. Kayit icin: MB@71 417 s, VC@71 355 s.</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Sagdaki iki panel iz dosyasindan sayildi. Bir tik kuplajli sayiliyor: yetki gerekcesi 'coupled to X' iceriyor ve 'uncoupled' icermiyor - yani sanal kuplaj nispi fren mesafesi veriyor VE tren kuplaj esiginin icinde.</a:t>
            </a:r>
          </a:p>
          <a:p>
            <a:r>
              <a:rPr lang="tr-TR" dirty="0"/>
              <a:t>DURAKSIZ: kosma suresinin %14.5'i kuplajli, ortalama kuplaj 31 s, en uzunu 135 s. Trenler ikiser ikiser esleşiyor - X02 X01'e, X04 X03'e. Yani kural gercekten cift kuruyor.</a:t>
            </a:r>
          </a:p>
          <a:p>
            <a:r>
              <a:rPr lang="tr-TR" dirty="0"/>
              <a:t>DURAKLAMALI: %8.6, ortalama 19 s, en uzunu 30 s. Kuplaj kuruluyor ama her istasyonda bozuluyor; kalici konvoy yok.</a:t>
            </a:r>
          </a:p>
          <a:p>
            <a:r>
              <a:rPr lang="tr-TR" dirty="0"/>
              <a:t>En buyuk konvoy iki tren. Uc ve daha buyuk konvoy bu kurulumda olusmuyor - kuplaj esigi (800 m) ve istasyon sikligi buna izin vermiyor.</a:t>
            </a:r>
          </a:p>
          <a:p>
            <a:r>
              <a:rPr lang="tr-TR" dirty="0"/>
              <a:t>DURUST KAYIT: sinirin kendi maliyeti duraksiz turda 213 saniye; serbest birakma bunun 150 saniyesini geri aliyor, tamamini degil. Ayrica tesvikli satir 70 km/h'e gore planlanip 90 kosabildigi icin toparlanma payi tasiyor - kuralin payi ile planin payi bu kurulumda ayrilamiyor.</a:t>
            </a:r>
          </a:p>
          <a:p>
            <a:r>
              <a:rPr lang="tr-TR" dirty="0"/>
              <a:t>ONERI - BURAYA GIF: iki trenin kuplaj kurup istasyonda ayrilmasi.</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EN GUCLU OLDUGU YER: sanal kuplajin etkisi en cok duraksiz hatlarda belli oluyor - orada baglayici olan tek sey trenler arasi mesafe ve nispi fren mesafesi tam olarak onu kisaltiyor. Konvoy kontrol parametreleriyle (hiz tavani + one yaklasinca serbest birakma) bu etki daha da artiyor: 25 saniyeden 17'ye.</a:t>
            </a:r>
          </a:p>
          <a:p>
            <a:r>
              <a:rPr lang="tr-TR" dirty="0"/>
              <a:t>KAPSAM DISI: makalelerde kuplajin ozellikle karma trafikli hatlarda ve birlesme-ayrilma yapan kavsaklarda etkisine de yer veriliyor - Quaglietta'nin en buyuk kazanci orada cikiyor. Ben kapsama almadim cunku o daha cok rota ve tarife optimizasyonuna giriyor. Simulasyonda bir iki deneme yaptim ama rota optimizasyonum o tarz bir durum icin yeterli degildi, guzel sonuclar alamadim. Bunu bir eksiklik olarak soyluyorum, sonuc olarak degil.</a:t>
            </a:r>
          </a:p>
          <a:p>
            <a:r>
              <a:rPr lang="tr-TR" dirty="0"/>
              <a:t>ETKISININ KAYBOLDUGU YER: duraklamali isletmede baglayan sey artik sinyalizasyon degil peron isgali, ve peron bir takip mesafesi degildir - hicbir sinyalizasyon sistemi onu kisaltamaz. Bozucu etkide ise dikkat: AYNI tarifede sanal kuplaj kapi arizasinda %13 daha az toplam gecikme veriyor (yayilan gecikmede %16). Ama her sistem KENDI surdurulebilir araliginda kosarken fark %0.5'e iniyor. Yani ayri bir toparlanma davranisi yok; kazanc elinde kalan yedi saniyelik paydan geliyor.</a:t>
            </a:r>
          </a:p>
          <a:p>
            <a:r>
              <a:rPr lang="tr-TR" dirty="0"/>
              <a:t>OLGUNLUK: sanal kuplaj hala gelismekte olan, olgunlasmamis bir alan. En buyuk kisit guvenlik standartlarini saglayabilecegin ispatlanmasi, uygun protokollerin gelistirilmesi, ve kurulacak hattin bu maliyete degmesi. Aoun'un olctugu agirliklar bunu sayiyla soyluyor: karar %45 guvenlik, %32 regulasyon onayi, sadece %5.6 kapasite.</a:t>
            </a:r>
          </a:p>
          <a:p>
            <a:r>
              <a:rPr lang="tr-TR" dirty="0"/>
              <a:t>EGIM SORULURSA: egimli hatta MB ile VC arasindaki farki OLCMEDIM, o yuzden slaytta yok. Teorik olarak fark egimde BUYUYOR: nispi frenin kazandirdigi mesafe v^2/2 x (1/b_servis - 1/b_acil), ve binde 15 iniste iki oran da dustugu icin bu fark 82 metreden 105 metreye cikiyor - %27 artis, 80 km/h'te 3.7 saniye yerine 4.7 saniye. Ama duraklamali bir hatta baglayan sey peron oldugu icin bunun araliga yansimasi ayri bir soru.</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KAPANIS: sanal kuplaj kapasitede hareketli bloktan iyi, ama karari kapasite vermiyor. Aoun'un olctugu agirliklara gore karar %45 guvenlik, %32 regulasyon onayi, sadece %5.6 kapasite. Hareketli blok bugun daha olgun oldugu icin genel skorda one geciyor.</a:t>
            </a:r>
          </a:p>
          <a:p>
            <a:r>
              <a:rPr lang="tr-TR" dirty="0"/>
              <a:t>DIKKAT - burada ne SOYLEMIYORUM: sanal kuplajin daha ucuz oldugunu soylemiyorum, cunku bu calismada maliyet analizi yapmadim. Soyleyebilecegim sey su: sanal kuplaj ayirmayi trenin uzerine tasiyor, dolayisiyla saha donanimina bagimliligi azaltma potansiyeli var. Bunun paraya ne kadar cevrildigi ayri bir calisma konusu.</a:t>
            </a:r>
          </a:p>
          <a:p>
            <a:r>
              <a:rPr lang="tr-TR" dirty="0"/>
              <a:t>Teknoloji olgunlastikca ve araç ustu sistemlerin maliyeti dustukce tablo sanal kuplaj lehine doner; olctugum kapasite farki bu beklentinin sayisal tarafini destekliyor. Ama bugun icin durust cevap: duraksiz isletmede evet, duraklamali isletmede marjinal.</a:t>
            </a:r>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Dort denklem, dordu de simulatorun gercekten kullandigi hali.</a:t>
            </a:r>
          </a:p>
          <a:p>
            <a:r>
              <a:rPr lang="tr-TR" dirty="0"/>
              <a:t>HAREKET: egim sonradan eklenen bir duzeltme degil, denklemin kendi terimi. Trenin %30'u bir egimde %70'i baskaysa kuvvet trenin ALTINDAKI egimin uzunlukla agirliklandirilmis ortalamasindan hesaplaniyor - tek nokta degil, trenin tamami.</a:t>
            </a:r>
          </a:p>
          <a:p>
            <a:r>
              <a:rPr lang="tr-TR" dirty="0"/>
              <a:t>m_eff: donen kutleler de hizlandirilmak zorunda - tekerlek, disli, rotor. 216 t tren 233 t gibi davraniyor.</a:t>
            </a:r>
          </a:p>
          <a:p>
            <a:r>
              <a:rPr lang="tr-TR" dirty="0"/>
              <a:t>DAVIS: A yatak ve yuvarlanma direnci, hizdan neredeyse bagimsiz. B flans ve ray temasi, hizla dogrusal. Ikisi de kutleyle olcekleniyor. C aerodinamik ve kutleyle DEGIL, trenin uzunluguyla olcekleniyor - uzun tren daha cok surtunme yuzeyi demek.</a:t>
            </a:r>
          </a:p>
          <a:p>
            <a:r>
              <a:rPr lang="tr-TR" dirty="0"/>
              <a:t>FREN: talep edilen oran once aderans siniriyla (mu*g) kesiliyor, sonra egim orana ekleniyor. Egim terimi m/m_eff ile bolunuyor cunku yercekimi statik kutleye etki ediyor ama donen parcalarin eylemsizligi de ona direniyor. Binde 15 inis icin: 9.80665 x 0.015 / 1.08 = 0.136 m/s2, yani 1.0 fren 0.864'e dusuyor.</a:t>
            </a:r>
          </a:p>
          <a:p>
            <a:r>
              <a:rPr lang="tr-TR" dirty="0"/>
              <a:t>YETKI: son satir bu sunumun en cok yanlis anlasilan yeri. Bir blogu boyutlandiran sey fren mesafesi degil, bu dort terimin toplami. Sonraki slaytta sayilariyla var.</a:t>
            </a:r>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Cizilen sey TRENIN YAPTIGI hareket: her nokta simulatorun kendi achievable_accel fonksiyonundan tik tik integre ediliyor, jerk siniri dahil. Sabit oranli formul degil - onun egrisinin basinda kose, sonunda dikey inis olur, ikisi de gercek bir trende yoktur.</a:t>
            </a:r>
          </a:p>
          <a:p>
            <a:r>
              <a:rPr lang="tr-TR" dirty="0"/>
              <a:t>SAG PANEL bunun sebebini gosteriyor: fren aninda kurulmuyor. Jerk siniri 0.5 m/s3, yani servis freni 2 saniyede, acil fren 3 saniyede tam orana ulasiyor. Jerk siniri fren build-up suresinden tureti1iyor: 2 saniyede tam frene ulasan bir fren, saniyede 0.5 m/s2 degisebilen bir frendir.</a:t>
            </a:r>
          </a:p>
          <a:p>
            <a:r>
              <a:rPr lang="tr-TR" dirty="0"/>
              <a:t>EGIM: binde 15 iniste net oran 1.0 degil 0.86 m/s2. Hesap: 9.80665 x 0.015 / 1.08 = 0.136 m/s2 dusuyor. 1.08'e bolunmesi yercekiminin statik kutleye etki etmesi ama donen parcalarin eylemsizliginin de ona direnmesinden. Mesafe 269'dan 301 metreye cikiyor - %12 daha uzun.</a:t>
            </a:r>
          </a:p>
          <a:p>
            <a:r>
              <a:rPr lang="tr-TR" dirty="0"/>
              <a:t>SORULURSA - BIR BLOGU BOYUTLANDIRAN SAY1 BU DEGIL: sinyalizasyon sistemi trenin fren mesafesine ucak sey daha ekliyor. Surucunun tepki suresi (80 km/h'te 2 saniye = 44 m), fren build-up payi (22 m) ve emniyet payi (25 m). Sabit oranli plan uzerinden: 44 + 22 + 247 + 25 = 339 metre. Yani bir blogu boyutlandiran sayi 269 degil 339. Ilginc olan su: planin toplami 338.6 m, gercek hareketin toplami 44 + 269 + 25 = 338.2 m - yarim metre fark. Build-up payi tam olarak jerkin maliyetini karsilamak icin var ve dogru boyutta.</a:t>
            </a:r>
          </a:p>
          <a:p>
            <a:r>
              <a:rPr lang="tr-TR" dirty="0"/>
              <a:t>Fren egrisi Davis direncini kasten saymaz: bir fren egrisi tren hafif, temiz ve arkadan ruzgar alirken de tutmali. Hata emniyetli yonde.</a:t>
            </a:r>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SOL: ceki egrisi iki parcali. Taban hiza kadar kuvvet sabit - F0 = kalkis ivmesi x etkin kutle = 1.0 x 233.3 t = 233.3 kN. Taban hiz azami hizin %40'i, yani 36 km/h. Ustunde guc sabit kaliyor ve kuvvet P/v ile dusuyor: P = F0 x v_taban = 233.3 kN x 10 m/s = 2333 kW, tonuna 10.8 kW - bu tur bir arac icin normal bandin (10-20) alt ucu.</a:t>
            </a:r>
          </a:p>
          <a:p>
            <a:r>
              <a:rPr lang="tr-TR" dirty="0"/>
              <a:t>Direnc ne kadar kucuk oldugu carpici: 80 km/h'te 3.9 kN, cekinin %4'u. Yani bir treni hizlandirmanin maliyeti neredeyse tamamen eylemsizlik, surtunme degil. Bu, duraklamali bir hatta neden bu kadar cok zaman kaybedildigini de acikliyor.</a:t>
            </a:r>
          </a:p>
          <a:p>
            <a:r>
              <a:rPr lang="tr-TR" dirty="0"/>
              <a:t>SAG: gercek hareket, jerk sinirli. Ilk saniyelerde ivme 0'dan 1.0'a jerk siniriyla cikiyor (0.5 m/s3, yani 2 saniye), sonra 36 km/h'e kadar sabit, ustunde dusuyor. 80 km/h'e 31 saniyede ve 392 metrede variliyor - 3.1 km'lik bir istasyon araliginin sekizde biri.</a:t>
            </a:r>
          </a:p>
          <a:p>
            <a:r>
              <a:rPr lang="tr-TR" dirty="0"/>
              <a:t>Karsilastirma icin fren: 80'den duruşa 247 metre. Yani bu arac hizlanirken durdugundan bir buçuk kat fazla yol aliyor.</a:t>
            </a:r>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varyant sunulan sonuclarin gercek bir hatta da gecerli olup olmadigini sinamak icin var. Ayni cevrim, ayni filo, ayni tarife - tek fark hattin artik bir egim profili tasimasi.</a:t>
            </a:r>
          </a:p>
          <a:p>
            <a:r>
              <a:rPr lang="tr-TR" dirty="0"/>
              <a:t>PROFIL: istasyon ciftleri arasina on egim yazildi, +15 ile -14 binde arasinda. Ayni liste iki hatta da yazildigi ve DN ters yonde gecildigi icin yukselti INSAAT GEREGI kapaniyor - olculen net degisim +0.00 metre. Tur icinde +73 metreye cikip -13 metreye iniyor. Peron bolgeleri duz birakildi, yani bir kesim uzunlugunun 700 metre eksigi uzerinden egimleniyor.</a:t>
            </a:r>
          </a:p>
          <a:p>
            <a:r>
              <a:rPr lang="tr-TR" dirty="0"/>
              <a:t>SURE: 79:10'dan 79:13'e. Uc saniye. Sebebi basit - kapali bir cevrimde tirmanista kaybedilen sey iniste geri aliniyor. Egim tur suresini pratikte degistirmiyor.</a:t>
            </a:r>
          </a:p>
          <a:p>
            <a:r>
              <a:rPr lang="tr-TR" dirty="0"/>
              <a:t>FREN: burada degisiyor. Binde 15 iniste servis freni 1.00 degil 0.864 m/s2 ediyor, cunku yercekimi frene karsi calisiyor. Gereken blok boyu 339'dan 378 metreye cikiyor ve en dar bloktaki pay 61 metreden 22 metreye iniyor. Yani egim zamandan degil, EMNIYET PAYINDAN yiyor - ve tukendigi anda blok boyunu, dolayisiyla kapasiteyi belirlemeye baslar.</a:t>
            </a:r>
          </a:p>
          <a:p>
            <a:r>
              <a:rPr lang="tr-TR" dirty="0"/>
              <a:t>Bu, sunumun geri kalanini gecersiz kilmiyor: butun karsilastirmalar duz hatta yapildi ve uc sistem de ayni egimi gorurdu. Ama bir isletmeciye sunu soyluyor: bu hattan daha dik bir hatta, kapasiteyi once sinyalizasyon degil topografya sinirlar.</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SELSAN_MAS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C4A3F6-F0EE-4B67-9AE7-538725797B9C}"/>
              </a:ext>
            </a:extLst>
          </p:cNvPr>
          <p:cNvSpPr/>
          <p:nvPr userDrawn="1"/>
        </p:nvSpPr>
        <p:spPr>
          <a:xfrm>
            <a:off x="0" y="1"/>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1" name="Rectangle 10">
            <a:extLst>
              <a:ext uri="{FF2B5EF4-FFF2-40B4-BE49-F238E27FC236}">
                <a16:creationId xmlns:a16="http://schemas.microsoft.com/office/drawing/2014/main" id="{0F9493B5-CA16-4EBB-A083-B213EF16796C}"/>
              </a:ext>
            </a:extLst>
          </p:cNvPr>
          <p:cNvSpPr/>
          <p:nvPr userDrawn="1"/>
        </p:nvSpPr>
        <p:spPr>
          <a:xfrm>
            <a:off x="0" y="-8805"/>
            <a:ext cx="12192000" cy="6865882"/>
          </a:xfrm>
          <a:prstGeom prst="rect">
            <a:avLst/>
          </a:prstGeom>
          <a:blipFill>
            <a:blip r:embed="rId2" cstate="print">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
        <p:nvSpPr>
          <p:cNvPr id="77" name="Rounded Rectangle 10">
            <a:extLst>
              <a:ext uri="{FF2B5EF4-FFF2-40B4-BE49-F238E27FC236}">
                <a16:creationId xmlns:a16="http://schemas.microsoft.com/office/drawing/2014/main" id="{EF6AA81D-52A3-47E3-A296-08352AF39B88}"/>
              </a:ext>
            </a:extLst>
          </p:cNvPr>
          <p:cNvSpPr/>
          <p:nvPr userDrawn="1"/>
        </p:nvSpPr>
        <p:spPr>
          <a:xfrm>
            <a:off x="4766553" y="291830"/>
            <a:ext cx="7062281" cy="6264613"/>
          </a:xfrm>
          <a:prstGeom prst="roundRect">
            <a:avLst>
              <a:gd name="adj" fmla="val 6457"/>
            </a:avLst>
          </a:prstGeom>
          <a:solidFill>
            <a:srgbClr val="FFFFFF"/>
          </a:solidFill>
          <a:effectLst>
            <a:outerShdw blurRad="1087927"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endParaRPr>
          </a:p>
        </p:txBody>
      </p:sp>
      <p:sp>
        <p:nvSpPr>
          <p:cNvPr id="78" name="Rectangle: Rounded Corners 40">
            <a:extLst>
              <a:ext uri="{FF2B5EF4-FFF2-40B4-BE49-F238E27FC236}">
                <a16:creationId xmlns:a16="http://schemas.microsoft.com/office/drawing/2014/main" id="{4D1EF7EB-55D3-4EE7-A1DA-2327835C2ACD}"/>
              </a:ext>
            </a:extLst>
          </p:cNvPr>
          <p:cNvSpPr/>
          <p:nvPr userDrawn="1"/>
        </p:nvSpPr>
        <p:spPr>
          <a:xfrm>
            <a:off x="5407103" y="4720353"/>
            <a:ext cx="5799161" cy="1306154"/>
          </a:xfrm>
          <a:prstGeom prst="roundRect">
            <a:avLst>
              <a:gd name="adj" fmla="val 10322"/>
            </a:avLst>
          </a:prstGeom>
          <a:solidFill>
            <a:srgbClr val="FF5620"/>
          </a:solidFill>
          <a:ln w="19050">
            <a:noFill/>
          </a:ln>
          <a:effectLst/>
        </p:spPr>
        <p:txBody>
          <a:bodyPr vert="horz" wrap="square" lIns="91440" tIns="45720" rIns="91440" bIns="45720" numCol="1" anchor="t" anchorCtr="0" compatLnSpc="1">
            <a:prstTxWarp prst="textNoShape">
              <a:avLst/>
            </a:prstTxWarp>
          </a:bodyPr>
          <a:lstStyle/>
          <a:p>
            <a:endParaRPr lang="en-ID" kern="0" dirty="0">
              <a:solidFill>
                <a:prstClr val="black"/>
              </a:solidFill>
              <a:latin typeface="Calibri" panose="020F0502020204030204" pitchFamily="34" charset="0"/>
            </a:endParaRPr>
          </a:p>
        </p:txBody>
      </p:sp>
    </p:spTree>
    <p:extLst>
      <p:ext uri="{BB962C8B-B14F-4D97-AF65-F5344CB8AC3E}">
        <p14:creationId xmlns:p14="http://schemas.microsoft.com/office/powerpoint/2010/main" val="1187062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ÜNDEM">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3444B44-4A70-4031-9D03-BBCBCC73B5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766" y="3806"/>
            <a:ext cx="12178468" cy="6850388"/>
          </a:xfrm>
          <a:prstGeom prst="rect">
            <a:avLst/>
          </a:prstGeom>
          <a:blipFill>
            <a:blip r:embed="rId3"/>
            <a:stretch>
              <a:fillRect/>
            </a:stretch>
          </a:blipFill>
        </p:spPr>
      </p:pic>
      <p:cxnSp>
        <p:nvCxnSpPr>
          <p:cNvPr id="7" name="Straight Connector 6">
            <a:extLst>
              <a:ext uri="{FF2B5EF4-FFF2-40B4-BE49-F238E27FC236}">
                <a16:creationId xmlns:a16="http://schemas.microsoft.com/office/drawing/2014/main" id="{B0189CC1-5D7A-41BE-A905-EC72AF42E5DF}"/>
              </a:ext>
            </a:extLst>
          </p:cNvPr>
          <p:cNvCxnSpPr>
            <a:cxnSpLocks/>
          </p:cNvCxnSpPr>
          <p:nvPr userDrawn="1"/>
        </p:nvCxnSpPr>
        <p:spPr>
          <a:xfrm>
            <a:off x="738504" y="959618"/>
            <a:ext cx="0" cy="5175175"/>
          </a:xfrm>
          <a:prstGeom prst="line">
            <a:avLst/>
          </a:prstGeom>
          <a:ln w="28575">
            <a:solidFill>
              <a:srgbClr val="003087"/>
            </a:solidFill>
          </a:ln>
        </p:spPr>
        <p:style>
          <a:lnRef idx="1">
            <a:schemeClr val="accent1"/>
          </a:lnRef>
          <a:fillRef idx="0">
            <a:schemeClr val="accent1"/>
          </a:fillRef>
          <a:effectRef idx="0">
            <a:schemeClr val="accent1"/>
          </a:effectRef>
          <a:fontRef idx="minor">
            <a:schemeClr val="tx1"/>
          </a:fontRef>
        </p:style>
      </p:cxnSp>
      <p:sp>
        <p:nvSpPr>
          <p:cNvPr id="8" name="Rounded Rectangle 10">
            <a:extLst>
              <a:ext uri="{FF2B5EF4-FFF2-40B4-BE49-F238E27FC236}">
                <a16:creationId xmlns:a16="http://schemas.microsoft.com/office/drawing/2014/main" id="{E69E8E51-13B1-4BE7-A04A-0B29449B4A0C}"/>
              </a:ext>
            </a:extLst>
          </p:cNvPr>
          <p:cNvSpPr/>
          <p:nvPr userDrawn="1"/>
        </p:nvSpPr>
        <p:spPr>
          <a:xfrm>
            <a:off x="0" y="0"/>
            <a:ext cx="12191993" cy="1190649"/>
          </a:xfrm>
          <a:prstGeom prst="roundRect">
            <a:avLst>
              <a:gd name="adj" fmla="val 6457"/>
            </a:avLst>
          </a:prstGeom>
          <a:solidFill>
            <a:srgbClr val="FFFFFF"/>
          </a:solidFill>
          <a:effectLst>
            <a:outerShdw blurRad="381000"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&lt;?xml version="1.0" encoding="UTF-8"?&gt;&lt;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 id="Layer_1" data-name="Layer 1"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xmlns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="http://www.w3.org/2000/svg"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viewBox</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="0 0 3200 1801.62"&gt;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&lt;style&gt;      .cls-1 {        fill: #c1c1c1;      }    &lt;/style&gt;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&lt;path class="cls-1" d="M4309.61,1314.68l664.45-833.19c56.16-70.43,77.2-162.59,57.16-250.41l-237.14-1038.97c-20.04-87.82-78.99-161.73-160.15-200.82l-960.16-462.39c-81.16-39.08-175.7-39.08-256.85,0l-960.16,462.39c-81.16,39.08-140.1,113-160.15,200.82l-237.14,1038.97c-20.04,87.82,.99,179.99,57.16,250.41l664.45,833.19c56.16,70.43,141.34,111.44,231.42,111.44h1065.69c90.08,0,175.25-41.02,231.42-111.45Z"/&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a:t>
            </a:r>
          </a:p>
        </p:txBody>
      </p:sp>
      <p:sp>
        <p:nvSpPr>
          <p:cNvPr id="6" name="TextBox 5">
            <a:extLst>
              <a:ext uri="{FF2B5EF4-FFF2-40B4-BE49-F238E27FC236}">
                <a16:creationId xmlns:a16="http://schemas.microsoft.com/office/drawing/2014/main" id="{352D322E-CFAD-4302-98BF-20F17256178F}"/>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4052853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NDAR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BBE562-3E9B-4289-8444-32FE050C7B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itle 3">
            <a:extLst>
              <a:ext uri="{FF2B5EF4-FFF2-40B4-BE49-F238E27FC236}">
                <a16:creationId xmlns:a16="http://schemas.microsoft.com/office/drawing/2014/main" id="{D276C3F1-7F8D-4F73-82CE-EB8562DB187C}"/>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latin typeface="Segoe UI Black" panose="020B0A02040204020203" pitchFamily="34" charset="0"/>
                <a:ea typeface="Segoe UI Black" panose="020B0A02040204020203" pitchFamily="34" charset="0"/>
              </a:defRPr>
            </a:lvl1pPr>
          </a:lstStyle>
          <a:p>
            <a:pPr lvl="0"/>
            <a:r>
              <a:rPr lang="en-US" dirty="0"/>
              <a:t>Click to edit Master title style</a:t>
            </a:r>
            <a:endParaRPr lang="tr-TR" dirty="0"/>
          </a:p>
        </p:txBody>
      </p:sp>
      <p:sp>
        <p:nvSpPr>
          <p:cNvPr id="8" name="Text Placeholder 5">
            <a:extLst>
              <a:ext uri="{FF2B5EF4-FFF2-40B4-BE49-F238E27FC236}">
                <a16:creationId xmlns:a16="http://schemas.microsoft.com/office/drawing/2014/main" id="{CB192974-564B-4CB6-8403-B748517647B2}"/>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2" name="TextBox 11">
            <a:extLst>
              <a:ext uri="{FF2B5EF4-FFF2-40B4-BE49-F238E27FC236}">
                <a16:creationId xmlns:a16="http://schemas.microsoft.com/office/drawing/2014/main" id="{D47051C9-0D3C-4A28-8D21-5619826A7E24}"/>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1859072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SELSAN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A778907C-1DE9-410A-B218-F36AE6BFA189}"/>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EE6B1F48-14DC-43AB-A8AF-1E381E4EA43D}"/>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1" name="TextBox 10">
            <a:extLst>
              <a:ext uri="{FF2B5EF4-FFF2-40B4-BE49-F238E27FC236}">
                <a16:creationId xmlns:a16="http://schemas.microsoft.com/office/drawing/2014/main" id="{1632DA59-EDF8-4457-8CF3-758EB32ED887}"/>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pic>
        <p:nvPicPr>
          <p:cNvPr id="5" name="Picture 4">
            <a:extLst>
              <a:ext uri="{FF2B5EF4-FFF2-40B4-BE49-F238E27FC236}">
                <a16:creationId xmlns:a16="http://schemas.microsoft.com/office/drawing/2014/main" id="{90E4F763-14BC-4DC2-9CBF-B0A3C81DF0F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712765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HİZMETE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870BEECA-EC1A-4F4C-814A-D962AA4777D1}"/>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698A1369-A41B-4771-8ADB-8BC54D35FBCC}"/>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0" name="TextBox 9">
            <a:extLst>
              <a:ext uri="{FF2B5EF4-FFF2-40B4-BE49-F238E27FC236}">
                <a16:creationId xmlns:a16="http://schemas.microsoft.com/office/drawing/2014/main" id="{F53DA368-FF7B-4E95-A00F-1CD188007566}"/>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TASNİF DIŞI</a:t>
            </a:r>
          </a:p>
        </p:txBody>
      </p:sp>
      <p:pic>
        <p:nvPicPr>
          <p:cNvPr id="5" name="Picture 4">
            <a:extLst>
              <a:ext uri="{FF2B5EF4-FFF2-40B4-BE49-F238E27FC236}">
                <a16:creationId xmlns:a16="http://schemas.microsoft.com/office/drawing/2014/main" id="{B9A11C57-41BE-4318-9598-DDF713763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30151713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N">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3" name="Picture 2">
            <a:extLst>
              <a:ext uri="{FF2B5EF4-FFF2-40B4-BE49-F238E27FC236}">
                <a16:creationId xmlns:a16="http://schemas.microsoft.com/office/drawing/2014/main" id="{FF60B213-FE2D-41FD-9B4A-8C2A887299F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02154" y="4567830"/>
            <a:ext cx="4387693" cy="1638751"/>
          </a:xfrm>
          <a:prstGeom prst="rect">
            <a:avLst/>
          </a:prstGeom>
        </p:spPr>
      </p:pic>
    </p:spTree>
    <p:extLst>
      <p:ext uri="{BB962C8B-B14F-4D97-AF65-F5344CB8AC3E}">
        <p14:creationId xmlns:p14="http://schemas.microsoft.com/office/powerpoint/2010/main" val="714990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con se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Tree>
    <p:extLst>
      <p:ext uri="{BB962C8B-B14F-4D97-AF65-F5344CB8AC3E}">
        <p14:creationId xmlns:p14="http://schemas.microsoft.com/office/powerpoint/2010/main" val="35049781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E764F9-DD66-45F3-8B8C-B3E3FD9829BD}"/>
              </a:ext>
            </a:extLst>
          </p:cNvPr>
          <p:cNvPicPr>
            <a:picLocks noChangeAspect="1"/>
          </p:cNvPicPr>
          <p:nvPr userDrawn="1"/>
        </p:nvPicPr>
        <p:blipFill>
          <a:blip r:embed="rId9"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4DAA0DA-4370-4950-932B-0F797D019F1F}"/>
              </a:ext>
            </a:extLst>
          </p:cNvPr>
          <p:cNvSpPr/>
          <p:nvPr userDrawn="1"/>
        </p:nvSpPr>
        <p:spPr>
          <a:xfrm>
            <a:off x="10603788" y="6460258"/>
            <a:ext cx="665567" cy="307777"/>
          </a:xfrm>
          <a:prstGeom prst="rect">
            <a:avLst/>
          </a:prstGeom>
        </p:spPr>
        <p:txBody>
          <a:bodyPr wrap="none">
            <a:spAutoFit/>
          </a:bodyPr>
          <a:lstStyle/>
          <a:p>
            <a:pPr algn="ctr"/>
            <a:fld id="{98D512E5-7CAC-4FDD-81A1-D37F136070B3}" type="slidenum">
              <a:rPr lang="tr-TR" sz="1400" smtClean="0">
                <a:solidFill>
                  <a:schemeClr val="bg1"/>
                </a:solidFill>
                <a:latin typeface="Segoe UI" panose="020B0502040204020203" pitchFamily="34" charset="0"/>
                <a:cs typeface="Segoe UI" panose="020B0502040204020203" pitchFamily="34" charset="0"/>
              </a:rPr>
              <a:t>‹#›</a:t>
            </a:fld>
            <a:r>
              <a:rPr lang="tr-TR" sz="1400" dirty="0">
                <a:solidFill>
                  <a:schemeClr val="bg1"/>
                </a:solidFill>
                <a:latin typeface="Segoe UI" panose="020B0502040204020203" pitchFamily="34" charset="0"/>
                <a:cs typeface="Segoe UI" panose="020B0502040204020203" pitchFamily="34" charset="0"/>
              </a:rPr>
              <a:t>/21</a:t>
            </a:r>
          </a:p>
        </p:txBody>
      </p:sp>
    </p:spTree>
    <p:extLst>
      <p:ext uri="{BB962C8B-B14F-4D97-AF65-F5344CB8AC3E}">
        <p14:creationId xmlns:p14="http://schemas.microsoft.com/office/powerpoint/2010/main" val="1031558323"/>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50" r:id="rId3"/>
    <p:sldLayoutId id="2147483654" r:id="rId4"/>
    <p:sldLayoutId id="2147483657" r:id="rId5"/>
    <p:sldLayoutId id="2147483652" r:id="rId6"/>
    <p:sldLayoutId id="2147483656" r:id="rId7"/>
  </p:sldLayoutIdLst>
  <p:hf hdr="0" ftr="0" dt="0"/>
  <p:txStyles>
    <p:titleStyle>
      <a:lvl1pPr marL="0" marR="0" indent="0" algn="l" defTabSz="914400" rtl="0" eaLnBrk="1" fontAlgn="auto" latinLnBrk="0" hangingPunct="1">
        <a:lnSpc>
          <a:spcPts val="4500"/>
        </a:lnSpc>
        <a:spcBef>
          <a:spcPts val="0"/>
        </a:spcBef>
        <a:spcAft>
          <a:spcPts val="0"/>
        </a:spcAft>
        <a:buClrTx/>
        <a:buSzTx/>
        <a:buFontTx/>
        <a:buNone/>
        <a:tabLst/>
        <a:defRPr kumimoji="0" lang="tr-TR" sz="3200" b="1" i="0" u="none" strike="noStrike" kern="1200" cap="none" spc="0" normalizeH="0" baseline="0" noProof="0">
          <a:ln>
            <a:noFill/>
          </a:ln>
          <a:noFill/>
          <a:effectLst/>
          <a:uLnTx/>
          <a:uFillTx/>
          <a:latin typeface="Posterama" panose="020B0504020200020000" pitchFamily="34" charset="0"/>
          <a:ea typeface="+mj-ea"/>
          <a:cs typeface="Posterama" panose="020B0504020200020000"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gif"/><Relationship Id="rId3" Type="http://schemas.openxmlformats.org/officeDocument/2006/relationships/image" Target="../media/image9.gif"/><Relationship Id="rId4" Type="http://schemas.openxmlformats.org/officeDocument/2006/relationships/image" Target="../media/image10.gif"/><Relationship Id="rId5" Type="http://schemas.openxmlformats.org/officeDocument/2006/relationships/notesSlide" Target="../notesSlides/notesSlide8.xml"/><Relationship Id="rId6"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32.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33.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34.png"/><Relationship Id="rId4" Type="http://schemas.openxmlformats.org/officeDocument/2006/relationships/notesSlide" Target="../notesSlides/notesSlide15.xml"/><Relationship Id="rId5"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6.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Dikdörtgen 10">
            <a:extLst>
              <a:ext uri="{FF2B5EF4-FFF2-40B4-BE49-F238E27FC236}">
                <a16:creationId xmlns:a16="http://schemas.microsoft.com/office/drawing/2014/main" id="{1519FEA3-A5AA-106D-D2D9-896F74EDD4D6}"/>
              </a:ext>
            </a:extLst>
          </p:cNvPr>
          <p:cNvSpPr txBox="1"/>
          <p:nvPr/>
        </p:nvSpPr>
        <p:spPr>
          <a:xfrm>
            <a:off x="5161227" y="1792844"/>
            <a:ext cx="6277050" cy="2716623"/>
          </a:xfrm>
          <a:prstGeom prst="rect">
            <a:avLst/>
          </a:prstGeom>
          <a:noFill/>
        </p:spPr>
        <p:txBody>
          <a:bodyPr wrap="square" lIns="360000" rtlCol="0" anchor="ctr" anchorCtr="0">
            <a:noAutofit/>
          </a:bodyPr>
          <a:lstStyle/>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SANAL KUPLAJ</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HAT KAPASİTESİNİ</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NE KADAR ARTIRIR?</a:t>
            </a:r>
          </a:p>
        </p:txBody>
      </p:sp>
      <p:sp>
        <p:nvSpPr>
          <p:cNvPr id="3" name="TextBox 41">
            <a:extLst>
              <a:ext uri="{FF2B5EF4-FFF2-40B4-BE49-F238E27FC236}">
                <a16:creationId xmlns:a16="http://schemas.microsoft.com/office/drawing/2014/main" id="{F819A479-EF03-CC12-7CB1-18256212A344}"/>
              </a:ext>
            </a:extLst>
          </p:cNvPr>
          <p:cNvSpPr txBox="1"/>
          <p:nvPr/>
        </p:nvSpPr>
        <p:spPr>
          <a:xfrm>
            <a:off x="5627566" y="4720353"/>
            <a:ext cx="3648513" cy="1306154"/>
          </a:xfrm>
          <a:prstGeom prst="rect">
            <a:avLst/>
          </a:prstGeom>
          <a:noFill/>
        </p:spPr>
        <p:txBody>
          <a:bodyPr wrap="square" lIns="180000" tIns="72000" rIns="180000" bIns="72000" rtlCol="0" anchor="ctr" anchorCtr="0">
            <a:noAutofit/>
          </a:bodyPr>
          <a:lstStyle/>
          <a:p>
            <a:r>
              <a:rPr lang="en-US" sz="2400" b="1" dirty="0">
                <a:solidFill>
                  <a:schemeClr val="bg1"/>
                </a:solidFill>
                <a:latin typeface="Calibri" panose="020F0502020204030204" pitchFamily="34" charset="0"/>
                <a:cs typeface="Calibri" panose="020F0502020204030204" pitchFamily="34" charset="0"/>
              </a:rPr>
              <a:t>Recepcan YETİMOĞLU </a:t>
            </a:r>
            <a:r>
              <a:rPr lang="tr-TR" dirty="0">
                <a:solidFill>
                  <a:schemeClr val="bg1"/>
                </a:solidFill>
                <a:latin typeface="Calibri" panose="020F0502020204030204" pitchFamily="34" charset="0"/>
                <a:cs typeface="Calibri" panose="020F0502020204030204" pitchFamily="34" charset="0"/>
              </a:rPr>
              <a:t>Unvan: </a:t>
            </a:r>
            <a:r>
              <a:rPr lang="en-US" dirty="0" err="1">
                <a:solidFill>
                  <a:schemeClr val="bg1"/>
                </a:solidFill>
                <a:latin typeface="Calibri" panose="020F0502020204030204" pitchFamily="34" charset="0"/>
                <a:cs typeface="Calibri" panose="020F0502020204030204" pitchFamily="34" charset="0"/>
              </a:rPr>
              <a:t>Elektrik</a:t>
            </a:r>
            <a:r>
              <a:rPr lang="en-US" dirty="0">
                <a:solidFill>
                  <a:schemeClr val="bg1"/>
                </a:solidFill>
                <a:latin typeface="Calibri" panose="020F0502020204030204" pitchFamily="34" charset="0"/>
                <a:cs typeface="Calibri" panose="020F0502020204030204" pitchFamily="34" charset="0"/>
              </a:rPr>
              <a:t> Elektronik</a:t>
            </a:r>
            <a:r>
              <a:rPr lang="tr-TR" dirty="0">
                <a:solidFill>
                  <a:schemeClr val="bg1"/>
                </a:solidFill>
                <a:latin typeface="Calibri" panose="020F0502020204030204" pitchFamily="34" charset="0"/>
                <a:cs typeface="Calibri" panose="020F0502020204030204" pitchFamily="34" charset="0"/>
              </a:rPr>
              <a:t> Mühendisi Öğrencisi</a:t>
            </a:r>
            <a:endParaRPr lang="en-US" dirty="0">
              <a:solidFill>
                <a:schemeClr val="bg1"/>
              </a:solidFill>
              <a:latin typeface="Calibri" panose="020F0502020204030204" pitchFamily="34" charset="0"/>
              <a:cs typeface="Calibri" panose="020F0502020204030204" pitchFamily="34" charset="0"/>
            </a:endParaRPr>
          </a:p>
        </p:txBody>
      </p:sp>
      <p:sp>
        <p:nvSpPr>
          <p:cNvPr id="4" name="TextBox 42">
            <a:extLst>
              <a:ext uri="{FF2B5EF4-FFF2-40B4-BE49-F238E27FC236}">
                <a16:creationId xmlns:a16="http://schemas.microsoft.com/office/drawing/2014/main" id="{97E5BD68-5B2C-B276-DAE5-D3D15A63E50B}"/>
              </a:ext>
            </a:extLst>
          </p:cNvPr>
          <p:cNvSpPr txBox="1"/>
          <p:nvPr/>
        </p:nvSpPr>
        <p:spPr>
          <a:xfrm>
            <a:off x="8998226" y="5136579"/>
            <a:ext cx="2273279" cy="517944"/>
          </a:xfrm>
          <a:prstGeom prst="rect">
            <a:avLst/>
          </a:prstGeom>
          <a:noFill/>
        </p:spPr>
        <p:txBody>
          <a:bodyPr wrap="square" lIns="180000" tIns="72000" rIns="180000" bIns="72000" rtlCol="0">
            <a:spAutoFit/>
          </a:bodyPr>
          <a:lstStyle/>
          <a:p>
            <a:pPr algn="r">
              <a:lnSpc>
                <a:spcPct val="150000"/>
              </a:lnSpc>
            </a:pPr>
            <a:r>
              <a:rPr lang="tr-TR" dirty="0">
                <a:solidFill>
                  <a:schemeClr val="bg1"/>
                </a:solidFill>
                <a:latin typeface="Calibri" panose="020F0502020204030204" pitchFamily="34" charset="0"/>
                <a:cs typeface="Calibri" panose="020F0502020204030204" pitchFamily="34" charset="0"/>
              </a:rPr>
              <a:t> </a:t>
            </a:r>
            <a:r>
              <a:rPr lang="en-US" dirty="0">
                <a:solidFill>
                  <a:schemeClr val="bg1"/>
                </a:solidFill>
                <a:latin typeface="Calibri" panose="020F0502020204030204" pitchFamily="34" charset="0"/>
                <a:cs typeface="Calibri" panose="020F0502020204030204" pitchFamily="34" charset="0"/>
              </a:rPr>
              <a:t>Eylül</a:t>
            </a:r>
            <a:r>
              <a:rPr lang="tr-TR" dirty="0">
                <a:solidFill>
                  <a:schemeClr val="bg1"/>
                </a:solidFill>
                <a:latin typeface="Calibri" panose="020F0502020204030204" pitchFamily="34" charset="0"/>
                <a:cs typeface="Calibri" panose="020F0502020204030204" pitchFamily="34" charset="0"/>
              </a:rPr>
              <a:t> 2026</a:t>
            </a:r>
            <a:endParaRPr lang="en-US" dirty="0">
              <a:solidFill>
                <a:schemeClr val="bg1"/>
              </a:solidFill>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2DEF3F28-48E5-46B0-87AD-4AD173E306E9}"/>
              </a:ext>
            </a:extLst>
          </p:cNvPr>
          <p:cNvSpPr/>
          <p:nvPr/>
        </p:nvSpPr>
        <p:spPr>
          <a:xfrm rot="19210176">
            <a:off x="8320880" y="5780054"/>
            <a:ext cx="485022" cy="485022"/>
          </a:xfrm>
          <a:prstGeom prst="ellipse">
            <a:avLst/>
          </a:prstGeom>
          <a:solidFill>
            <a:srgbClr val="FFFFFF"/>
          </a:solidFill>
          <a:ln w="12700" cap="flat" cmpd="sng" algn="ctr">
            <a:noFill/>
            <a:prstDash val="solid"/>
            <a:miter lim="800000"/>
          </a:ln>
          <a:effectLst>
            <a:outerShdw blurRad="393700" dist="50800" dir="5400000" algn="ctr" rotWithShape="0">
              <a:srgbClr val="000000">
                <a:alpha val="25000"/>
              </a:srgb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D" sz="1800" b="0" i="0" u="none" strike="noStrike" kern="0" cap="none" spc="0" normalizeH="0" baseline="0" noProof="0" dirty="0">
              <a:ln>
                <a:noFill/>
              </a:ln>
              <a:solidFill>
                <a:prstClr val="white"/>
              </a:solidFill>
              <a:effectLst/>
              <a:uLnTx/>
              <a:uFillTx/>
              <a:latin typeface="Calibri" panose="020F0502020204030204" pitchFamily="34" charset="0"/>
              <a:ea typeface="+mn-ea"/>
              <a:cs typeface="+mn-cs"/>
            </a:endParaRPr>
          </a:p>
        </p:txBody>
      </p:sp>
      <p:sp>
        <p:nvSpPr>
          <p:cNvPr id="37" name="Freeform: Shape 36">
            <a:extLst>
              <a:ext uri="{FF2B5EF4-FFF2-40B4-BE49-F238E27FC236}">
                <a16:creationId xmlns:a16="http://schemas.microsoft.com/office/drawing/2014/main" id="{62320595-D2BA-4114-BB14-C7D615578289}"/>
              </a:ext>
            </a:extLst>
          </p:cNvPr>
          <p:cNvSpPr/>
          <p:nvPr/>
        </p:nvSpPr>
        <p:spPr>
          <a:xfrm rot="2700000">
            <a:off x="8454007" y="5917124"/>
            <a:ext cx="218766" cy="218766"/>
          </a:xfrm>
          <a:custGeom>
            <a:avLst/>
            <a:gdLst>
              <a:gd name="connsiteX0" fmla="*/ 1063636 w 1327482"/>
              <a:gd name="connsiteY0" fmla="*/ 0 h 1327482"/>
              <a:gd name="connsiteX1" fmla="*/ 1086849 w 1327482"/>
              <a:gd name="connsiteY1" fmla="*/ 0 h 1327482"/>
              <a:gd name="connsiteX2" fmla="*/ 1327482 w 1327482"/>
              <a:gd name="connsiteY2" fmla="*/ 240633 h 1327482"/>
              <a:gd name="connsiteX3" fmla="*/ 1327482 w 1327482"/>
              <a:gd name="connsiteY3" fmla="*/ 1086849 h 1327482"/>
              <a:gd name="connsiteX4" fmla="*/ 1086849 w 1327482"/>
              <a:gd name="connsiteY4" fmla="*/ 1327482 h 1327482"/>
              <a:gd name="connsiteX5" fmla="*/ 240633 w 1327482"/>
              <a:gd name="connsiteY5" fmla="*/ 1327482 h 1327482"/>
              <a:gd name="connsiteX6" fmla="*/ 0 w 1327482"/>
              <a:gd name="connsiteY6" fmla="*/ 1086849 h 1327482"/>
              <a:gd name="connsiteX7" fmla="*/ 0 w 1327482"/>
              <a:gd name="connsiteY7" fmla="*/ 1065660 h 1327482"/>
              <a:gd name="connsiteX8" fmla="*/ 890953 w 1327482"/>
              <a:gd name="connsiteY8" fmla="*/ 1065662 h 1327482"/>
              <a:gd name="connsiteX9" fmla="*/ 7859 w 1327482"/>
              <a:gd name="connsiteY9" fmla="*/ 182568 h 1327482"/>
              <a:gd name="connsiteX10" fmla="*/ 18910 w 1327482"/>
              <a:gd name="connsiteY10" fmla="*/ 146968 h 1327482"/>
              <a:gd name="connsiteX11" fmla="*/ 192137 w 1327482"/>
              <a:gd name="connsiteY11" fmla="*/ 4889 h 1327482"/>
              <a:gd name="connsiteX12" fmla="*/ 202609 w 1327482"/>
              <a:gd name="connsiteY12" fmla="*/ 3833 h 1327482"/>
              <a:gd name="connsiteX13" fmla="*/ 1063636 w 1327482"/>
              <a:gd name="connsiteY13" fmla="*/ 864860 h 1327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27482" h="1327482">
                <a:moveTo>
                  <a:pt x="1063636" y="0"/>
                </a:moveTo>
                <a:lnTo>
                  <a:pt x="1086849" y="0"/>
                </a:lnTo>
                <a:cubicBezTo>
                  <a:pt x="1219747" y="0"/>
                  <a:pt x="1327482" y="107735"/>
                  <a:pt x="1327482" y="240633"/>
                </a:cubicBezTo>
                <a:lnTo>
                  <a:pt x="1327482" y="1086849"/>
                </a:lnTo>
                <a:cubicBezTo>
                  <a:pt x="1327482" y="1219747"/>
                  <a:pt x="1219747" y="1327482"/>
                  <a:pt x="1086849" y="1327482"/>
                </a:cubicBezTo>
                <a:lnTo>
                  <a:pt x="240633" y="1327482"/>
                </a:lnTo>
                <a:cubicBezTo>
                  <a:pt x="107735" y="1327482"/>
                  <a:pt x="0" y="1219747"/>
                  <a:pt x="0" y="1086849"/>
                </a:cubicBezTo>
                <a:lnTo>
                  <a:pt x="0" y="1065660"/>
                </a:lnTo>
                <a:lnTo>
                  <a:pt x="890953" y="1065662"/>
                </a:lnTo>
                <a:lnTo>
                  <a:pt x="7859" y="182568"/>
                </a:lnTo>
                <a:lnTo>
                  <a:pt x="18910" y="146968"/>
                </a:lnTo>
                <a:cubicBezTo>
                  <a:pt x="49352" y="74995"/>
                  <a:pt x="113814" y="20916"/>
                  <a:pt x="192137" y="4889"/>
                </a:cubicBezTo>
                <a:lnTo>
                  <a:pt x="202609" y="3833"/>
                </a:lnTo>
                <a:lnTo>
                  <a:pt x="1063636" y="864860"/>
                </a:lnTo>
                <a:close/>
              </a:path>
            </a:pathLst>
          </a:custGeom>
          <a:solidFill>
            <a:srgbClr val="FF5620"/>
          </a:solidFill>
          <a:ln>
            <a:noFill/>
          </a:ln>
        </p:spPr>
        <p:txBody>
          <a:bodyPr vert="horz" wrap="square" lIns="91440" tIns="45720" rIns="91440" bIns="45720" numCol="1" anchor="t" anchorCtr="0" compatLnSpc="1">
            <a:prstTxWarp prst="textNoShape">
              <a:avLst/>
            </a:prstTxWarp>
          </a:bodyPr>
          <a:lstStyle/>
          <a:p>
            <a:endParaRPr lang="tr-TR" kern="0" dirty="0">
              <a:solidFill>
                <a:prstClr val="black"/>
              </a:solidFill>
              <a:latin typeface="Calibri" panose="020F0502020204030204" pitchFamily="34" charset="0"/>
            </a:endParaRPr>
          </a:p>
        </p:txBody>
      </p:sp>
      <p:sp>
        <p:nvSpPr>
          <p:cNvPr id="2" name="TextBox 1">
            <a:extLst>
              <a:ext uri="{FF2B5EF4-FFF2-40B4-BE49-F238E27FC236}">
                <a16:creationId xmlns:a16="http://schemas.microsoft.com/office/drawing/2014/main" id="{8269E67F-5369-4BA0-9224-10A574D3CEAA}"/>
              </a:ext>
            </a:extLst>
          </p:cNvPr>
          <p:cNvSpPr txBox="1"/>
          <p:nvPr/>
        </p:nvSpPr>
        <p:spPr>
          <a:xfrm>
            <a:off x="753723" y="2903998"/>
            <a:ext cx="3702271" cy="738664"/>
          </a:xfrm>
          <a:prstGeom prst="rect">
            <a:avLst/>
          </a:prstGeom>
          <a:noFill/>
        </p:spPr>
        <p:txBody>
          <a:bodyPr wrap="square" rtlCol="0">
            <a:spAutoFit/>
          </a:bodyPr>
          <a:lstStyle/>
          <a:p>
            <a:r>
              <a:rPr lang="tr-TR" sz="1400" i="1" dirty="0">
                <a:solidFill>
                  <a:schemeClr val="bg1">
                    <a:lumMod val="65000"/>
                  </a:schemeClr>
                </a:solidFill>
                <a:latin typeface="Segoe UI" panose="020B0502040204020203" pitchFamily="34" charset="0"/>
                <a:cs typeface="Segoe UI" panose="020B0502040204020203" pitchFamily="34" charset="0"/>
              </a:rPr>
              <a:t>Alanımızda </a:t>
            </a:r>
            <a:r>
              <a:rPr lang="tr-TR" sz="1400" b="1" i="1" dirty="0">
                <a:solidFill>
                  <a:schemeClr val="bg1">
                    <a:lumMod val="65000"/>
                  </a:schemeClr>
                </a:solidFill>
                <a:latin typeface="Segoe UI" panose="020B0502040204020203" pitchFamily="34" charset="0"/>
                <a:cs typeface="Segoe UI" panose="020B0502040204020203" pitchFamily="34" charset="0"/>
              </a:rPr>
              <a:t>en iyileri </a:t>
            </a:r>
            <a:r>
              <a:rPr lang="tr-TR" sz="1400" i="1" dirty="0">
                <a:solidFill>
                  <a:schemeClr val="bg1">
                    <a:lumMod val="65000"/>
                  </a:schemeClr>
                </a:solidFill>
                <a:latin typeface="Segoe UI" panose="020B0502040204020203" pitchFamily="34" charset="0"/>
                <a:cs typeface="Segoe UI" panose="020B0502040204020203" pitchFamily="34" charset="0"/>
              </a:rPr>
              <a:t>üretmek,</a:t>
            </a:r>
          </a:p>
          <a:p>
            <a:r>
              <a:rPr lang="tr-TR" sz="1400" b="1" i="1" dirty="0">
                <a:solidFill>
                  <a:schemeClr val="bg1">
                    <a:lumMod val="65000"/>
                  </a:schemeClr>
                </a:solidFill>
                <a:latin typeface="Segoe UI" panose="020B0502040204020203" pitchFamily="34" charset="0"/>
                <a:cs typeface="Segoe UI" panose="020B0502040204020203" pitchFamily="34" charset="0"/>
              </a:rPr>
              <a:t>Oyun değiştirici </a:t>
            </a:r>
            <a:r>
              <a:rPr lang="tr-TR" sz="1400" i="1" dirty="0">
                <a:solidFill>
                  <a:schemeClr val="bg1">
                    <a:lumMod val="65000"/>
                  </a:schemeClr>
                </a:solidFill>
                <a:latin typeface="Segoe UI" panose="020B0502040204020203" pitchFamily="34" charset="0"/>
                <a:cs typeface="Segoe UI" panose="020B0502040204020203" pitchFamily="34" charset="0"/>
              </a:rPr>
              <a:t>teknolojileri geliştirmek,</a:t>
            </a:r>
          </a:p>
          <a:p>
            <a:r>
              <a:rPr lang="tr-TR" sz="1400" b="1" i="1" dirty="0">
                <a:solidFill>
                  <a:schemeClr val="bg1">
                    <a:lumMod val="65000"/>
                  </a:schemeClr>
                </a:solidFill>
                <a:latin typeface="Segoe UI" panose="020B0502040204020203" pitchFamily="34" charset="0"/>
                <a:cs typeface="Segoe UI" panose="020B0502040204020203" pitchFamily="34" charset="0"/>
              </a:rPr>
              <a:t>İhracat</a:t>
            </a:r>
            <a:r>
              <a:rPr lang="tr-TR" sz="1400" i="1" dirty="0">
                <a:solidFill>
                  <a:schemeClr val="bg1">
                    <a:lumMod val="65000"/>
                  </a:schemeClr>
                </a:solidFill>
                <a:latin typeface="Segoe UI" panose="020B0502040204020203" pitchFamily="34" charset="0"/>
                <a:cs typeface="Segoe UI" panose="020B0502040204020203" pitchFamily="34" charset="0"/>
              </a:rPr>
              <a:t> odaklı büyümek.</a:t>
            </a:r>
          </a:p>
        </p:txBody>
      </p:sp>
    </p:spTree>
    <p:extLst>
      <p:ext uri="{BB962C8B-B14F-4D97-AF65-F5344CB8AC3E}">
        <p14:creationId xmlns:p14="http://schemas.microsoft.com/office/powerpoint/2010/main" val="2779230412"/>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9">
            <a:extLst>
              <a:ext uri="{FF2B5EF4-FFF2-40B4-BE49-F238E27FC236}">
                <a16:creationId xmlns:a16="http://schemas.microsoft.com/office/drawing/2014/main" id="{3B5455EA-DF9A-4BBF-BF42-4980D73BBC15}"/>
              </a:ext>
            </a:extLst>
          </p:cNvPr>
          <p:cNvSpPr>
            <a:spLocks noGrp="1"/>
          </p:cNvSpPr>
          <p:nvPr>
            <p:ph type="title"/>
          </p:nvPr>
        </p:nvSpPr>
        <p:spPr>
          <a:xfrm>
            <a:off x="409713" y="360534"/>
            <a:ext cx="5128938" cy="1208921"/>
          </a:xfrm>
          <a:prstGeom prst="rect">
            <a:avLst/>
          </a:prstGeom>
        </p:spPr>
        <p:txBody>
          <a:bodyPr/>
          <a:lstStyle/>
          <a:p>
            <a:r>
              <a:rPr lang="tr-TR" b="0" dirty="0">
                <a:latin typeface="Segoe UI Black" panose="020B0A02040204020203" pitchFamily="34" charset="0"/>
                <a:ea typeface="Segoe UI Black" panose="020B0A02040204020203" pitchFamily="34" charset="0"/>
              </a:rPr>
              <a:t>ÇALIŞMA</a:t>
            </a:r>
          </a:p>
        </p:txBody>
      </p:sp>
      <p:sp>
        <p:nvSpPr>
          <p:cNvPr id="2" name="Rectangle 1">
            <a:extLst>
              <a:ext uri="{FF2B5EF4-FFF2-40B4-BE49-F238E27FC236}">
                <a16:creationId xmlns:a16="http://schemas.microsoft.com/office/drawing/2014/main" id="{D47F25F7-396C-4CA9-B73D-7E5DE0B7D628}"/>
              </a:ext>
            </a:extLst>
          </p:cNvPr>
          <p:cNvSpPr/>
          <p:nvPr/>
        </p:nvSpPr>
        <p:spPr>
          <a:xfrm>
            <a:off x="10610850" y="6457951"/>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9" name="Rectangle 8">
            <a:extLst>
              <a:ext uri="{FF2B5EF4-FFF2-40B4-BE49-F238E27FC236}">
                <a16:creationId xmlns:a16="http://schemas.microsoft.com/office/drawing/2014/main" id="{371BD727-1CC7-44B3-8D58-13A54724542A}"/>
              </a:ext>
            </a:extLst>
          </p:cNvPr>
          <p:cNvSpPr/>
          <p:nvPr/>
        </p:nvSpPr>
        <p:spPr>
          <a:xfrm>
            <a:off x="10610850" y="6431947"/>
            <a:ext cx="359394" cy="338554"/>
          </a:xfrm>
          <a:prstGeom prst="rect">
            <a:avLst/>
          </a:prstGeom>
        </p:spPr>
        <p:txBody>
          <a:bodyPr wrap="none">
            <a:spAutoFit/>
          </a:bodyPr>
          <a:lstStyle/>
          <a:p>
            <a:r>
              <a:rPr lang="tr-TR" sz="1600" dirty="0">
                <a:solidFill>
                  <a:schemeClr val="bg1"/>
                </a:solidFill>
              </a:rPr>
              <a:t>3/21</a:t>
            </a:r>
          </a:p>
        </p:txBody>
      </p:sp>
      <p:sp>
        <p:nvSpPr>
          <p:cNvPr id="90" name="Icerik Metni"/>
          <p:cNvSpPr txBox="1"/>
          <p:nvPr/>
        </p:nvSpPr>
        <p:spPr>
          <a:xfrm>
            <a:off x="411480" y="1450000"/>
            <a:ext cx="11338560" cy="1150000"/>
          </a:xfrm>
          <a:prstGeom prst="rect">
            <a:avLst/>
          </a:prstGeom>
          <a:noFill/>
        </p:spPr>
        <p:txBody>
          <a:bodyPr wrap="square" lIns="0" tIns="0" rIns="0" bIns="0" anchor="ctr">
            <a:normAutofit/>
          </a:bodyPr>
          <a:lstStyle/>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Soru: Yeni hat yapmadan mevcut altyapıdan daha fazla tren geçirilebilir mi?</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Yöntem: Aynı ağ, aynı filo, aynı tarife — yalnızca sinyalizasyon değişiyor.</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Ölçüt: Hattın gecikmeden sürdürebildiği en kısa tren aralığı.</a:t>
            </a:r>
          </a:p>
        </p:txBody>
      </p:sp>
      <p:pic>
        <p:nvPicPr>
          <p:cNvPr id="91" name="Akis"/>
          <p:cNvPicPr>
            <a:picLocks noChangeAspect="1"/>
          </p:cNvPicPr>
          <p:nvPr/>
        </p:nvPicPr>
        <p:blipFill>
          <a:blip r:embed="rId3"/>
          <a:stretch>
            <a:fillRect/>
          </a:stretch>
        </p:blipFill>
        <p:spPr>
          <a:xfrm>
            <a:off x="869649" y="3000000"/>
            <a:ext cx="10422222" cy="2100000"/>
          </a:xfrm>
          <a:prstGeom prst="rect">
            <a:avLst/>
          </a:prstGeom>
        </p:spPr>
      </p:pic>
    </p:spTree>
    <p:extLst>
      <p:ext uri="{BB962C8B-B14F-4D97-AF65-F5344CB8AC3E}">
        <p14:creationId xmlns:p14="http://schemas.microsoft.com/office/powerpoint/2010/main" val="589440327"/>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Metin kutusu 41">
            <a:extLst>
              <a:ext uri="{FF2B5EF4-FFF2-40B4-BE49-F238E27FC236}">
                <a16:creationId xmlns:a16="http://schemas.microsoft.com/office/drawing/2014/main" id="{3ADF1C07-BE85-46EF-8364-B1AB60C7522E}"/>
              </a:ext>
            </a:extLst>
          </p:cNvPr>
          <p:cNvSpPr txBox="1"/>
          <p:nvPr/>
        </p:nvSpPr>
        <p:spPr>
          <a:xfrm>
            <a:off x="1080015" y="2225518"/>
            <a:ext cx="7206129" cy="3385542"/>
          </a:xfrm>
          <a:prstGeom prst="rect">
            <a:avLst/>
          </a:prstGeom>
          <a:noFill/>
        </p:spPr>
        <p:txBody>
          <a:bodyPr wrap="square" rtlCol="0">
            <a:spAutoFit/>
          </a:bodyPr>
          <a:lstStyle/>
          <a:p>
            <a:pPr>
              <a:spcBef>
                <a:spcPts val="1200"/>
              </a:spcBef>
            </a:pPr>
            <a:r>
              <a:rPr lang="tr-TR" b="1" cap="all" dirty="0">
                <a:solidFill>
                  <a:srgbClr val="003087"/>
                </a:solidFill>
                <a:latin typeface="Segoe UI" panose="020B0502040204020203" pitchFamily="34" charset="0"/>
                <a:cs typeface="Segoe UI" panose="020B0502040204020203" pitchFamily="34" charset="0"/>
              </a:rPr>
              <a:t>Çalışma</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Test Ağı</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Literatür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Sinyalizasyon Sistemleri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Tren Modeli ve Dinamiği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Kabuller ve Koşullar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Deneyler ve Sonuçlar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Ana Bulgular</a:t>
            </a:r>
          </a:p>
        </p:txBody>
      </p:sp>
      <p:sp>
        <p:nvSpPr>
          <p:cNvPr id="7" name="Oval 6">
            <a:extLst>
              <a:ext uri="{FF2B5EF4-FFF2-40B4-BE49-F238E27FC236}">
                <a16:creationId xmlns:a16="http://schemas.microsoft.com/office/drawing/2014/main" id="{421DA2A1-2B82-4049-8037-E629E1FF3431}"/>
              </a:ext>
            </a:extLst>
          </p:cNvPr>
          <p:cNvSpPr/>
          <p:nvPr/>
        </p:nvSpPr>
        <p:spPr>
          <a:xfrm>
            <a:off x="621287" y="222551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47" name="Oval 46">
            <a:extLst>
              <a:ext uri="{FF2B5EF4-FFF2-40B4-BE49-F238E27FC236}">
                <a16:creationId xmlns:a16="http://schemas.microsoft.com/office/drawing/2014/main" id="{1C2EE151-3BDE-41E5-A6CA-F331054FF6ED}"/>
              </a:ext>
            </a:extLst>
          </p:cNvPr>
          <p:cNvSpPr/>
          <p:nvPr/>
        </p:nvSpPr>
        <p:spPr>
          <a:xfrm>
            <a:off x="621287" y="265452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dirty="0"/>
          </a:p>
        </p:txBody>
      </p:sp>
      <p:sp>
        <p:nvSpPr>
          <p:cNvPr id="8" name="Oval 7">
            <a:extLst>
              <a:ext uri="{FF2B5EF4-FFF2-40B4-BE49-F238E27FC236}">
                <a16:creationId xmlns:a16="http://schemas.microsoft.com/office/drawing/2014/main" id="{BB502744-EDCA-4768-A3B5-B3401F023670}"/>
              </a:ext>
            </a:extLst>
          </p:cNvPr>
          <p:cNvSpPr/>
          <p:nvPr/>
        </p:nvSpPr>
        <p:spPr>
          <a:xfrm>
            <a:off x="621287" y="3077691"/>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2" name="Oval 11">
            <a:extLst>
              <a:ext uri="{FF2B5EF4-FFF2-40B4-BE49-F238E27FC236}">
                <a16:creationId xmlns:a16="http://schemas.microsoft.com/office/drawing/2014/main" id="{B367841E-60BF-44EA-A0AE-B3B973DAAF3D}"/>
              </a:ext>
            </a:extLst>
          </p:cNvPr>
          <p:cNvSpPr/>
          <p:nvPr/>
        </p:nvSpPr>
        <p:spPr>
          <a:xfrm>
            <a:off x="621287" y="3890333"/>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3" name="Oval 12">
            <a:extLst>
              <a:ext uri="{FF2B5EF4-FFF2-40B4-BE49-F238E27FC236}">
                <a16:creationId xmlns:a16="http://schemas.microsoft.com/office/drawing/2014/main" id="{13E71E64-10DC-4DA4-BCBD-64E14C2F1B62}"/>
              </a:ext>
            </a:extLst>
          </p:cNvPr>
          <p:cNvSpPr/>
          <p:nvPr/>
        </p:nvSpPr>
        <p:spPr>
          <a:xfrm>
            <a:off x="621287" y="3484012"/>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6" name="Title 9">
            <a:extLst>
              <a:ext uri="{FF2B5EF4-FFF2-40B4-BE49-F238E27FC236}">
                <a16:creationId xmlns:a16="http://schemas.microsoft.com/office/drawing/2014/main" id="{18A96956-405B-4837-AAD0-9AA1CC5CE7FC}"/>
              </a:ext>
            </a:extLst>
          </p:cNvPr>
          <p:cNvSpPr txBox="1">
            <a:spLocks/>
          </p:cNvSpPr>
          <p:nvPr/>
        </p:nvSpPr>
        <p:spPr>
          <a:xfrm>
            <a:off x="421520" y="374078"/>
            <a:ext cx="5946550" cy="595928"/>
          </a:xfrm>
          <a:prstGeom prst="rect">
            <a:avLst/>
          </a:prstGeom>
          <a:noFill/>
        </p:spPr>
        <p:txBody>
          <a:bodyPr wrap="square" rtlCol="0">
            <a:noAutofit/>
          </a:bodyPr>
          <a:lstStyle>
            <a:lvl1pPr marL="0" marR="0" indent="0" algn="l" defTabSz="914400" rtl="0" eaLnBrk="1" fontAlgn="auto" latinLnBrk="0" hangingPunct="1">
              <a:lnSpc>
                <a:spcPct val="100000"/>
              </a:lnSpc>
              <a:spcBef>
                <a:spcPts val="0"/>
              </a:spcBef>
              <a:spcAft>
                <a:spcPts val="0"/>
              </a:spcAft>
              <a:buClrTx/>
              <a:buSzTx/>
              <a:buFontTx/>
              <a:buNone/>
              <a:tabLst/>
              <a:defRPr kumimoji="0" lang="tr-TR" sz="3200" b="1" i="0" u="none" strike="noStrike" kern="1200" cap="all" spc="0" normalizeH="0" baseline="0" noProof="0" dirty="0">
                <a:ln>
                  <a:noFill/>
                </a:ln>
                <a:solidFill>
                  <a:srgbClr val="003087"/>
                </a:solidFill>
                <a:effectLst/>
                <a:uLnTx/>
                <a:uFillTx/>
                <a:latin typeface="Posterama" panose="020B0504020200020000" pitchFamily="34" charset="0"/>
                <a:ea typeface="+mn-ea"/>
                <a:cs typeface="Posterama" panose="020B0504020200020000" pitchFamily="34" charset="0"/>
              </a:defRPr>
            </a:lvl1pPr>
          </a:lstStyle>
          <a:p>
            <a:r>
              <a:rPr lang="tr-TR" dirty="0">
                <a:latin typeface="Segoe UI Black" panose="020B0A02040204020203" pitchFamily="34" charset="0"/>
                <a:ea typeface="Segoe UI Black" panose="020B0A02040204020203" pitchFamily="34" charset="0"/>
              </a:rPr>
              <a:t>İÇERİK</a:t>
            </a:r>
            <a:endParaRPr lang="tr-TR" sz="2400" b="0" dirty="0">
              <a:solidFill>
                <a:srgbClr val="F7931D"/>
              </a:solidFill>
              <a:latin typeface="Segoe UI Black" panose="020B0A02040204020203" pitchFamily="34" charset="0"/>
              <a:ea typeface="Segoe UI Black" panose="020B0A02040204020203" pitchFamily="34" charset="0"/>
            </a:endParaRPr>
          </a:p>
        </p:txBody>
      </p:sp>
      <p:sp>
        <p:nvSpPr>
          <p:cNvPr id="10" name="Oval 9">
            <a:extLst>
              <a:ext uri="{FF2B5EF4-FFF2-40B4-BE49-F238E27FC236}">
                <a16:creationId xmlns:a16="http://schemas.microsoft.com/office/drawing/2014/main" id="{96763803-F06A-4F8C-91C3-B6080C8BF0A4}"/>
              </a:ext>
            </a:extLst>
          </p:cNvPr>
          <p:cNvSpPr/>
          <p:nvPr/>
        </p:nvSpPr>
        <p:spPr>
          <a:xfrm>
            <a:off x="621287" y="432498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1" name="Oval 10">
            <a:extLst>
              <a:ext uri="{FF2B5EF4-FFF2-40B4-BE49-F238E27FC236}">
                <a16:creationId xmlns:a16="http://schemas.microsoft.com/office/drawing/2014/main" id="{7D009DDF-A7A9-42F9-9A58-F313227F5D2A}"/>
              </a:ext>
            </a:extLst>
          </p:cNvPr>
          <p:cNvSpPr/>
          <p:nvPr/>
        </p:nvSpPr>
        <p:spPr>
          <a:xfrm>
            <a:off x="621287" y="4759640"/>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4" name="Oval 13">
            <a:extLst>
              <a:ext uri="{FF2B5EF4-FFF2-40B4-BE49-F238E27FC236}">
                <a16:creationId xmlns:a16="http://schemas.microsoft.com/office/drawing/2014/main" id="{B8EF4556-5E02-4084-B247-3C1A50FE3201}"/>
              </a:ext>
            </a:extLst>
          </p:cNvPr>
          <p:cNvSpPr/>
          <p:nvPr/>
        </p:nvSpPr>
        <p:spPr>
          <a:xfrm>
            <a:off x="621287" y="516945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5" name="Oval 14">
            <a:extLst>
              <a:ext uri="{FF2B5EF4-FFF2-40B4-BE49-F238E27FC236}">
                <a16:creationId xmlns:a16="http://schemas.microsoft.com/office/drawing/2014/main" id="{0251A7EC-FFD9-4E04-8DAC-EB886D1891E8}"/>
              </a:ext>
            </a:extLst>
          </p:cNvPr>
          <p:cNvSpPr/>
          <p:nvPr/>
        </p:nvSpPr>
        <p:spPr>
          <a:xfrm>
            <a:off x="621287" y="557927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7" name="Rectangle 16">
            <a:extLst>
              <a:ext uri="{FF2B5EF4-FFF2-40B4-BE49-F238E27FC236}">
                <a16:creationId xmlns:a16="http://schemas.microsoft.com/office/drawing/2014/main" id="{EBE28D82-48A2-45B8-ACA3-958630194D66}"/>
              </a:ext>
            </a:extLst>
          </p:cNvPr>
          <p:cNvSpPr/>
          <p:nvPr/>
        </p:nvSpPr>
        <p:spPr>
          <a:xfrm>
            <a:off x="10610850" y="6467476"/>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9" name="Rectangle 18">
            <a:extLst>
              <a:ext uri="{FF2B5EF4-FFF2-40B4-BE49-F238E27FC236}">
                <a16:creationId xmlns:a16="http://schemas.microsoft.com/office/drawing/2014/main" id="{27935050-2192-482F-8BFE-C3950B99E396}"/>
              </a:ext>
            </a:extLst>
          </p:cNvPr>
          <p:cNvSpPr/>
          <p:nvPr/>
        </p:nvSpPr>
        <p:spPr>
          <a:xfrm>
            <a:off x="10620375" y="6431947"/>
            <a:ext cx="359394" cy="338554"/>
          </a:xfrm>
          <a:prstGeom prst="rect">
            <a:avLst/>
          </a:prstGeom>
        </p:spPr>
        <p:txBody>
          <a:bodyPr wrap="none">
            <a:spAutoFit/>
          </a:bodyPr>
          <a:lstStyle/>
          <a:p>
            <a:r>
              <a:rPr lang="tr-TR" sz="1600" dirty="0">
                <a:solidFill>
                  <a:schemeClr val="bg1"/>
                </a:solidFill>
              </a:rPr>
              <a:t>2/21</a:t>
            </a:r>
          </a:p>
        </p:txBody>
      </p:sp>
    </p:spTree>
    <p:extLst>
      <p:ext uri="{BB962C8B-B14F-4D97-AF65-F5344CB8AC3E}">
        <p14:creationId xmlns:p14="http://schemas.microsoft.com/office/powerpoint/2010/main" val="1177313339"/>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LİTERATÜR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548640"/>
          </a:xfrm>
        </p:spPr>
        <p:txBody>
          <a:bodyPr/>
          <a:lstStyle/>
          <a:p>
            <a:r>
              <a:rPr lang="tr-TR" dirty="0"/>
              <a:t>Sanal kuplajın kapasiteye etkisini ölçen iki temel çalışma ve bu çalışmanın onlara göre yeri.</a:t>
            </a:r>
          </a:p>
        </p:txBody>
      </p:sp>
      <p:pic>
        <p:nvPicPr>
          <p:cNvPr id="4" name="Kartlar"/>
          <p:cNvPicPr>
            <a:picLocks noChangeAspect="1"/>
          </p:cNvPicPr>
          <p:nvPr/>
        </p:nvPicPr>
        <p:blipFill>
          <a:blip r:embed="rId3"/>
          <a:stretch>
            <a:fillRect/>
          </a:stretch>
        </p:blipFill>
        <p:spPr>
          <a:xfrm>
            <a:off x="877569" y="2100000"/>
            <a:ext cx="10406382" cy="3650000"/>
          </a:xfrm>
          <a:prstGeom prst="rect">
            <a:avLst/>
          </a:prstGeom>
        </p:spPr>
      </p:pic>
    </p:spTree>
    <p:extLst>
      <p:ext uri="{BB962C8B-B14F-4D97-AF65-F5344CB8AC3E}">
        <p14:creationId xmlns:p14="http://schemas.microsoft.com/office/powerpoint/2010/main" val="1711816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E81D1-2F2D-8256-4D80-DEC31C90E1B2}"/>
              </a:ext>
            </a:extLst>
          </p:cNvPr>
          <p:cNvSpPr>
            <a:spLocks noGrp="1"/>
          </p:cNvSpPr>
          <p:nvPr>
            <p:ph type="title"/>
          </p:nvPr>
        </p:nvSpPr>
        <p:spPr/>
        <p:txBody>
          <a:bodyPr/>
          <a:lstStyle/>
          <a:p>
            <a:r>
              <a:rPr lang="en-US" b="0" dirty="0"/>
              <a:t>SİNYALİZASYON SİSTEMLERİ</a:t>
            </a:r>
            <a:br>
              <a:rPr lang="en-US" dirty="0"/>
            </a:br>
            <a:endParaRPr lang="en-US" dirty="0"/>
          </a:p>
        </p:txBody>
      </p:sp>
      <p:sp>
        <p:nvSpPr>
          <p:cNvPr id="21" name="Text Placeholder 20">
            <a:extLst>
              <a:ext uri="{FF2B5EF4-FFF2-40B4-BE49-F238E27FC236}">
                <a16:creationId xmlns:a16="http://schemas.microsoft.com/office/drawing/2014/main" id="{B829300A-3A55-49BD-B886-E727EF2BC3BD}"/>
              </a:ext>
            </a:extLst>
          </p:cNvPr>
          <p:cNvSpPr>
            <a:spLocks noGrp="1"/>
          </p:cNvSpPr>
          <p:nvPr>
            <p:ph type="body" sz="quarter" idx="13"/>
          </p:nvPr>
        </p:nvSpPr>
        <p:spPr>
          <a:xfrm>
            <a:off x="411480" y="1480000"/>
            <a:ext cx="11338560" cy="560000"/>
          </a:xfrm>
        </p:spPr>
        <p:txBody>
          <a:bodyPr/>
          <a:lstStyle/>
          <a:p>
            <a:endParaRPr lang="en-US" dirty="0"/>
            <a:r>
              <a:rPr lang="tr-TR" dirty="0"/>
              <a:t>Üçünün farkı tek soruda: ön trenle aramızdaki mesafeyi ne belirliyor?   [3][5]</a:t>
            </a:r>
          </a:p>
        </p:txBody>
      </p:sp>
      <p:pic>
        <p:nvPicPr>
          <p:cNvPr id="22" name="Matris"/>
          <p:cNvPicPr>
            <a:picLocks noChangeAspect="1"/>
          </p:cNvPicPr>
          <p:nvPr/>
        </p:nvPicPr>
        <p:blipFill>
          <a:blip r:embed="rId6"/>
          <a:stretch>
            <a:fillRect/>
          </a:stretch>
        </p:blipFill>
        <p:spPr>
          <a:xfrm>
            <a:off x="411480" y="2317294"/>
            <a:ext cx="11338560" cy="3215412"/>
          </a:xfrm>
          <a:prstGeom prst="rect">
            <a:avLst/>
          </a:prstGeom>
        </p:spPr>
      </p:pic>
    </p:spTree>
    <p:extLst>
      <p:ext uri="{BB962C8B-B14F-4D97-AF65-F5344CB8AC3E}">
        <p14:creationId xmlns:p14="http://schemas.microsoft.com/office/powerpoint/2010/main" val="425683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err="1"/>
              <a:t>TEST AĞI</a:t>
            </a:r>
            <a:endParaRPr lang="en-US" dirty="0"/>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915604"/>
            <a:ext cx="11338560" cy="1713290"/>
          </a:xfrm>
        </p:spPr>
        <p:txBody>
          <a:bodyPr/>
          <a:lstStyle/>
          <a:p>
            <a:r>
              <a:rPr lang="tr-TR" dirty="0"/>
              <a:t>Kapalı çevrim (ring)   ·   çift hat   ·   70 km tur   ·   11 istasyon   ·   22 duruş</a:t>
            </a:r>
          </a:p>
          <a:p>
            <a:r>
              <a:rPr lang="tr-TR" dirty="0"/>
              <a:t>3.1 km ortalama istasyon aralığı   ·   900 m blok   ·   10 makas bağlantısı</a:t>
            </a:r>
          </a:p>
          <a:p>
            <a:r>
              <a:rPr lang="tr-TR" dirty="0"/>
              <a:t>80 km/h azami hat hızı   ·   30 s peron beklemesi   ·   12 tren</a:t>
            </a:r>
          </a:p>
          <a:p>
            <a:r>
              <a:rPr lang="tr-TR" dirty="0"/>
              <a:t>Kentiçi demiryolu (urban railway) profili — metro değil, banliyö karakterinde.   [4][6]</a:t>
            </a:r>
          </a:p>
        </p:txBody>
      </p:sp>
      <p:pic>
        <p:nvPicPr>
          <p:cNvPr id="5" name="Picture 4">
            <a:extLst>
              <a:ext uri="{FF2B5EF4-FFF2-40B4-BE49-F238E27FC236}">
                <a16:creationId xmlns:a16="http://schemas.microsoft.com/office/drawing/2014/main" id="{9A2CEE2B-1696-52C2-B75B-160B564246F2}"/>
              </a:ext>
            </a:extLst>
          </p:cNvPr>
          <p:cNvPicPr>
            <a:picLocks noChangeAspect="1"/>
          </p:cNvPicPr>
          <p:nvPr/>
        </p:nvPicPr>
        <p:blipFill>
          <a:blip r:embed="rId2"/>
          <a:stretch>
            <a:fillRect/>
          </a:stretch>
        </p:blipFill>
        <p:spPr>
          <a:xfrm>
            <a:off x="737913" y="2900000"/>
            <a:ext cx="10685694" cy="2900000"/>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3DD44-FA6C-335B-7369-91F938446FA7}"/>
              </a:ext>
            </a:extLst>
          </p:cNvPr>
          <p:cNvSpPr>
            <a:spLocks noGrp="1"/>
          </p:cNvSpPr>
          <p:nvPr>
            <p:ph type="title"/>
          </p:nvPr>
        </p:nvSpPr>
        <p:spPr/>
        <p:txBody>
          <a:bodyPr/>
          <a:lstStyle/>
          <a:p>
            <a:r>
              <a:rPr lang="en-US" dirty="0"/>
              <a:t>TREN MODELİ</a:t>
            </a:r>
            <a:endParaRPr lang="en-US" dirty="0"/>
          </a:p>
        </p:txBody>
      </p:sp>
      <p:sp>
        <p:nvSpPr>
          <p:cNvPr id="3" name="Text Placeholder 2">
            <a:extLst>
              <a:ext uri="{FF2B5EF4-FFF2-40B4-BE49-F238E27FC236}">
                <a16:creationId xmlns:a16="http://schemas.microsoft.com/office/drawing/2014/main" id="{790FDF56-82D5-917C-286D-10C7115D4598}"/>
              </a:ext>
            </a:extLst>
          </p:cNvPr>
          <p:cNvSpPr>
            <a:spLocks noGrp="1"/>
          </p:cNvSpPr>
          <p:nvPr>
            <p:ph type="body" sz="quarter" idx="13"/>
          </p:nvPr>
        </p:nvSpPr>
        <p:spPr>
          <a:xfrm>
            <a:off x="411480" y="1554480"/>
            <a:ext cx="11338560" cy="4480560"/>
          </a:xfrm>
        </p:spPr>
        <p:txBody>
          <a:bodyPr/>
          <a:lstStyle/>
          <a:p>
            <a:r>
              <a:rPr lang="tr-TR" dirty="0"/>
              <a:t>Tek boyutlu hareket: konum tek bir skaler, hız ve ivme ondan türer.</a:t>
            </a:r>
          </a:p>
          <a:p>
            <a:r>
              <a:rPr lang="tr-TR" dirty="0"/>
              <a:t>Dört kuvvet: çeki, yuvarlanma direnci, eğim, fren.</a:t>
            </a:r>
          </a:p>
          <a:p>
            <a:r>
              <a:rPr lang="tr-TR" dirty="0"/>
              <a:t>Jerk sınırı — ne çeki ne fren anında oluşur.</a:t>
            </a:r>
          </a:p>
          <a:p>
            <a:r>
              <a:rPr lang="tr-TR" dirty="0"/>
              <a:t>Sürücü izin verilen her metreyi kullanır, hız sınırını aşmaz.</a:t>
            </a:r>
          </a:p>
        </p:txBody>
      </p:sp>
    </p:spTree>
    <p:extLst>
      <p:ext uri="{BB962C8B-B14F-4D97-AF65-F5344CB8AC3E}">
        <p14:creationId xmlns:p14="http://schemas.microsoft.com/office/powerpoint/2010/main" val="38259916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KARŞILAŞTIRMALI SONUÇLAR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Aynı ağ, aynı filo, aynı tarife — tek değişken sinyalizasyon.</a:t>
            </a:r>
          </a:p>
        </p:txBody>
      </p:sp>
      <p:pic>
        <p:nvPicPr>
          <p:cNvPr id="4" name="Ozet"/>
          <p:cNvPicPr>
            <a:picLocks noChangeAspect="1"/>
          </p:cNvPicPr>
          <p:nvPr/>
        </p:nvPicPr>
        <p:blipFill>
          <a:blip r:embed="rId3"/>
          <a:stretch>
            <a:fillRect/>
          </a:stretch>
        </p:blipFill>
        <p:spPr>
          <a:xfrm>
            <a:off x="411480" y="2224875"/>
            <a:ext cx="11338560" cy="340025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KULLANILAN PARAMETRELER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ARAÇ</a:t>
            </a:r>
          </a:p>
          <a:p>
            <a:pPr lvl="1"/>
            <a:r>
              <a:rPr lang="tr-TR" dirty="0"/>
              <a:t>120 m   ·   216 t   ·   m_eff 233 t   ·   v_max 90 km/h</a:t>
            </a:r>
          </a:p>
          <a:p>
            <a:pPr lvl="1"/>
            <a:r>
              <a:rPr lang="tr-TR" dirty="0"/>
              <a:t>F₀ 233 kN   ·   P 2333 kW   ·   v_taban 36 km/h  (%40 · v_max)</a:t>
            </a:r>
          </a:p>
          <a:p>
            <a:pPr lvl="1"/>
            <a:r>
              <a:rPr lang="tr-TR" dirty="0"/>
              <a:t>Davis:   A 1404 N   ·   B 28.1 N·s/m   ·   C 3.74 N·s²/m²</a:t>
            </a:r>
          </a:p>
          <a:p>
            <a:r>
              <a:rPr lang="tr-TR" b="1" dirty="0"/>
              <a:t>FREN VE SÜRÜCÜ</a:t>
            </a:r>
          </a:p>
          <a:p>
            <a:pPr lvl="1"/>
            <a:r>
              <a:rPr lang="tr-TR" dirty="0"/>
              <a:t>servis 1.0   ·   acil 1.5 m/s²   ·   jerk 0.5 m/s³   ·   brake build-up 2.0 s</a:t>
            </a:r>
          </a:p>
          <a:p>
            <a:pPr lvl="1"/>
            <a:r>
              <a:rPr lang="tr-TR" dirty="0"/>
              <a:t>tepki 2.0 s (kabin sinyalizasyonunda 0 s)   ·   sürücü payı 25 m</a:t>
            </a:r>
          </a:p>
          <a:p>
            <a:r>
              <a:rPr lang="tr-TR" b="1" dirty="0"/>
              <a:t>SİNYALİZASYON</a:t>
            </a:r>
          </a:p>
          <a:p>
            <a:pPr lvl="1"/>
            <a:r>
              <a:rPr lang="tr-TR" dirty="0"/>
              <a:t>tehlike noktası payı:  hareketli blok 100 m · sanal kuplaj 50 m · sabit blok yok</a:t>
            </a:r>
          </a:p>
          <a:p>
            <a:pPr lvl="1"/>
            <a:r>
              <a:rPr lang="tr-TR" dirty="0"/>
              <a:t>V2V gecikmesi 0.5 s   ·   kuplaj eşiği 800 m   ·   blok 900 m</a:t>
            </a:r>
          </a:p>
          <a:p>
            <a:r>
              <a:rPr lang="tr-TR" b="1" dirty="0"/>
              <a:t>İŞLETME</a:t>
            </a:r>
          </a:p>
          <a:p>
            <a:pPr lvl="1"/>
            <a:r>
              <a:rPr lang="tr-TR" dirty="0"/>
              <a:t>dt = 1.0 s (tümü dt = 0.5 s ile doğrulandı)   ·   12 servis   ·   22 duruş/tur   ·   30 s bekleme</a:t>
            </a:r>
          </a:p>
        </p:txBody>
      </p:sp>
    </p:spTree>
    <p:extLst>
      <p:ext uri="{BB962C8B-B14F-4D97-AF65-F5344CB8AC3E}">
        <p14:creationId xmlns:p14="http://schemas.microsoft.com/office/powerpoint/2010/main" val="605574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DA32-9D7C-48E0-B063-CC1A4B8D2A66}"/>
              </a:ext>
            </a:extLst>
          </p:cNvPr>
          <p:cNvSpPr>
            <a:spLocks noGrp="1"/>
          </p:cNvSpPr>
          <p:nvPr>
            <p:ph type="title"/>
          </p:nvPr>
        </p:nvSpPr>
        <p:spPr/>
        <p:txBody>
          <a:bodyPr/>
          <a:lstStyle/>
          <a:p>
            <a:r>
              <a:rPr lang="en-US" dirty="0"/>
              <a:t>DURAKSIZ (EXPRESS) İŞLETME</a:t>
            </a:r>
          </a:p>
        </p:txBody>
      </p:sp>
      <p:sp>
        <p:nvSpPr>
          <p:cNvPr id="3" name="Text Placeholder 2">
            <a:extLst>
              <a:ext uri="{FF2B5EF4-FFF2-40B4-BE49-F238E27FC236}">
                <a16:creationId xmlns:a16="http://schemas.microsoft.com/office/drawing/2014/main" id="{67366213-77AB-9F47-59BC-88694E73B2B8}"/>
              </a:ext>
            </a:extLst>
          </p:cNvPr>
          <p:cNvSpPr>
            <a:spLocks noGrp="1"/>
          </p:cNvSpPr>
          <p:nvPr>
            <p:ph type="body" sz="quarter" idx="13"/>
          </p:nvPr>
        </p:nvSpPr>
        <p:spPr>
          <a:xfrm>
            <a:off x="411480" y="1463040"/>
            <a:ext cx="11338560" cy="548640"/>
          </a:xfrm>
        </p:spPr>
        <p:txBody>
          <a:bodyPr/>
          <a:lstStyle/>
          <a:p>
            <a:r>
              <a:rPr lang="tr-TR" dirty="0"/>
              <a:t>Peron kısıtı devrede değil — bağlayıcı olan tek şey trenler arası mesafe.</a:t>
            </a:r>
          </a:p>
        </p:txBody>
      </p:sp>
      <p:pic>
        <p:nvPicPr>
          <p:cNvPr id="203"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1523495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CB793-14AB-F568-A32F-5645D6ACA969}"/>
              </a:ext>
            </a:extLst>
          </p:cNvPr>
          <p:cNvSpPr>
            <a:spLocks noGrp="1"/>
          </p:cNvSpPr>
          <p:nvPr>
            <p:ph type="title"/>
          </p:nvPr>
        </p:nvSpPr>
        <p:spPr/>
        <p:txBody>
          <a:bodyPr/>
          <a:lstStyle/>
          <a:p>
            <a:r>
              <a:rPr lang="en-US" dirty="0"/>
              <a:t>DURAKLAMALI (ALL-STOP) İŞLETME</a:t>
            </a:r>
          </a:p>
        </p:txBody>
      </p:sp>
      <p:sp>
        <p:nvSpPr>
          <p:cNvPr id="3" name="Text Placeholder 2">
            <a:extLst>
              <a:ext uri="{FF2B5EF4-FFF2-40B4-BE49-F238E27FC236}">
                <a16:creationId xmlns:a16="http://schemas.microsoft.com/office/drawing/2014/main" id="{9805FF9A-EB0F-494A-8CB2-3A8FEDFF936A}"/>
              </a:ext>
            </a:extLst>
          </p:cNvPr>
          <p:cNvSpPr>
            <a:spLocks noGrp="1"/>
          </p:cNvSpPr>
          <p:nvPr>
            <p:ph type="body" sz="quarter" idx="13"/>
          </p:nvPr>
        </p:nvSpPr>
        <p:spPr>
          <a:xfrm>
            <a:off x="411480" y="1463040"/>
            <a:ext cx="11338560" cy="548640"/>
          </a:xfrm>
        </p:spPr>
        <p:txBody>
          <a:bodyPr/>
          <a:lstStyle/>
          <a:p>
            <a:r>
              <a:rPr lang="tr-TR" dirty="0"/>
              <a:t>22 duruşlu tur — bağlayıcı kısıt artık sinyalizasyon değil, peron işgali.</a:t>
            </a:r>
          </a:p>
        </p:txBody>
      </p:sp>
      <p:pic>
        <p:nvPicPr>
          <p:cNvPr id="204"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2651757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5F1BA-B50D-4FA0-1E12-C910A798D243}"/>
              </a:ext>
            </a:extLst>
          </p:cNvPr>
          <p:cNvSpPr>
            <a:spLocks noGrp="1"/>
          </p:cNvSpPr>
          <p:nvPr>
            <p:ph type="title"/>
          </p:nvPr>
        </p:nvSpPr>
        <p:spPr/>
        <p:txBody>
          <a:bodyPr/>
          <a:lstStyle/>
          <a:p>
            <a:r>
              <a:rPr lang="en-US" dirty="0"/>
              <a:t>BOZUCU ETKİ ALTINDA DAVRANIŞ</a:t>
            </a:r>
          </a:p>
        </p:txBody>
      </p:sp>
      <p:sp>
        <p:nvSpPr>
          <p:cNvPr id="3" name="Text Placeholder 2">
            <a:extLst>
              <a:ext uri="{FF2B5EF4-FFF2-40B4-BE49-F238E27FC236}">
                <a16:creationId xmlns:a16="http://schemas.microsoft.com/office/drawing/2014/main" id="{EAB6E82C-AFE1-FC1E-3B25-E4C8086E1CB8}"/>
              </a:ext>
            </a:extLst>
          </p:cNvPr>
          <p:cNvSpPr>
            <a:spLocks noGrp="1"/>
          </p:cNvSpPr>
          <p:nvPr>
            <p:ph type="body" sz="quarter" idx="13"/>
          </p:nvPr>
        </p:nvSpPr>
        <p:spPr>
          <a:xfrm>
            <a:off x="411480" y="1554480"/>
            <a:ext cx="11338560" cy="4480560"/>
          </a:xfrm>
        </p:spPr>
        <p:txBody>
          <a:bodyPr/>
          <a:lstStyle/>
          <a:p>
            <a:r>
              <a:rPr lang="tr-TR" dirty="0"/>
              <a:t>Üç bozucu etki, iki okuma: aynı tarifede ve her sistem kendi sürdürülebilir aralığında.</a:t>
            </a:r>
          </a:p>
          <a:p>
            <a:r>
              <a:rPr lang="tr-TR" dirty="0"/>
              <a:t>Kazanç sistemin kendisinden değil, elinde kalan paydan geliyor.</a:t>
            </a:r>
          </a:p>
        </p:txBody>
      </p:sp>
      <p:pic>
        <p:nvPicPr>
          <p:cNvPr id="4" name="Bozucu etki grafiği"/>
          <p:cNvPicPr>
            <a:picLocks noChangeAspect="1"/>
          </p:cNvPicPr>
          <p:nvPr/>
        </p:nvPicPr>
        <p:blipFill>
          <a:blip r:embed="rId3"/>
          <a:stretch>
            <a:fillRect/>
          </a:stretch>
        </p:blipFill>
        <p:spPr>
          <a:xfrm>
            <a:off x="694813" y="2330000"/>
            <a:ext cx="5583333" cy="3350000"/>
          </a:xfrm>
          <a:prstGeom prst="rect">
            <a:avLst/>
          </a:prstGeom>
        </p:spPr>
      </p:pic>
      <p:pic>
        <p:nvPicPr>
          <p:cNvPr id="5" name="Bozucu-b"/>
          <p:cNvPicPr>
            <a:picLocks noChangeAspect="1"/>
          </p:cNvPicPr>
          <p:nvPr/>
        </p:nvPicPr>
        <p:blipFill>
          <a:blip r:embed="rId5"/>
          <a:stretch>
            <a:fillRect/>
          </a:stretch>
        </p:blipFill>
        <p:spPr>
          <a:xfrm>
            <a:off x="6650000" y="2422388"/>
            <a:ext cx="5100000" cy="3165224"/>
          </a:xfrm>
          <a:prstGeom prst="rect">
            <a:avLst/>
          </a:prstGeom>
        </p:spPr>
      </p:pic>
    </p:spTree>
    <p:extLst>
      <p:ext uri="{BB962C8B-B14F-4D97-AF65-F5344CB8AC3E}">
        <p14:creationId xmlns:p14="http://schemas.microsoft.com/office/powerpoint/2010/main" val="2821810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1C50-7279-B932-5A8B-B9F31FADBF91}"/>
              </a:ext>
            </a:extLst>
          </p:cNvPr>
          <p:cNvSpPr>
            <a:spLocks noGrp="1"/>
          </p:cNvSpPr>
          <p:nvPr>
            <p:ph type="title"/>
          </p:nvPr>
        </p:nvSpPr>
        <p:spPr/>
        <p:txBody>
          <a:bodyPr/>
          <a:lstStyle/>
          <a:p>
            <a:r>
              <a:rPr lang="en-US" dirty="0"/>
              <a:t>KONVOY DAVRANIŞI</a:t>
            </a:r>
          </a:p>
        </p:txBody>
      </p:sp>
      <p:sp>
        <p:nvSpPr>
          <p:cNvPr id="3" name="Text Placeholder 2">
            <a:extLst>
              <a:ext uri="{FF2B5EF4-FFF2-40B4-BE49-F238E27FC236}">
                <a16:creationId xmlns:a16="http://schemas.microsoft.com/office/drawing/2014/main" id="{546D0D9C-DE6C-DA93-D4B4-5B95C96A783D}"/>
              </a:ext>
            </a:extLst>
          </p:cNvPr>
          <p:cNvSpPr>
            <a:spLocks noGrp="1"/>
          </p:cNvSpPr>
          <p:nvPr>
            <p:ph type="body" sz="quarter" idx="13"/>
          </p:nvPr>
        </p:nvSpPr>
        <p:spPr>
          <a:xfrm>
            <a:off x="411480" y="1920240"/>
            <a:ext cx="11338560" cy="4114800"/>
          </a:xfrm>
        </p:spPr>
        <p:txBody>
          <a:bodyPr/>
          <a:lstStyle/>
          <a:p>
            <a:r>
              <a:rPr lang="tr-TR" dirty="0"/>
              <a:t>Kural: 70 km/h ile sınırlı; yalnızca öndekine yaklaşırken hat hızına serbest bırakılıyor.</a:t>
            </a:r>
          </a:p>
          <a:p>
            <a:r>
              <a:rPr lang="tr-TR" dirty="0"/>
              <a:t>Kural aralığı kısaltıyor, ama trenler kalıcı konvoy kurmuyor: kuplajlar kısa ve ikişerli.</a:t>
            </a:r>
          </a:p>
        </p:txBody>
      </p:sp>
      <p:pic>
        <p:nvPicPr>
          <p:cNvPr id="4" name="Chart"/>
          <p:cNvPicPr>
            <a:picLocks noChangeAspect="1"/>
          </p:cNvPicPr>
          <p:nvPr/>
        </p:nvPicPr>
        <p:blipFill>
          <a:blip r:embed="rId2"/>
          <a:stretch>
            <a:fillRect/>
          </a:stretch>
        </p:blipFill>
        <p:spPr>
          <a:xfrm>
            <a:off x="933846" y="2700000"/>
            <a:ext cx="10293827" cy="2980000"/>
          </a:xfrm>
          <a:prstGeom prst="rect">
            <a:avLst/>
          </a:prstGeom>
        </p:spPr>
      </p:pic>
    </p:spTree>
    <p:extLst>
      <p:ext uri="{BB962C8B-B14F-4D97-AF65-F5344CB8AC3E}">
        <p14:creationId xmlns:p14="http://schemas.microsoft.com/office/powerpoint/2010/main" val="2203774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ANA BULGULAR</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EN GÜÇLÜ OLDUĞU YER</a:t>
            </a:r>
          </a:p>
          <a:p>
            <a:pPr lvl="1"/>
            <a:r>
              <a:rPr lang="tr-TR" dirty="0"/>
              <a:t>Duraksız işletme   39 s → 32 s  (%18)   ·   konvoy kuralıyla   25 s → 17 s  (%32)</a:t>
            </a:r>
          </a:p>
          <a:p>
            <a:r>
              <a:rPr lang="tr-TR" dirty="0"/>
              <a:t>ETKİSİNİN KAYBOLDUĞU YER</a:t>
            </a:r>
          </a:p>
          <a:p>
            <a:pPr lvl="1"/>
            <a:r>
              <a:rPr lang="tr-TR" dirty="0"/>
              <a:t>Duraklamalı işletme   78 s → 71 s  (%9) — kısıt peron, peron bir takip mesafesi değil</a:t>
            </a:r>
          </a:p>
          <a:p>
            <a:pPr lvl="1"/>
            <a:r>
              <a:rPr lang="tr-TR" dirty="0"/>
              <a:t>Her sistem kendi aralığında koşarken bozucu etki altında   %0.5</a:t>
            </a:r>
          </a:p>
          <a:p>
            <a:r>
              <a:rPr lang="tr-TR" dirty="0"/>
              <a:t>KAPSAM DIŞI BIRAKILAN</a:t>
            </a:r>
          </a:p>
          <a:p>
            <a:pPr lvl="1"/>
            <a:r>
              <a:rPr lang="tr-TR" dirty="0"/>
              <a:t>Karma trafik ve ayrılan/birleşen kavşaklar — rota ve tarife optimizasyonu işi</a:t>
            </a:r>
          </a:p>
          <a:p>
            <a:r>
              <a:rPr lang="tr-TR" dirty="0"/>
              <a:t>BUGÜNÜN ASIL KISITI KAPASİTE DEĞİL</a:t>
            </a:r>
          </a:p>
          <a:p>
            <a:pPr lvl="1"/>
            <a:r>
              <a:rPr lang="tr-TR" dirty="0"/>
              <a:t>Güvenlik ispatı   ·   protokol olgunluğu   ·   yatırımın hattı hak etmesi</a:t>
            </a:r>
          </a:p>
        </p:txBody>
      </p:sp>
    </p:spTree>
    <p:extLst>
      <p:ext uri="{BB962C8B-B14F-4D97-AF65-F5344CB8AC3E}">
        <p14:creationId xmlns:p14="http://schemas.microsoft.com/office/powerpoint/2010/main" val="4687884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KAYNAKLAR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4663440"/>
          </a:xfrm>
        </p:spPr>
        <p:txBody>
          <a:bodyPr/>
          <a:lstStyle/>
          <a:p>
            <a:pPr marL="342900" indent="-342900">
              <a:spcBef>
                <a:spcPts val="500"/>
              </a:spcBef>
              <a:buNone/>
            </a:pPr>
            <a:r>
              <a:rPr lang="tr-TR" sz="1150" dirty="0">
                <a:solidFill>
                  <a:srgbClr val="1D2A4D"/>
                </a:solidFill>
                <a:latin typeface="Calibri"/>
              </a:rPr>
              <a:t>[1]  Quaglietta, E., Wang, M., Goverde, R.M.P. (2020). A multi-state train-following model for the analysis of virtual coupling railway operations. Journal of Rail Transport Planning &amp; Management, 15, 100195. doi:10.1016/j.jrtpm.2020.100195</a:t>
            </a:r>
          </a:p>
          <a:p>
            <a:pPr marL="342900" indent="-342900">
              <a:spcBef>
                <a:spcPts val="500"/>
              </a:spcBef>
              <a:buNone/>
            </a:pPr>
            <a:r>
              <a:rPr lang="tr-TR" sz="1150" dirty="0">
                <a:solidFill>
                  <a:srgbClr val="1D2A4D"/>
                </a:solidFill>
                <a:latin typeface="Calibri"/>
              </a:rPr>
              <a:t>[2]  Aoun, J., Quaglietta, E., Goverde, R.M.P., Scheidt, M., Blumenfeld, M., Jack, A., Redfern, B. (2021). A hybrid Delphi-AHP multi-criteria analysis of Moving Block and Virtual Coupling railway signalling. Transportation Research Part C, 129, 103250. doi:10.1016/j.trc.2021.103250</a:t>
            </a:r>
          </a:p>
          <a:p>
            <a:pPr marL="342900" indent="-342900">
              <a:spcBef>
                <a:spcPts val="500"/>
              </a:spcBef>
              <a:buNone/>
            </a:pPr>
            <a:r>
              <a:rPr lang="tr-TR" sz="1150" dirty="0">
                <a:solidFill>
                  <a:srgbClr val="1D2A4D"/>
                </a:solidFill>
                <a:latin typeface="Calibri"/>
              </a:rPr>
              <a:t>[3]  UNISIG (2016). ERTMS/ETCS System Requirements Specification, Subset-026, version 3.6.0.</a:t>
            </a:r>
          </a:p>
          <a:p>
            <a:pPr marL="342900" indent="-342900">
              <a:spcBef>
                <a:spcPts val="500"/>
              </a:spcBef>
              <a:buNone/>
            </a:pPr>
            <a:r>
              <a:rPr lang="tr-TR" sz="1150" dirty="0">
                <a:solidFill>
                  <a:srgbClr val="1D2A4D"/>
                </a:solidFill>
                <a:latin typeface="Calibri"/>
              </a:rPr>
              <a:t>[4]  Hansen, I.A., Pachl, J. (Ed.) (2014). Railway Timetabling and Operations. Eurailpress, Hamburg.</a:t>
            </a:r>
          </a:p>
          <a:p>
            <a:pPr marL="342900" indent="-342900">
              <a:spcBef>
                <a:spcPts val="500"/>
              </a:spcBef>
              <a:buNone/>
            </a:pPr>
            <a:r>
              <a:rPr lang="tr-TR" sz="1150" dirty="0">
                <a:solidFill>
                  <a:srgbClr val="1D2A4D"/>
                </a:solidFill>
                <a:latin typeface="Calibri"/>
              </a:rPr>
              <a:t>[5]  Theeg, G., Vlasenko, S. (Ed.) (2009). Railway Signalling and Interlocking: International Compendium. Eurailpress, Hamburg.</a:t>
            </a:r>
          </a:p>
          <a:p>
            <a:pPr marL="342900" indent="-342900">
              <a:spcBef>
                <a:spcPts val="500"/>
              </a:spcBef>
              <a:buNone/>
            </a:pPr>
            <a:r>
              <a:rPr lang="tr-TR" sz="1150" dirty="0">
                <a:solidFill>
                  <a:srgbClr val="1D2A4D"/>
                </a:solidFill>
                <a:latin typeface="Calibri"/>
              </a:rPr>
              <a:t>[6]  UIC (2013). UIC Code 406: Capacity, 2nd edition. International Union of Railways, Paris.</a:t>
            </a:r>
          </a:p>
        </p:txBody>
      </p:sp>
    </p:spTree>
    <p:extLst>
      <p:ext uri="{BB962C8B-B14F-4D97-AF65-F5344CB8AC3E}">
        <p14:creationId xmlns:p14="http://schemas.microsoft.com/office/powerpoint/2010/main" val="171181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ikdörtgen 10">
            <a:extLst>
              <a:ext uri="{FF2B5EF4-FFF2-40B4-BE49-F238E27FC236}">
                <a16:creationId xmlns:a16="http://schemas.microsoft.com/office/drawing/2014/main" id="{A60DAAB4-D7C7-4D39-B5C0-C991D9698E89}"/>
              </a:ext>
            </a:extLst>
          </p:cNvPr>
          <p:cNvSpPr txBox="1"/>
          <p:nvPr/>
        </p:nvSpPr>
        <p:spPr>
          <a:xfrm>
            <a:off x="3196311" y="2004552"/>
            <a:ext cx="5799378" cy="2660964"/>
          </a:xfrm>
          <a:prstGeom prst="rect">
            <a:avLst/>
          </a:prstGeom>
          <a:noFill/>
        </p:spPr>
        <p:txBody>
          <a:bodyPr wrap="square" lIns="360000" rtlCol="0" anchor="ctr" anchorCtr="0">
            <a:noAutofit/>
          </a:bodyPr>
          <a:lstStyle/>
          <a:p>
            <a:pPr algn="ctr">
              <a:lnSpc>
                <a:spcPts val="4500"/>
              </a:lnSpc>
            </a:pPr>
            <a:r>
              <a:rPr lang="tr-TR" sz="4400" cap="all" dirty="0">
                <a:solidFill>
                  <a:srgbClr val="003087"/>
                </a:solidFill>
                <a:latin typeface="Segoe UI Black" panose="020B0A02040204020203" pitchFamily="34" charset="0"/>
                <a:ea typeface="Segoe UI Black" panose="020B0A02040204020203" pitchFamily="34" charset="0"/>
                <a:cs typeface="Posterama" panose="020B0504020200020000" pitchFamily="34" charset="0"/>
              </a:rPr>
              <a:t>TEŞEKKÜRLER</a:t>
            </a:r>
          </a:p>
        </p:txBody>
      </p:sp>
      <p:grpSp>
        <p:nvGrpSpPr>
          <p:cNvPr id="28" name="Group 27">
            <a:extLst>
              <a:ext uri="{FF2B5EF4-FFF2-40B4-BE49-F238E27FC236}">
                <a16:creationId xmlns:a16="http://schemas.microsoft.com/office/drawing/2014/main" id="{0DC78FF3-615B-4D31-932C-8ACC1FFDB17F}"/>
              </a:ext>
            </a:extLst>
          </p:cNvPr>
          <p:cNvGrpSpPr/>
          <p:nvPr/>
        </p:nvGrpSpPr>
        <p:grpSpPr>
          <a:xfrm>
            <a:off x="2814206" y="5991497"/>
            <a:ext cx="6563587" cy="496389"/>
            <a:chOff x="2814206" y="5991497"/>
            <a:chExt cx="6563587" cy="496389"/>
          </a:xfrm>
        </p:grpSpPr>
        <p:sp>
          <p:nvSpPr>
            <p:cNvPr id="4" name="Rectangle: Rounded Corners 3">
              <a:extLst>
                <a:ext uri="{FF2B5EF4-FFF2-40B4-BE49-F238E27FC236}">
                  <a16:creationId xmlns:a16="http://schemas.microsoft.com/office/drawing/2014/main" id="{327970B7-7EB9-431D-BEED-59F137A6FE21}"/>
                </a:ext>
              </a:extLst>
            </p:cNvPr>
            <p:cNvSpPr/>
            <p:nvPr/>
          </p:nvSpPr>
          <p:spPr>
            <a:xfrm>
              <a:off x="2814206" y="5991497"/>
              <a:ext cx="6435074" cy="496389"/>
            </a:xfrm>
            <a:prstGeom prst="roundRect">
              <a:avLst/>
            </a:prstGeom>
            <a:solidFill>
              <a:srgbClr val="FF56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6" name="Metin kutusu 22">
              <a:extLst>
                <a:ext uri="{FF2B5EF4-FFF2-40B4-BE49-F238E27FC236}">
                  <a16:creationId xmlns:a16="http://schemas.microsoft.com/office/drawing/2014/main" id="{AD2AC26D-DE1A-4CEB-BCA6-276B701657A5}"/>
                </a:ext>
              </a:extLst>
            </p:cNvPr>
            <p:cNvSpPr txBox="1"/>
            <p:nvPr/>
          </p:nvSpPr>
          <p:spPr>
            <a:xfrm>
              <a:off x="3033864" y="6046316"/>
              <a:ext cx="1780820" cy="338554"/>
            </a:xfrm>
            <a:prstGeom prst="rect">
              <a:avLst/>
            </a:prstGeom>
            <a:noFill/>
          </p:spPr>
          <p:txBody>
            <a:bodyPr wrap="square" rtlCol="0">
              <a:spAutoFit/>
            </a:bodyPr>
            <a:lstStyle/>
            <a:p>
              <a:r>
                <a:rPr lang="tr-TR" sz="1600" b="1"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www.aselsan.com</a:t>
              </a:r>
            </a:p>
          </p:txBody>
        </p:sp>
        <p:cxnSp>
          <p:nvCxnSpPr>
            <p:cNvPr id="10" name="Straight Connector 9">
              <a:extLst>
                <a:ext uri="{FF2B5EF4-FFF2-40B4-BE49-F238E27FC236}">
                  <a16:creationId xmlns:a16="http://schemas.microsoft.com/office/drawing/2014/main" id="{CBEF8130-B0F1-45AB-A075-8ACA270B6FDF}"/>
                </a:ext>
              </a:extLst>
            </p:cNvPr>
            <p:cNvCxnSpPr/>
            <p:nvPr/>
          </p:nvCxnSpPr>
          <p:spPr>
            <a:xfrm>
              <a:off x="4804887" y="6124767"/>
              <a:ext cx="0" cy="216000"/>
            </a:xfrm>
            <a:prstGeom prst="line">
              <a:avLst/>
            </a:prstGeom>
            <a:ln>
              <a:solidFill>
                <a:schemeClr val="bg1"/>
              </a:solidFill>
            </a:ln>
          </p:spPr>
          <p:style>
            <a:lnRef idx="3">
              <a:schemeClr val="accent4"/>
            </a:lnRef>
            <a:fillRef idx="0">
              <a:schemeClr val="accent4"/>
            </a:fillRef>
            <a:effectRef idx="2">
              <a:schemeClr val="accent4"/>
            </a:effectRef>
            <a:fontRef idx="minor">
              <a:schemeClr val="tx1"/>
            </a:fontRef>
          </p:style>
        </p:cxnSp>
        <p:pic>
          <p:nvPicPr>
            <p:cNvPr id="24" name="Picture 23">
              <a:extLst>
                <a:ext uri="{FF2B5EF4-FFF2-40B4-BE49-F238E27FC236}">
                  <a16:creationId xmlns:a16="http://schemas.microsoft.com/office/drawing/2014/main" id="{120ACF76-FC65-4512-B95A-C9800745D3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2529" y="6115242"/>
              <a:ext cx="232526" cy="217118"/>
            </a:xfrm>
            <a:prstGeom prst="rect">
              <a:avLst/>
            </a:prstGeom>
          </p:spPr>
        </p:pic>
        <p:grpSp>
          <p:nvGrpSpPr>
            <p:cNvPr id="11" name="成组">
              <a:extLst>
                <a:ext uri="{FF2B5EF4-FFF2-40B4-BE49-F238E27FC236}">
                  <a16:creationId xmlns:a16="http://schemas.microsoft.com/office/drawing/2014/main" id="{60F83EC0-E54C-4939-BB0C-095EB427309F}"/>
                </a:ext>
              </a:extLst>
            </p:cNvPr>
            <p:cNvGrpSpPr/>
            <p:nvPr/>
          </p:nvGrpSpPr>
          <p:grpSpPr>
            <a:xfrm>
              <a:off x="5382375" y="6069216"/>
              <a:ext cx="299769" cy="299769"/>
              <a:chOff x="0" y="0"/>
              <a:chExt cx="457200" cy="457200"/>
            </a:xfrm>
          </p:grpSpPr>
          <p:sp>
            <p:nvSpPr>
              <p:cNvPr id="12" name="任意形状 741">
                <a:extLst>
                  <a:ext uri="{FF2B5EF4-FFF2-40B4-BE49-F238E27FC236}">
                    <a16:creationId xmlns:a16="http://schemas.microsoft.com/office/drawing/2014/main" id="{B588F2B4-ECA2-49BB-A64E-148239F23290}"/>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3" name="任意形状 742">
                <a:extLst>
                  <a:ext uri="{FF2B5EF4-FFF2-40B4-BE49-F238E27FC236}">
                    <a16:creationId xmlns:a16="http://schemas.microsoft.com/office/drawing/2014/main" id="{B7F8CFB0-6DDE-4E85-844B-38E2D5BD183A}"/>
                  </a:ext>
                </a:extLst>
              </p:cNvPr>
              <p:cNvSpPr/>
              <p:nvPr/>
            </p:nvSpPr>
            <p:spPr>
              <a:xfrm>
                <a:off x="133350" y="38100"/>
                <a:ext cx="200027" cy="381000"/>
              </a:xfrm>
              <a:custGeom>
                <a:avLst/>
                <a:gdLst/>
                <a:ahLst/>
                <a:cxnLst>
                  <a:cxn ang="0">
                    <a:pos x="wd2" y="hd2"/>
                  </a:cxn>
                  <a:cxn ang="5400000">
                    <a:pos x="wd2" y="hd2"/>
                  </a:cxn>
                  <a:cxn ang="10800000">
                    <a:pos x="wd2" y="hd2"/>
                  </a:cxn>
                  <a:cxn ang="16200000">
                    <a:pos x="wd2" y="hd2"/>
                  </a:cxn>
                </a:cxnLst>
                <a:rect l="0" t="0" r="r" b="b"/>
                <a:pathLst>
                  <a:path w="21600" h="21600" extrusionOk="0">
                    <a:moveTo>
                      <a:pt x="14400" y="12420"/>
                    </a:moveTo>
                    <a:lnTo>
                      <a:pt x="19543" y="12420"/>
                    </a:lnTo>
                    <a:lnTo>
                      <a:pt x="21600" y="8100"/>
                    </a:lnTo>
                    <a:lnTo>
                      <a:pt x="14400" y="8100"/>
                    </a:lnTo>
                    <a:lnTo>
                      <a:pt x="14400" y="5940"/>
                    </a:lnTo>
                    <a:cubicBezTo>
                      <a:pt x="14400" y="4828"/>
                      <a:pt x="14400" y="3780"/>
                      <a:pt x="18514" y="3780"/>
                    </a:cubicBezTo>
                    <a:lnTo>
                      <a:pt x="21600" y="3780"/>
                    </a:lnTo>
                    <a:lnTo>
                      <a:pt x="21600" y="151"/>
                    </a:lnTo>
                    <a:cubicBezTo>
                      <a:pt x="20929" y="105"/>
                      <a:pt x="18397" y="0"/>
                      <a:pt x="15723" y="0"/>
                    </a:cubicBezTo>
                    <a:cubicBezTo>
                      <a:pt x="10138" y="0"/>
                      <a:pt x="6171" y="1790"/>
                      <a:pt x="6171" y="5076"/>
                    </a:cubicBezTo>
                    <a:lnTo>
                      <a:pt x="6171" y="8100"/>
                    </a:lnTo>
                    <a:lnTo>
                      <a:pt x="0" y="8100"/>
                    </a:lnTo>
                    <a:lnTo>
                      <a:pt x="0" y="12420"/>
                    </a:lnTo>
                    <a:lnTo>
                      <a:pt x="6171" y="12420"/>
                    </a:lnTo>
                    <a:lnTo>
                      <a:pt x="6171" y="21600"/>
                    </a:lnTo>
                    <a:lnTo>
                      <a:pt x="14400" y="21600"/>
                    </a:lnTo>
                    <a:lnTo>
                      <a:pt x="14400" y="12420"/>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4" name="成组">
              <a:extLst>
                <a:ext uri="{FF2B5EF4-FFF2-40B4-BE49-F238E27FC236}">
                  <a16:creationId xmlns:a16="http://schemas.microsoft.com/office/drawing/2014/main" id="{CBEFBE6A-608E-4EFC-A897-55949B18421A}"/>
                </a:ext>
              </a:extLst>
            </p:cNvPr>
            <p:cNvGrpSpPr/>
            <p:nvPr/>
          </p:nvGrpSpPr>
          <p:grpSpPr>
            <a:xfrm>
              <a:off x="6239215" y="6054525"/>
              <a:ext cx="342674" cy="342674"/>
              <a:chOff x="0" y="0"/>
              <a:chExt cx="457200" cy="457200"/>
            </a:xfrm>
          </p:grpSpPr>
          <p:sp>
            <p:nvSpPr>
              <p:cNvPr id="15" name="任意形状 780">
                <a:extLst>
                  <a:ext uri="{FF2B5EF4-FFF2-40B4-BE49-F238E27FC236}">
                    <a16:creationId xmlns:a16="http://schemas.microsoft.com/office/drawing/2014/main" id="{9DE2F884-69BF-4C08-BA37-28627F4C82DC}"/>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6" name="任意形状 781">
                <a:extLst>
                  <a:ext uri="{FF2B5EF4-FFF2-40B4-BE49-F238E27FC236}">
                    <a16:creationId xmlns:a16="http://schemas.microsoft.com/office/drawing/2014/main" id="{6B82C8F1-99D8-46D1-AB19-DFAF42942A4B}"/>
                  </a:ext>
                </a:extLst>
              </p:cNvPr>
              <p:cNvSpPr/>
              <p:nvPr/>
            </p:nvSpPr>
            <p:spPr>
              <a:xfrm>
                <a:off x="38100" y="38100"/>
                <a:ext cx="381000" cy="381000"/>
              </a:xfrm>
              <a:custGeom>
                <a:avLst/>
                <a:gdLst/>
                <a:ahLst/>
                <a:cxnLst>
                  <a:cxn ang="0">
                    <a:pos x="wd2" y="hd2"/>
                  </a:cxn>
                  <a:cxn ang="5400000">
                    <a:pos x="wd2" y="hd2"/>
                  </a:cxn>
                  <a:cxn ang="10800000">
                    <a:pos x="wd2" y="hd2"/>
                  </a:cxn>
                  <a:cxn ang="16200000">
                    <a:pos x="wd2" y="hd2"/>
                  </a:cxn>
                </a:cxnLst>
                <a:rect l="0" t="0" r="r" b="b"/>
                <a:pathLst>
                  <a:path w="21600" h="21600" extrusionOk="0">
                    <a:moveTo>
                      <a:pt x="10800" y="7560"/>
                    </a:moveTo>
                    <a:cubicBezTo>
                      <a:pt x="9011" y="7560"/>
                      <a:pt x="7560" y="9011"/>
                      <a:pt x="7560" y="10800"/>
                    </a:cubicBezTo>
                    <a:cubicBezTo>
                      <a:pt x="7560" y="12589"/>
                      <a:pt x="9011" y="14040"/>
                      <a:pt x="10800" y="14040"/>
                    </a:cubicBezTo>
                    <a:cubicBezTo>
                      <a:pt x="12589" y="14040"/>
                      <a:pt x="14040" y="12589"/>
                      <a:pt x="14040" y="10800"/>
                    </a:cubicBezTo>
                    <a:cubicBezTo>
                      <a:pt x="14040" y="9011"/>
                      <a:pt x="12589" y="7560"/>
                      <a:pt x="10800" y="7560"/>
                    </a:cubicBezTo>
                    <a:close/>
                    <a:moveTo>
                      <a:pt x="10800" y="5400"/>
                    </a:moveTo>
                    <a:cubicBezTo>
                      <a:pt x="13782" y="5400"/>
                      <a:pt x="16200" y="7818"/>
                      <a:pt x="16200" y="10800"/>
                    </a:cubicBezTo>
                    <a:cubicBezTo>
                      <a:pt x="16200" y="13782"/>
                      <a:pt x="13782" y="16200"/>
                      <a:pt x="10800" y="16200"/>
                    </a:cubicBezTo>
                    <a:cubicBezTo>
                      <a:pt x="7818" y="16200"/>
                      <a:pt x="5400" y="13782"/>
                      <a:pt x="5400" y="10800"/>
                    </a:cubicBezTo>
                    <a:cubicBezTo>
                      <a:pt x="5400" y="7818"/>
                      <a:pt x="7818" y="5400"/>
                      <a:pt x="10800" y="5400"/>
                    </a:cubicBezTo>
                    <a:close/>
                    <a:moveTo>
                      <a:pt x="17820" y="5130"/>
                    </a:moveTo>
                    <a:cubicBezTo>
                      <a:pt x="17820" y="5876"/>
                      <a:pt x="17216" y="6480"/>
                      <a:pt x="16470" y="6480"/>
                    </a:cubicBezTo>
                    <a:cubicBezTo>
                      <a:pt x="15724" y="6480"/>
                      <a:pt x="15120" y="5876"/>
                      <a:pt x="15120" y="5130"/>
                    </a:cubicBezTo>
                    <a:cubicBezTo>
                      <a:pt x="15120" y="4384"/>
                      <a:pt x="15724" y="3780"/>
                      <a:pt x="16470" y="3780"/>
                    </a:cubicBezTo>
                    <a:cubicBezTo>
                      <a:pt x="17216" y="3780"/>
                      <a:pt x="17820" y="4384"/>
                      <a:pt x="17820" y="5130"/>
                    </a:cubicBezTo>
                    <a:close/>
                    <a:moveTo>
                      <a:pt x="10800" y="2160"/>
                    </a:moveTo>
                    <a:cubicBezTo>
                      <a:pt x="8128" y="2160"/>
                      <a:pt x="7692" y="2168"/>
                      <a:pt x="6449" y="2223"/>
                    </a:cubicBezTo>
                    <a:cubicBezTo>
                      <a:pt x="5602" y="2263"/>
                      <a:pt x="5034" y="2376"/>
                      <a:pt x="4507" y="2581"/>
                    </a:cubicBezTo>
                    <a:cubicBezTo>
                      <a:pt x="4038" y="2763"/>
                      <a:pt x="3700" y="2980"/>
                      <a:pt x="3340" y="3340"/>
                    </a:cubicBezTo>
                    <a:cubicBezTo>
                      <a:pt x="3002" y="3667"/>
                      <a:pt x="2742" y="4066"/>
                      <a:pt x="2580" y="4507"/>
                    </a:cubicBezTo>
                    <a:cubicBezTo>
                      <a:pt x="2375" y="5036"/>
                      <a:pt x="2261" y="5603"/>
                      <a:pt x="2223" y="6449"/>
                    </a:cubicBezTo>
                    <a:cubicBezTo>
                      <a:pt x="2166" y="7641"/>
                      <a:pt x="2160" y="8058"/>
                      <a:pt x="2160" y="10800"/>
                    </a:cubicBezTo>
                    <a:cubicBezTo>
                      <a:pt x="2160" y="13472"/>
                      <a:pt x="2168" y="13908"/>
                      <a:pt x="2223" y="15151"/>
                    </a:cubicBezTo>
                    <a:cubicBezTo>
                      <a:pt x="2263" y="15997"/>
                      <a:pt x="2376" y="16566"/>
                      <a:pt x="2580" y="17092"/>
                    </a:cubicBezTo>
                    <a:cubicBezTo>
                      <a:pt x="2764" y="17562"/>
                      <a:pt x="2980" y="17900"/>
                      <a:pt x="3338" y="18259"/>
                    </a:cubicBezTo>
                    <a:cubicBezTo>
                      <a:pt x="3702" y="18621"/>
                      <a:pt x="4040" y="18838"/>
                      <a:pt x="4505" y="19018"/>
                    </a:cubicBezTo>
                    <a:cubicBezTo>
                      <a:pt x="5038" y="19224"/>
                      <a:pt x="5606" y="19339"/>
                      <a:pt x="6449" y="19377"/>
                    </a:cubicBezTo>
                    <a:cubicBezTo>
                      <a:pt x="7641" y="19434"/>
                      <a:pt x="8058" y="19440"/>
                      <a:pt x="10800" y="19440"/>
                    </a:cubicBezTo>
                    <a:cubicBezTo>
                      <a:pt x="13472" y="19440"/>
                      <a:pt x="13908" y="19432"/>
                      <a:pt x="15151" y="19377"/>
                    </a:cubicBezTo>
                    <a:cubicBezTo>
                      <a:pt x="15996" y="19337"/>
                      <a:pt x="16565" y="19224"/>
                      <a:pt x="17092" y="19020"/>
                    </a:cubicBezTo>
                    <a:cubicBezTo>
                      <a:pt x="17560" y="18837"/>
                      <a:pt x="17900" y="18620"/>
                      <a:pt x="18259" y="18262"/>
                    </a:cubicBezTo>
                    <a:cubicBezTo>
                      <a:pt x="18622" y="17898"/>
                      <a:pt x="18840" y="17560"/>
                      <a:pt x="19019" y="17095"/>
                    </a:cubicBezTo>
                    <a:cubicBezTo>
                      <a:pt x="19224" y="16563"/>
                      <a:pt x="19339" y="15994"/>
                      <a:pt x="19377" y="15151"/>
                    </a:cubicBezTo>
                    <a:cubicBezTo>
                      <a:pt x="19434" y="13959"/>
                      <a:pt x="19440" y="13542"/>
                      <a:pt x="19440" y="10800"/>
                    </a:cubicBezTo>
                    <a:cubicBezTo>
                      <a:pt x="19440" y="8128"/>
                      <a:pt x="19432" y="7692"/>
                      <a:pt x="19377" y="6449"/>
                    </a:cubicBezTo>
                    <a:cubicBezTo>
                      <a:pt x="19337" y="5604"/>
                      <a:pt x="19224" y="5034"/>
                      <a:pt x="19019" y="4507"/>
                    </a:cubicBezTo>
                    <a:cubicBezTo>
                      <a:pt x="18856" y="4066"/>
                      <a:pt x="18597" y="3668"/>
                      <a:pt x="18260" y="3340"/>
                    </a:cubicBezTo>
                    <a:cubicBezTo>
                      <a:pt x="17933" y="3002"/>
                      <a:pt x="17534" y="2742"/>
                      <a:pt x="17093" y="2580"/>
                    </a:cubicBezTo>
                    <a:cubicBezTo>
                      <a:pt x="16564" y="2375"/>
                      <a:pt x="15996" y="2261"/>
                      <a:pt x="15151" y="2223"/>
                    </a:cubicBezTo>
                    <a:cubicBezTo>
                      <a:pt x="13959" y="2166"/>
                      <a:pt x="13542" y="2160"/>
                      <a:pt x="10800" y="2160"/>
                    </a:cubicBezTo>
                    <a:close/>
                    <a:moveTo>
                      <a:pt x="10800" y="0"/>
                    </a:moveTo>
                    <a:cubicBezTo>
                      <a:pt x="13734" y="0"/>
                      <a:pt x="14100" y="11"/>
                      <a:pt x="15252" y="65"/>
                    </a:cubicBezTo>
                    <a:cubicBezTo>
                      <a:pt x="16402" y="119"/>
                      <a:pt x="17185" y="299"/>
                      <a:pt x="17874" y="567"/>
                    </a:cubicBezTo>
                    <a:cubicBezTo>
                      <a:pt x="18587" y="841"/>
                      <a:pt x="19187" y="1213"/>
                      <a:pt x="19788" y="1812"/>
                    </a:cubicBezTo>
                    <a:cubicBezTo>
                      <a:pt x="20337" y="2352"/>
                      <a:pt x="20762" y="3005"/>
                      <a:pt x="21033" y="3726"/>
                    </a:cubicBezTo>
                    <a:cubicBezTo>
                      <a:pt x="21300" y="4414"/>
                      <a:pt x="21481" y="5198"/>
                      <a:pt x="21535" y="6348"/>
                    </a:cubicBezTo>
                    <a:cubicBezTo>
                      <a:pt x="21586" y="7500"/>
                      <a:pt x="21600" y="7866"/>
                      <a:pt x="21600" y="10800"/>
                    </a:cubicBezTo>
                    <a:cubicBezTo>
                      <a:pt x="21600" y="13734"/>
                      <a:pt x="21589" y="14100"/>
                      <a:pt x="21535" y="15252"/>
                    </a:cubicBezTo>
                    <a:cubicBezTo>
                      <a:pt x="21481" y="16402"/>
                      <a:pt x="21300" y="17185"/>
                      <a:pt x="21033" y="17874"/>
                    </a:cubicBezTo>
                    <a:cubicBezTo>
                      <a:pt x="20763" y="18595"/>
                      <a:pt x="20338" y="19248"/>
                      <a:pt x="19788" y="19788"/>
                    </a:cubicBezTo>
                    <a:cubicBezTo>
                      <a:pt x="19248" y="20337"/>
                      <a:pt x="18595" y="20762"/>
                      <a:pt x="17874" y="21033"/>
                    </a:cubicBezTo>
                    <a:cubicBezTo>
                      <a:pt x="17186" y="21300"/>
                      <a:pt x="16402" y="21481"/>
                      <a:pt x="15252" y="21535"/>
                    </a:cubicBezTo>
                    <a:cubicBezTo>
                      <a:pt x="14100" y="21586"/>
                      <a:pt x="13734" y="21600"/>
                      <a:pt x="10800" y="21600"/>
                    </a:cubicBezTo>
                    <a:cubicBezTo>
                      <a:pt x="7866" y="21600"/>
                      <a:pt x="7500" y="21589"/>
                      <a:pt x="6348" y="21535"/>
                    </a:cubicBezTo>
                    <a:cubicBezTo>
                      <a:pt x="5198" y="21481"/>
                      <a:pt x="4415" y="21300"/>
                      <a:pt x="3726" y="21033"/>
                    </a:cubicBezTo>
                    <a:cubicBezTo>
                      <a:pt x="3005" y="20762"/>
                      <a:pt x="2352" y="20337"/>
                      <a:pt x="1812" y="19788"/>
                    </a:cubicBezTo>
                    <a:cubicBezTo>
                      <a:pt x="1263" y="19248"/>
                      <a:pt x="838" y="18595"/>
                      <a:pt x="567" y="17874"/>
                    </a:cubicBezTo>
                    <a:cubicBezTo>
                      <a:pt x="299" y="17186"/>
                      <a:pt x="119" y="16402"/>
                      <a:pt x="65" y="15252"/>
                    </a:cubicBezTo>
                    <a:cubicBezTo>
                      <a:pt x="14" y="14100"/>
                      <a:pt x="0" y="13734"/>
                      <a:pt x="0" y="10800"/>
                    </a:cubicBezTo>
                    <a:cubicBezTo>
                      <a:pt x="0" y="7866"/>
                      <a:pt x="11" y="7500"/>
                      <a:pt x="65" y="6348"/>
                    </a:cubicBezTo>
                    <a:cubicBezTo>
                      <a:pt x="119" y="5197"/>
                      <a:pt x="299" y="4415"/>
                      <a:pt x="567" y="3726"/>
                    </a:cubicBezTo>
                    <a:cubicBezTo>
                      <a:pt x="837" y="3005"/>
                      <a:pt x="1262" y="2352"/>
                      <a:pt x="1812" y="1812"/>
                    </a:cubicBezTo>
                    <a:cubicBezTo>
                      <a:pt x="2352" y="1263"/>
                      <a:pt x="3005" y="838"/>
                      <a:pt x="3726" y="567"/>
                    </a:cubicBezTo>
                    <a:cubicBezTo>
                      <a:pt x="4415" y="299"/>
                      <a:pt x="5197" y="119"/>
                      <a:pt x="6348" y="65"/>
                    </a:cubicBezTo>
                    <a:cubicBezTo>
                      <a:pt x="7500" y="14"/>
                      <a:pt x="7866" y="0"/>
                      <a:pt x="10800" y="0"/>
                    </a:cubicBez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7" name="成组">
              <a:extLst>
                <a:ext uri="{FF2B5EF4-FFF2-40B4-BE49-F238E27FC236}">
                  <a16:creationId xmlns:a16="http://schemas.microsoft.com/office/drawing/2014/main" id="{FC31723D-28CC-4550-B846-02F84D98A140}"/>
                </a:ext>
              </a:extLst>
            </p:cNvPr>
            <p:cNvGrpSpPr/>
            <p:nvPr/>
          </p:nvGrpSpPr>
          <p:grpSpPr>
            <a:xfrm>
              <a:off x="5789464" y="6048085"/>
              <a:ext cx="338555" cy="338555"/>
              <a:chOff x="0" y="0"/>
              <a:chExt cx="457200" cy="457200"/>
            </a:xfrm>
          </p:grpSpPr>
          <p:sp>
            <p:nvSpPr>
              <p:cNvPr id="18" name="任意形状 801">
                <a:extLst>
                  <a:ext uri="{FF2B5EF4-FFF2-40B4-BE49-F238E27FC236}">
                    <a16:creationId xmlns:a16="http://schemas.microsoft.com/office/drawing/2014/main" id="{11DFE674-8B96-4ACE-98B6-587213F72CD8}"/>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9" name="任意形状 802">
                <a:extLst>
                  <a:ext uri="{FF2B5EF4-FFF2-40B4-BE49-F238E27FC236}">
                    <a16:creationId xmlns:a16="http://schemas.microsoft.com/office/drawing/2014/main" id="{76033BCF-7D42-441A-871C-81671DB7C658}"/>
                  </a:ext>
                </a:extLst>
              </p:cNvPr>
              <p:cNvSpPr/>
              <p:nvPr/>
            </p:nvSpPr>
            <p:spPr>
              <a:xfrm>
                <a:off x="56005" y="57130"/>
                <a:ext cx="363095" cy="342921"/>
              </a:xfrm>
              <a:custGeom>
                <a:avLst/>
                <a:gdLst/>
                <a:ahLst/>
                <a:cxnLst>
                  <a:cxn ang="0">
                    <a:pos x="wd2" y="hd2"/>
                  </a:cxn>
                  <a:cxn ang="5400000">
                    <a:pos x="wd2" y="hd2"/>
                  </a:cxn>
                  <a:cxn ang="10800000">
                    <a:pos x="wd2" y="hd2"/>
                  </a:cxn>
                  <a:cxn ang="16200000">
                    <a:pos x="wd2" y="hd2"/>
                  </a:cxn>
                </a:cxnLst>
                <a:rect l="0" t="0" r="r" b="b"/>
                <a:pathLst>
                  <a:path w="21599" h="21599" extrusionOk="0">
                    <a:moveTo>
                      <a:pt x="4533" y="2401"/>
                    </a:moveTo>
                    <a:cubicBezTo>
                      <a:pt x="4532" y="3726"/>
                      <a:pt x="3517" y="4800"/>
                      <a:pt x="2265" y="4799"/>
                    </a:cubicBezTo>
                    <a:cubicBezTo>
                      <a:pt x="1013" y="4799"/>
                      <a:pt x="-1" y="3724"/>
                      <a:pt x="0" y="2398"/>
                    </a:cubicBezTo>
                    <a:cubicBezTo>
                      <a:pt x="0" y="1073"/>
                      <a:pt x="1016" y="-1"/>
                      <a:pt x="2267" y="0"/>
                    </a:cubicBezTo>
                    <a:cubicBezTo>
                      <a:pt x="3519" y="0"/>
                      <a:pt x="4533" y="1075"/>
                      <a:pt x="4533" y="2401"/>
                    </a:cubicBezTo>
                    <a:close/>
                    <a:moveTo>
                      <a:pt x="4601" y="6576"/>
                    </a:moveTo>
                    <a:lnTo>
                      <a:pt x="68" y="6576"/>
                    </a:lnTo>
                    <a:lnTo>
                      <a:pt x="68" y="21599"/>
                    </a:lnTo>
                    <a:lnTo>
                      <a:pt x="4601" y="21599"/>
                    </a:lnTo>
                    <a:lnTo>
                      <a:pt x="4601" y="6576"/>
                    </a:lnTo>
                    <a:close/>
                    <a:moveTo>
                      <a:pt x="11763" y="6576"/>
                    </a:moveTo>
                    <a:lnTo>
                      <a:pt x="7252" y="6576"/>
                    </a:lnTo>
                    <a:lnTo>
                      <a:pt x="7252" y="21599"/>
                    </a:lnTo>
                    <a:lnTo>
                      <a:pt x="11717" y="21599"/>
                    </a:lnTo>
                    <a:lnTo>
                      <a:pt x="11717" y="13716"/>
                    </a:lnTo>
                    <a:cubicBezTo>
                      <a:pt x="11717" y="9324"/>
                      <a:pt x="17123" y="8916"/>
                      <a:pt x="17123" y="13716"/>
                    </a:cubicBezTo>
                    <a:lnTo>
                      <a:pt x="17123" y="21599"/>
                    </a:lnTo>
                    <a:lnTo>
                      <a:pt x="21599" y="21599"/>
                    </a:lnTo>
                    <a:lnTo>
                      <a:pt x="21599" y="12084"/>
                    </a:lnTo>
                    <a:cubicBezTo>
                      <a:pt x="21599" y="4680"/>
                      <a:pt x="13598" y="4956"/>
                      <a:pt x="11717" y="8592"/>
                    </a:cubicBezTo>
                    <a:lnTo>
                      <a:pt x="11763" y="6576"/>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20" name="成组">
              <a:extLst>
                <a:ext uri="{FF2B5EF4-FFF2-40B4-BE49-F238E27FC236}">
                  <a16:creationId xmlns:a16="http://schemas.microsoft.com/office/drawing/2014/main" id="{B63B867D-5FC1-48FB-A286-ECD16B6A7598}"/>
                </a:ext>
              </a:extLst>
            </p:cNvPr>
            <p:cNvGrpSpPr/>
            <p:nvPr/>
          </p:nvGrpSpPr>
          <p:grpSpPr>
            <a:xfrm>
              <a:off x="7636350" y="6054524"/>
              <a:ext cx="338555" cy="338555"/>
              <a:chOff x="0" y="0"/>
              <a:chExt cx="457200" cy="457200"/>
            </a:xfrm>
          </p:grpSpPr>
          <p:sp>
            <p:nvSpPr>
              <p:cNvPr id="21" name="任意形状 948">
                <a:extLst>
                  <a:ext uri="{FF2B5EF4-FFF2-40B4-BE49-F238E27FC236}">
                    <a16:creationId xmlns:a16="http://schemas.microsoft.com/office/drawing/2014/main" id="{1A83EFD6-C859-41C3-9A3F-4905AB36368B}"/>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22" name="任意形状 949">
                <a:extLst>
                  <a:ext uri="{FF2B5EF4-FFF2-40B4-BE49-F238E27FC236}">
                    <a16:creationId xmlns:a16="http://schemas.microsoft.com/office/drawing/2014/main" id="{3D671CC7-A4CA-428D-B847-0BB65DA92B29}"/>
                  </a:ext>
                </a:extLst>
              </p:cNvPr>
              <p:cNvSpPr/>
              <p:nvPr/>
            </p:nvSpPr>
            <p:spPr>
              <a:xfrm>
                <a:off x="38100" y="76200"/>
                <a:ext cx="381000" cy="304800"/>
              </a:xfrm>
              <a:custGeom>
                <a:avLst/>
                <a:gdLst/>
                <a:ahLst/>
                <a:cxnLst>
                  <a:cxn ang="0">
                    <a:pos x="wd2" y="hd2"/>
                  </a:cxn>
                  <a:cxn ang="5400000">
                    <a:pos x="wd2" y="hd2"/>
                  </a:cxn>
                  <a:cxn ang="10800000">
                    <a:pos x="wd2" y="hd2"/>
                  </a:cxn>
                  <a:cxn ang="16200000">
                    <a:pos x="wd2" y="hd2"/>
                  </a:cxn>
                </a:cxnLst>
                <a:rect l="0" t="0" r="r" b="b"/>
                <a:pathLst>
                  <a:path w="21600" h="21600" extrusionOk="0">
                    <a:moveTo>
                      <a:pt x="19014" y="4043"/>
                    </a:moveTo>
                    <a:cubicBezTo>
                      <a:pt x="18932" y="3641"/>
                      <a:pt x="18699" y="3337"/>
                      <a:pt x="18432" y="3244"/>
                    </a:cubicBezTo>
                    <a:cubicBezTo>
                      <a:pt x="17960" y="3078"/>
                      <a:pt x="15660" y="2700"/>
                      <a:pt x="10800" y="2700"/>
                    </a:cubicBezTo>
                    <a:cubicBezTo>
                      <a:pt x="5940" y="2700"/>
                      <a:pt x="3642" y="3078"/>
                      <a:pt x="3166" y="3244"/>
                    </a:cubicBezTo>
                    <a:cubicBezTo>
                      <a:pt x="2902" y="3336"/>
                      <a:pt x="2669" y="3640"/>
                      <a:pt x="2586" y="4043"/>
                    </a:cubicBezTo>
                    <a:cubicBezTo>
                      <a:pt x="2468" y="4616"/>
                      <a:pt x="2160" y="7015"/>
                      <a:pt x="2160" y="10800"/>
                    </a:cubicBezTo>
                    <a:cubicBezTo>
                      <a:pt x="2160" y="14585"/>
                      <a:pt x="2468" y="16983"/>
                      <a:pt x="2586" y="17558"/>
                    </a:cubicBezTo>
                    <a:cubicBezTo>
                      <a:pt x="2668" y="17959"/>
                      <a:pt x="2901" y="18263"/>
                      <a:pt x="3167" y="18355"/>
                    </a:cubicBezTo>
                    <a:cubicBezTo>
                      <a:pt x="3642" y="18522"/>
                      <a:pt x="5940" y="18900"/>
                      <a:pt x="10800" y="18900"/>
                    </a:cubicBezTo>
                    <a:cubicBezTo>
                      <a:pt x="15660" y="18900"/>
                      <a:pt x="17959" y="18522"/>
                      <a:pt x="18434" y="18356"/>
                    </a:cubicBezTo>
                    <a:cubicBezTo>
                      <a:pt x="18698" y="18264"/>
                      <a:pt x="18931" y="17960"/>
                      <a:pt x="19014" y="17557"/>
                    </a:cubicBezTo>
                    <a:cubicBezTo>
                      <a:pt x="19132" y="16984"/>
                      <a:pt x="19440" y="14580"/>
                      <a:pt x="19440" y="10800"/>
                    </a:cubicBezTo>
                    <a:cubicBezTo>
                      <a:pt x="19440" y="7020"/>
                      <a:pt x="19132" y="4617"/>
                      <a:pt x="19014" y="4043"/>
                    </a:cubicBezTo>
                    <a:close/>
                    <a:moveTo>
                      <a:pt x="21106" y="3372"/>
                    </a:moveTo>
                    <a:cubicBezTo>
                      <a:pt x="21600" y="5778"/>
                      <a:pt x="21600" y="10800"/>
                      <a:pt x="21600" y="10800"/>
                    </a:cubicBezTo>
                    <a:cubicBezTo>
                      <a:pt x="21600" y="10800"/>
                      <a:pt x="21600" y="15822"/>
                      <a:pt x="21106" y="18228"/>
                    </a:cubicBezTo>
                    <a:cubicBezTo>
                      <a:pt x="20832" y="19557"/>
                      <a:pt x="20030" y="20604"/>
                      <a:pt x="19013" y="20957"/>
                    </a:cubicBezTo>
                    <a:cubicBezTo>
                      <a:pt x="17168" y="21600"/>
                      <a:pt x="10800" y="21600"/>
                      <a:pt x="10800" y="21600"/>
                    </a:cubicBezTo>
                    <a:cubicBezTo>
                      <a:pt x="10800" y="21600"/>
                      <a:pt x="4436" y="21600"/>
                      <a:pt x="2587" y="20957"/>
                    </a:cubicBezTo>
                    <a:cubicBezTo>
                      <a:pt x="1566" y="20598"/>
                      <a:pt x="765" y="19553"/>
                      <a:pt x="494" y="18228"/>
                    </a:cubicBezTo>
                    <a:cubicBezTo>
                      <a:pt x="0" y="15822"/>
                      <a:pt x="0" y="10800"/>
                      <a:pt x="0" y="10800"/>
                    </a:cubicBezTo>
                    <a:cubicBezTo>
                      <a:pt x="0" y="10800"/>
                      <a:pt x="0" y="5778"/>
                      <a:pt x="494" y="3372"/>
                    </a:cubicBezTo>
                    <a:cubicBezTo>
                      <a:pt x="768" y="2043"/>
                      <a:pt x="1570" y="996"/>
                      <a:pt x="2587" y="643"/>
                    </a:cubicBezTo>
                    <a:cubicBezTo>
                      <a:pt x="4436" y="0"/>
                      <a:pt x="10800" y="0"/>
                      <a:pt x="10800" y="0"/>
                    </a:cubicBezTo>
                    <a:cubicBezTo>
                      <a:pt x="10800" y="0"/>
                      <a:pt x="17168" y="0"/>
                      <a:pt x="19013" y="643"/>
                    </a:cubicBezTo>
                    <a:cubicBezTo>
                      <a:pt x="20034" y="1002"/>
                      <a:pt x="20835" y="2047"/>
                      <a:pt x="21106" y="3372"/>
                    </a:cubicBezTo>
                    <a:close/>
                    <a:moveTo>
                      <a:pt x="8640" y="15525"/>
                    </a:moveTo>
                    <a:lnTo>
                      <a:pt x="8640" y="6075"/>
                    </a:lnTo>
                    <a:lnTo>
                      <a:pt x="15120" y="10800"/>
                    </a:lnTo>
                    <a:lnTo>
                      <a:pt x="8640" y="15525"/>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sp>
          <p:nvSpPr>
            <p:cNvPr id="25" name="Metin kutusu 22">
              <a:extLst>
                <a:ext uri="{FF2B5EF4-FFF2-40B4-BE49-F238E27FC236}">
                  <a16:creationId xmlns:a16="http://schemas.microsoft.com/office/drawing/2014/main" id="{C748A148-B949-4311-A66B-8EC60E011977}"/>
                </a:ext>
              </a:extLst>
            </p:cNvPr>
            <p:cNvSpPr txBox="1"/>
            <p:nvPr/>
          </p:nvSpPr>
          <p:spPr>
            <a:xfrm>
              <a:off x="6597611" y="6044369"/>
              <a:ext cx="1158646"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sp>
          <p:nvSpPr>
            <p:cNvPr id="26" name="Metin kutusu 22">
              <a:extLst>
                <a:ext uri="{FF2B5EF4-FFF2-40B4-BE49-F238E27FC236}">
                  <a16:creationId xmlns:a16="http://schemas.microsoft.com/office/drawing/2014/main" id="{7BA1B2C0-BDF4-4CE1-B2A8-469125958CF8}"/>
                </a:ext>
              </a:extLst>
            </p:cNvPr>
            <p:cNvSpPr txBox="1"/>
            <p:nvPr/>
          </p:nvSpPr>
          <p:spPr>
            <a:xfrm>
              <a:off x="7935260" y="6044369"/>
              <a:ext cx="1442533"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aselsantv</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grpSp>
    </p:spTree>
    <p:extLst>
      <p:ext uri="{BB962C8B-B14F-4D97-AF65-F5344CB8AC3E}">
        <p14:creationId xmlns:p14="http://schemas.microsoft.com/office/powerpoint/2010/main" val="1656005191"/>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YEDİ SANİYE: TRENE Mİ, DAYANIKLILIĞA MI?</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Ölçüm tek bir şey söylüyor: teknoloji 7 saniye veriyor. Nereye harcanacağı bir işletme kararı.</a:t>
            </a:r>
          </a:p>
          <a:p>
            <a:r>
              <a:rPr lang="tr-TR" dirty="0"/>
              <a:t>TRENE HARCARSAN</a:t>
            </a:r>
          </a:p>
          <a:p>
            <a:pPr lvl="1"/>
            <a:r>
              <a:rPr lang="tr-TR" dirty="0"/>
              <a:t>%9 daha fazla tren — ama yeni tarife, yeni diyagram, yeni roster</a:t>
            </a:r>
          </a:p>
          <a:p>
            <a:r>
              <a:rPr lang="tr-TR" dirty="0"/>
              <a:t>DAYANIKLILIĞA HARCARSAN</a:t>
            </a:r>
          </a:p>
          <a:p>
            <a:pPr lvl="1"/>
            <a:r>
              <a:rPr lang="tr-TR" dirty="0"/>
              <a:t>Aynı trenler, %16 daha az yayılan gecikme — yalnızca araç donanımı</a:t>
            </a:r>
          </a:p>
          <a:p>
            <a:r>
              <a:rPr lang="tr-TR" dirty="0"/>
              <a:t>UYGULANABİLİRLİK</a:t>
            </a:r>
          </a:p>
          <a:p>
            <a:pPr lvl="1"/>
            <a:r>
              <a:rPr lang="tr-TR" dirty="0"/>
              <a:t>Gerektirdikleri: V2V haberleşme, tren–tren koordinasyonu, araç üstü sistemler, ETCS L3 altyapısı</a:t>
            </a:r>
          </a:p>
          <a:p>
            <a:pPr lvl="1"/>
            <a:r>
              <a:rPr lang="tr-TR" dirty="0"/>
              <a:t>Bu çalışmada maliyet analizi yapılmadı; olası kazanç saha donanımına bağımlılığın azalmasıdır</a:t>
            </a:r>
          </a:p>
        </p:txBody>
      </p:sp>
    </p:spTree>
    <p:extLst>
      <p:ext uri="{BB962C8B-B14F-4D97-AF65-F5344CB8AC3E}">
        <p14:creationId xmlns:p14="http://schemas.microsoft.com/office/powerpoint/2010/main" val="4687884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HAREKET DENKLEMLERİ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HAREKET DENKLEMİ</a:t>
            </a:r>
          </a:p>
          <a:p>
            <a:pPr lvl="1"/>
            <a:r>
              <a:rPr lang="tr-TR" dirty="0"/>
              <a:t>m_eff · a  =  F(v)  −  R(v)  −  m · g · sin(θ)</a:t>
            </a:r>
          </a:p>
          <a:p>
            <a:pPr lvl="1"/>
            <a:r>
              <a:rPr lang="tr-TR" dirty="0"/>
              <a:t>m_eff = m · 1.08   —   dönen kütlelerin eylemsizliği</a:t>
            </a:r>
          </a:p>
          <a:p>
            <a:pPr lvl="1"/>
            <a:r>
              <a:rPr lang="tr-TR" dirty="0"/>
              <a:t>F(v) = F₀   (v ≤ v_taban)          F(v) = P / v   (v &gt; v_taban)</a:t>
            </a:r>
          </a:p>
          <a:p>
            <a:r>
              <a:rPr lang="tr-TR" b="1" dirty="0"/>
              <a:t>DİRENÇ — DAVIS</a:t>
            </a:r>
          </a:p>
          <a:p>
            <a:pPr lvl="1"/>
            <a:r>
              <a:rPr lang="tr-TR" dirty="0"/>
              <a:t>R(v)  =  A  +  B·v  +  C·v²          [N,  v m/s]</a:t>
            </a:r>
          </a:p>
          <a:p>
            <a:pPr lvl="1"/>
            <a:r>
              <a:rPr lang="tr-TR" dirty="0"/>
              <a:t>A, B kütleyle ölçeklenir   ·   C trenin uzunluğuyla</a:t>
            </a:r>
          </a:p>
          <a:p>
            <a:r>
              <a:rPr lang="tr-TR" b="1" dirty="0"/>
              <a:t>FREN</a:t>
            </a:r>
          </a:p>
          <a:p>
            <a:pPr lvl="1"/>
            <a:r>
              <a:rPr lang="tr-TR" dirty="0"/>
              <a:t>b(θ)  =  min(b_talep , μ·g)  +  g · sin(θ) · m / m_eff</a:t>
            </a:r>
          </a:p>
          <a:p>
            <a:pPr lvl="1"/>
            <a:r>
              <a:rPr lang="tr-TR" dirty="0"/>
              <a:t>d_fren  =  v₀² / 2b(θ)</a:t>
            </a:r>
          </a:p>
          <a:p>
            <a:r>
              <a:rPr lang="tr-TR" b="1" dirty="0"/>
              <a:t>HAREKET YETKİSİ</a:t>
            </a:r>
          </a:p>
          <a:p>
            <a:pPr lvl="1"/>
            <a:r>
              <a:rPr lang="tr-TR" dirty="0"/>
              <a:t>D  =  v₀·t_tepki  +  ½·v₀·t_buildup  +  v₀² / 2b(θ)  +  d_pay</a:t>
            </a:r>
          </a:p>
        </p:txBody>
      </p:sp>
    </p:spTree>
    <p:extLst>
      <p:ext uri="{BB962C8B-B14F-4D97-AF65-F5344CB8AC3E}">
        <p14:creationId xmlns:p14="http://schemas.microsoft.com/office/powerpoint/2010/main" val="6055742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FREN MESAFESİ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80 km/h'ten duruşa, servis freni, düz hat:   269 m,   23 s.</a:t>
            </a:r>
          </a:p>
          <a:p>
            <a:r>
              <a:rPr lang="tr-TR" b="1" dirty="0"/>
              <a:t>Binde 15 inişte 301 m · acil frenle 197 m. Fren jerk sınırıyla 2 saniyede kuruluyor — eğrinin başı bu yüzden yayvan.</a:t>
            </a:r>
          </a:p>
        </p:txBody>
      </p:sp>
      <p:pic>
        <p:nvPicPr>
          <p:cNvPr id="4" name="Fren"/>
          <p:cNvPicPr>
            <a:picLocks noChangeAspect="1"/>
          </p:cNvPicPr>
          <p:nvPr/>
        </p:nvPicPr>
        <p:blipFill>
          <a:blip r:embed="rId2"/>
          <a:stretch>
            <a:fillRect/>
          </a:stretch>
        </p:blipFill>
        <p:spPr>
          <a:xfrm>
            <a:off x="550401" y="2400000"/>
            <a:ext cx="11060718" cy="330000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HIZLANMA</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Taban hıza kadar sabit kuvvet (233 kN), üstünde sabit güç (2333 kW / v).</a:t>
            </a:r>
          </a:p>
          <a:p>
            <a:r>
              <a:rPr lang="tr-TR" b="1" dirty="0"/>
              <a:t>Duruştan 80 km/h'e:   31 s,   392 m.   Direnç 80 km/h'te 3.9 kN — çekinin %4'ü.</a:t>
            </a:r>
          </a:p>
        </p:txBody>
      </p:sp>
      <p:pic>
        <p:nvPicPr>
          <p:cNvPr id="4" name="Hizlanma"/>
          <p:cNvPicPr>
            <a:picLocks noChangeAspect="1"/>
          </p:cNvPicPr>
          <p:nvPr/>
        </p:nvPicPr>
        <p:blipFill>
          <a:blip r:embed="rId2"/>
          <a:stretch>
            <a:fillRect/>
          </a:stretch>
        </p:blipFill>
        <p:spPr>
          <a:xfrm>
            <a:off x="1813665" y="2400000"/>
            <a:ext cx="8534190" cy="3299999"/>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EĞİMLİ VARYANT</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Aynı çevrim, gerçekçi bir eğim profiliyle: ruling gradient 15‰, tur boyunca toplamı sıfır.</a:t>
            </a:r>
          </a:p>
          <a:p>
            <a:r>
              <a:rPr lang="tr-TR" b="1" dirty="0"/>
              <a:t>Eğim tur süresine 3 saniye ekliyor, fren mesafesine 39 metre. Zaman değil, pay yiyor.</a:t>
            </a:r>
          </a:p>
        </p:txBody>
      </p:sp>
      <p:pic>
        <p:nvPicPr>
          <p:cNvPr id="4" name="Egim"/>
          <p:cNvPicPr>
            <a:picLocks noChangeAspect="1"/>
          </p:cNvPicPr>
          <p:nvPr/>
        </p:nvPicPr>
        <p:blipFill>
          <a:blip r:embed="rId2"/>
          <a:stretch>
            <a:fillRect/>
          </a:stretch>
        </p:blipFill>
        <p:spPr>
          <a:xfrm>
            <a:off x="477547" y="2400000"/>
            <a:ext cx="11206426" cy="3299999"/>
          </a:xfrm>
          <a:prstGeom prst="rect">
            <a:avLst/>
          </a:prstGeom>
        </p:spPr>
      </p:pic>
    </p:spTree>
    <p:extLst>
      <p:ext uri="{BB962C8B-B14F-4D97-AF65-F5344CB8AC3E}">
        <p14:creationId xmlns:p14="http://schemas.microsoft.com/office/powerpoint/2010/main" val="605574245"/>
      </p:ext>
    </p:extLst>
  </p:cSld>
  <p:clrMapOvr>
    <a:masterClrMapping/>
  </p:clrMapOvr>
</p:sld>
</file>

<file path=ppt/theme/theme1.xml><?xml version="1.0" encoding="utf-8"?>
<a:theme xmlns:a="http://schemas.openxmlformats.org/drawingml/2006/main" name="Office Teması">
  <a:themeElements>
    <a:clrScheme name="Custom 3">
      <a:dk1>
        <a:srgbClr val="3F3F3F"/>
      </a:dk1>
      <a:lt1>
        <a:srgbClr val="FFFFFF"/>
      </a:lt1>
      <a:dk2>
        <a:srgbClr val="003087"/>
      </a:dk2>
      <a:lt2>
        <a:srgbClr val="F7931D"/>
      </a:lt2>
      <a:accent1>
        <a:srgbClr val="003087"/>
      </a:accent1>
      <a:accent2>
        <a:srgbClr val="F7931D"/>
      </a:accent2>
      <a:accent3>
        <a:srgbClr val="0088EE"/>
      </a:accent3>
      <a:accent4>
        <a:srgbClr val="0070C0"/>
      </a:accent4>
      <a:accent5>
        <a:srgbClr val="C76F07"/>
      </a:accent5>
      <a:accent6>
        <a:srgbClr val="FABE77"/>
      </a:accent6>
      <a:hlink>
        <a:srgbClr val="003087"/>
      </a:hlink>
      <a:folHlink>
        <a:srgbClr val="F7931D"/>
      </a:folHlink>
    </a:clrScheme>
    <a:fontScheme name="UGES">
      <a:majorFont>
        <a:latin typeface="Posterama"/>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51addbf6-cd97-4f3e-bcc7-a2381a20af9f">AKVJQPKRQQH7-344864422-405</_dlc_DocId>
    <_dlc_DocIdUrl xmlns="51addbf6-cd97-4f3e-bcc7-a2381a20af9f">
      <Url>https://ebilgi.aselsan.com.tr/gnysite/fbyon/kim/_layouts/15/DocIdRedir.aspx?ID=AKVJQPKRQQH7-344864422-405</Url>
      <Description>AKVJQPKRQQH7-344864422-405</Description>
    </_dlc_DocIdUrl>
    <PublishingExpirationDate xmlns="http://schemas.microsoft.com/sharepoint/v3" xsi:nil="true"/>
    <PublishingStartDate xmlns="http://schemas.microsoft.com/sharepoint/v3" xsi:nil="true"/>
    <SharedWithUsers xmlns="800cdfac-3bb6-46ea-8cac-b3a86bc27941">
      <UserInfo>
        <DisplayName>Evrim Ayşen ANIL</DisplayName>
        <AccountId>13715</AccountId>
        <AccountType/>
      </UserInfo>
      <UserInfo>
        <DisplayName>Başak NALBANTOĞLU</DisplayName>
        <AccountId>18177</AccountId>
        <AccountType/>
      </UserInfo>
      <UserInfo>
        <DisplayName>Can Onur GERGER</DisplayName>
        <AccountId>917</AccountId>
        <AccountType/>
      </UserInfo>
      <UserInfo>
        <DisplayName>Battal ACAR</DisplayName>
        <AccountId>25627</AccountId>
        <AccountType/>
      </UserInfo>
      <UserInfo>
        <DisplayName>Ali KÜÇÜKÖZKUL</DisplayName>
        <AccountId>19562</AccountId>
        <AccountType/>
      </UserInfo>
      <UserInfo>
        <DisplayName>Yasin DEMİR</DisplayName>
        <AccountId>19432</AccountId>
        <AccountType/>
      </UserInfo>
      <UserInfo>
        <DisplayName>Oğuzhan DAŞTAN</DisplayName>
        <AccountId>29242</AccountId>
        <AccountType/>
      </UserInfo>
      <UserInfo>
        <DisplayName>Ali Serhat YILMAZ</DisplayName>
        <AccountId>20754</AccountId>
        <AccountType/>
      </UserInfo>
      <UserInfo>
        <DisplayName>Esra AYTEPE</DisplayName>
        <AccountId>22559</AccountId>
        <AccountType/>
      </UserInfo>
      <UserInfo>
        <DisplayName>İbrahim Can TEMİZ</DisplayName>
        <AccountId>31643</AccountId>
        <AccountType/>
      </UserInfo>
      <UserInfo>
        <DisplayName>Ulaş ARSLAN</DisplayName>
        <AccountId>3654</AccountId>
        <AccountType/>
      </UserInfo>
      <UserInfo>
        <DisplayName>İsmail YURDAKUL</DisplayName>
        <AccountId>27629</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FBD396816AEB941A00F4DC137BAFD8F" ma:contentTypeVersion="3" ma:contentTypeDescription="Create a new document." ma:contentTypeScope="" ma:versionID="52e952c5ef54db361ac247bb5c84aeac">
  <xsd:schema xmlns:xsd="http://www.w3.org/2001/XMLSchema" xmlns:xs="http://www.w3.org/2001/XMLSchema" xmlns:p="http://schemas.microsoft.com/office/2006/metadata/properties" xmlns:ns1="http://schemas.microsoft.com/sharepoint/v3" xmlns:ns2="51addbf6-cd97-4f3e-bcc7-a2381a20af9f" xmlns:ns3="800cdfac-3bb6-46ea-8cac-b3a86bc27941" targetNamespace="http://schemas.microsoft.com/office/2006/metadata/properties" ma:root="true" ma:fieldsID="3ee15cf3b5c84fd0120f2521fd1ca569" ns1:_="" ns2:_="" ns3:_="">
    <xsd:import namespace="http://schemas.microsoft.com/sharepoint/v3"/>
    <xsd:import namespace="51addbf6-cd97-4f3e-bcc7-a2381a20af9f"/>
    <xsd:import namespace="800cdfac-3bb6-46ea-8cac-b3a86bc27941"/>
    <xsd:element name="properties">
      <xsd:complexType>
        <xsd:sequence>
          <xsd:element name="documentManagement">
            <xsd:complexType>
              <xsd:all>
                <xsd:element ref="ns2:_dlc_DocId" minOccurs="0"/>
                <xsd:element ref="ns2:_dlc_DocIdUrl" minOccurs="0"/>
                <xsd:element ref="ns2:_dlc_DocIdPersistId" minOccurs="0"/>
                <xsd:element ref="ns1:PublishingStartDate" minOccurs="0"/>
                <xsd:element ref="ns1:PublishingExpirationDate"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11" nillable="true" ma:displayName="Scheduling Start Date" ma:description="" ma:hidden="true" ma:internalName="PublishingStartDate">
      <xsd:simpleType>
        <xsd:restriction base="dms:Unknown"/>
      </xsd:simpleType>
    </xsd:element>
    <xsd:element name="PublishingExpirationDate" ma:index="12" nillable="true" ma:displayName="Scheduling End Date" ma:description=""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1addbf6-cd97-4f3e-bcc7-a2381a20af9f"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800cdfac-3bb6-46ea-8cac-b3a86bc27941"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titus xmlns="http://schemas.titus.com/TitusProperties/">
  <TitusGUID xmlns="">d45359ed-079b-4ac9-b049-57dad483a8a6</TitusGUID>
  <TitusMetadata xmlns="">eyJucyI6IkFTRUxTQU4iLCJwcm9wcyI6W3sibiI6IkxBTkdVQUdFIiwidmFscyI6W3sidmFsdWUiOiJUUiJ9XX0seyJuIjoiQ0FURUdPUlkiLCJ2YWxzIjpbeyJ2YWx1ZSI6IkNUMSJ9XX0seyJuIjoiTUlMTElDTEFTU0lGSUNBVElPTiIsInZhbHMiOlt7InZhbHVlIjoiQXMwMm10OVF5In1dfSx7Im4iOiJOQVRPQ0xBU1NJRklDQVRJT04iLCJ2YWxzIjpbXX0seyJuIjoiS1ZLSyIsInZhbHMiOlt7InZhbHVlIjoiQTY1dmVFN0FLIn1dfSx7Im4iOiJMQUJFTElORyIsInZhbHMiOlt7InZhbHVlIjoiTGFiZWxpbmcyIn1dfV19</TitusMetadata>
</titus>
</file>

<file path=customXml/itemProps1.xml><?xml version="1.0" encoding="utf-8"?>
<ds:datastoreItem xmlns:ds="http://schemas.openxmlformats.org/officeDocument/2006/customXml" ds:itemID="{DE7B94FA-DB44-42E5-86CF-1299DE871408}">
  <ds:schemaRefs>
    <ds:schemaRef ds:uri="http://schemas.microsoft.com/sharepoint/events"/>
  </ds:schemaRefs>
</ds:datastoreItem>
</file>

<file path=customXml/itemProps2.xml><?xml version="1.0" encoding="utf-8"?>
<ds:datastoreItem xmlns:ds="http://schemas.openxmlformats.org/officeDocument/2006/customXml" ds:itemID="{C709281E-227A-43E0-BF29-1716AB5499AA}">
  <ds:schemaRefs>
    <ds:schemaRef ds:uri="http://www.w3.org/XML/1998/namespace"/>
    <ds:schemaRef ds:uri="http://schemas.openxmlformats.org/package/2006/metadata/core-properties"/>
    <ds:schemaRef ds:uri="http://schemas.microsoft.com/office/2006/metadata/properties"/>
    <ds:schemaRef ds:uri="http://purl.org/dc/dcmitype/"/>
    <ds:schemaRef ds:uri="51addbf6-cd97-4f3e-bcc7-a2381a20af9f"/>
    <ds:schemaRef ds:uri="http://purl.org/dc/elements/1.1/"/>
    <ds:schemaRef ds:uri="http://schemas.microsoft.com/office/2006/documentManagement/types"/>
    <ds:schemaRef ds:uri="http://purl.org/dc/terms/"/>
    <ds:schemaRef ds:uri="http://schemas.microsoft.com/office/infopath/2007/PartnerControls"/>
    <ds:schemaRef ds:uri="800cdfac-3bb6-46ea-8cac-b3a86bc27941"/>
    <ds:schemaRef ds:uri="http://schemas.microsoft.com/sharepoint/v3"/>
  </ds:schemaRefs>
</ds:datastoreItem>
</file>

<file path=customXml/itemProps3.xml><?xml version="1.0" encoding="utf-8"?>
<ds:datastoreItem xmlns:ds="http://schemas.openxmlformats.org/officeDocument/2006/customXml" ds:itemID="{78E85DD4-F03E-44EB-8DE4-4DD7C8B080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1addbf6-cd97-4f3e-bcc7-a2381a20af9f"/>
    <ds:schemaRef ds:uri="800cdfac-3bb6-46ea-8cac-b3a86bc279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BC776708-A014-4D09-84CC-31521924571B}">
  <ds:schemaRefs>
    <ds:schemaRef ds:uri="http://schemas.microsoft.com/sharepoint/v3/contenttype/forms"/>
  </ds:schemaRefs>
</ds:datastoreItem>
</file>

<file path=customXml/itemProps5.xml><?xml version="1.0" encoding="utf-8"?>
<ds:datastoreItem xmlns:ds="http://schemas.openxmlformats.org/officeDocument/2006/customXml" ds:itemID="{874ECE91-D256-41A1-98BD-156FDEEA250B}">
  <ds:schemaRefs>
    <ds:schemaRef ds:uri="http://schemas.titus.com/TitusProperties/"/>
    <ds:schemaRef ds:uri=""/>
  </ds:schemaRefs>
</ds:datastoreItem>
</file>

<file path=docProps/app.xml><?xml version="1.0" encoding="utf-8"?>
<Properties xmlns="http://schemas.openxmlformats.org/officeDocument/2006/extended-properties" xmlns:vt="http://schemas.openxmlformats.org/officeDocument/2006/docPropsVTypes">
  <Template/>
  <TotalTime>16526</TotalTime>
  <Words>1807</Words>
  <Application>Microsoft Office PowerPoint</Application>
  <PresentationFormat>Widescreen</PresentationFormat>
  <Paragraphs>182</Paragraphs>
  <Slides>18</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Segoe UI Black</vt:lpstr>
      <vt:lpstr>Calibri</vt:lpstr>
      <vt:lpstr>Segoe UI Semilight</vt:lpstr>
      <vt:lpstr>Source Sans Pro</vt:lpstr>
      <vt:lpstr>Segoe UI</vt:lpstr>
      <vt:lpstr>Posterama</vt:lpstr>
      <vt:lpstr>Arial</vt:lpstr>
      <vt:lpstr>Office Teması</vt:lpstr>
      <vt:lpstr>PowerPoint Presentation</vt:lpstr>
      <vt:lpstr>NEDEN BU SUNUM HAZIRLANDI</vt:lpstr>
      <vt:lpstr>PowerPoint Presentation</vt:lpstr>
      <vt:lpstr>Problem ve amaç</vt:lpstr>
      <vt:lpstr>LİTERATÜR TARAMASI  </vt:lpstr>
      <vt:lpstr>QUAGLIETTA vd. (2020) </vt:lpstr>
      <vt:lpstr>AOUN vd. (2021) </vt:lpstr>
      <vt:lpstr>SİNYALİZASYON SİSTEMLERİ  </vt:lpstr>
      <vt:lpstr>Demiryolu modeli</vt:lpstr>
      <vt:lpstr>Tren modelİ</vt:lpstr>
      <vt:lpstr>SİMÜLASYON ORTAMI  </vt:lpstr>
      <vt:lpstr>EXPRESS ROTA</vt:lpstr>
      <vt:lpstr>DURAKLAMALI ROTA</vt:lpstr>
      <vt:lpstr>BOZUCU ETKİLERE TEPKİ</vt:lpstr>
      <vt:lpstr>KONVOY DAVRANIŞINI ARTTIRMA</vt:lpstr>
      <vt:lpstr>SONUÇLAR VE ÇIKARIMLAR</vt:lpstr>
      <vt:lpstr>KAYNAKLAR </vt:lpstr>
      <vt:lpstr>PowerPoint Presentation</vt:lpstr>
    </vt:vector>
  </TitlesOfParts>
  <Manager>ASELSAN</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ASELSAN</dc:title>
  <dc:subject>ASELSAN</dc:subject>
  <dc:creator>Cemil Seyis</dc:creator>
  <cp:keywords/>
  <cp:lastModifiedBy>Recepcan Yetimoğlu</cp:lastModifiedBy>
  <cp:revision>417</cp:revision>
  <cp:lastPrinted>2024-07-04T05:35:52Z</cp:lastPrinted>
  <dcterms:created xsi:type="dcterms:W3CDTF">2022-10-12T20:35:02Z</dcterms:created>
  <dcterms:modified xsi:type="dcterms:W3CDTF">2026-09-10T03:15:10Z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d45359ed-079b-4ac9-b049-57dad483a8a6</vt:lpwstr>
  </property>
  <property fmtid="{D5CDD505-2E9C-101B-9397-08002B2CF9AE}" pid="3" name="LANGUAGE">
    <vt:lpwstr>TR</vt:lpwstr>
  </property>
  <property fmtid="{D5CDD505-2E9C-101B-9397-08002B2CF9AE}" pid="4" name="CATEGORY">
    <vt:lpwstr>CT1</vt:lpwstr>
  </property>
  <property fmtid="{D5CDD505-2E9C-101B-9397-08002B2CF9AE}" pid="5" name="MILLICLASSIFICATION">
    <vt:lpwstr>As02mt9Qy</vt:lpwstr>
  </property>
  <property fmtid="{D5CDD505-2E9C-101B-9397-08002B2CF9AE}" pid="6" name="KVKK">
    <vt:lpwstr>A65veE7AK</vt:lpwstr>
  </property>
  <property fmtid="{D5CDD505-2E9C-101B-9397-08002B2CF9AE}" pid="7" name="LABELING">
    <vt:lpwstr>Labeling2</vt:lpwstr>
  </property>
  <property fmtid="{D5CDD505-2E9C-101B-9397-08002B2CF9AE}" pid="8" name="ContentTypeId">
    <vt:lpwstr>0x0101003FBD396816AEB941A00F4DC137BAFD8F</vt:lpwstr>
  </property>
  <property fmtid="{D5CDD505-2E9C-101B-9397-08002B2CF9AE}" pid="9" name="_dlc_DocIdItemGuid">
    <vt:lpwstr>ff3a9f1a-72b0-465a-878a-5d88f7976d6a</vt:lpwstr>
  </property>
</Properties>
</file>