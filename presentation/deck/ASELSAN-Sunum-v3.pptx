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5"/>
  </p:notesMasterIdLst>
  <p:handoutMasterIdLst>
    <p:handoutMasterId r:id="rId26"/>
  </p:handoutMasterIdLst>
  <p:sldIdLst>
    <p:sldId id="300" r:id="rId7"/>
    <p:sldId id="3458" r:id="rId9"/>
    <p:sldId id="3481" r:id="rId8"/>
    <p:sldId id="3485" r:id="rId15"/>
    <p:sldId id="3483" r:id="rId11"/>
    <p:sldId id="3484" r:id="rId14"/>
    <p:sldId id="3486" r:id="rId16"/>
    <p:sldId id="3497" r:id="rId48"/>
    <p:sldId id="3487" r:id="rId17"/>
    <p:sldId id="3488" r:id="rId18"/>
    <p:sldId id="3489" r:id="rId19"/>
    <p:sldId id="3490" r:id="rId20"/>
    <p:sldId id="3491" r:id="rId21"/>
    <p:sldId id="3496" r:id="rId47"/>
    <p:sldId id="3492" r:id="rId22"/>
    <p:sldId id="3498" r:id="rId49"/>
    <p:sldId id="3495" r:id="rId23"/>
    <p:sldId id="302" r:id="rId24"/>
  </p:sldIdLst>
  <p:sldSz cx="12192000" cy="6858000"/>
  <p:notesSz cx="6797675" cy="9926638"/>
  <p:embeddedFontLst>
    <p:embeddedFont>
      <p:font typeface="Posterama" panose="020B0504020200020000" pitchFamily="34" charset="0"/>
      <p:regular r:id="rId27"/>
      <p:bold r:id="rId28"/>
      <p:italic r:id="rId29"/>
      <p:boldItalic r:id="rId30"/>
    </p:embeddedFont>
    <p:embeddedFont>
      <p:font typeface="Segoe UI" panose="020B0502040204020203" pitchFamily="34" charset="0"/>
      <p:regular r:id="rId31"/>
      <p:bold r:id="rId32"/>
      <p:italic r:id="rId33"/>
      <p:boldItalic r:id="rId34"/>
    </p:embeddedFont>
    <p:embeddedFont>
      <p:font typeface="Segoe UI Black" panose="020B0A02040204020203" pitchFamily="34" charset="0"/>
      <p:bold r:id="rId35"/>
      <p:boldItalic r:id="rId36"/>
    </p:embeddedFont>
    <p:embeddedFont>
      <p:font typeface="Segoe UI Semilight" panose="020B0402040204020203" pitchFamily="34" charset="0"/>
      <p:regular r:id="rId37"/>
      <p:italic r:id="rId38"/>
    </p:embeddedFont>
    <p:embeddedFont>
      <p:font typeface="Source Sans Pro" panose="020B0503030403020204" pitchFamily="34" charset="0"/>
      <p:regular r:id="rId39"/>
      <p:bold r:id="rId40"/>
      <p:italic r:id="rId41"/>
      <p:boldItalic r:id="rId42"/>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81"/>
            <p14:sldId id="3458"/>
            <p14:sldId id="3482"/>
            <p14:sldId id="3483"/>
            <p14:sldId id="3493"/>
            <p14:sldId id="3494"/>
            <p14:sldId id="3484"/>
            <p14:sldId id="3485"/>
            <p14:sldId id="3486"/>
            <p14:sldId id="3487"/>
            <p14:sldId id="3488"/>
            <p14:sldId id="3489"/>
            <p14:sldId id="3490"/>
            <p14:sldId id="3491"/>
            <p14:sldId id="3492"/>
            <p14:sldId id="3495"/>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autoAdjust="0"/>
    <p:restoredTop sz="96410" autoAdjust="0"/>
  </p:normalViewPr>
  <p:slideViewPr>
    <p:cSldViewPr snapToGrid="0">
      <p:cViewPr varScale="1">
        <p:scale>
          <a:sx n="75" d="100"/>
          <a:sy n="75" d="100"/>
        </p:scale>
        <p:origin x="984"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11.xml"/><Relationship Id="rId48" Type="http://schemas.openxmlformats.org/officeDocument/2006/relationships/slide" Target="slides/slide12.xml"/><Relationship Id="rId49"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10.09.2026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10.09.2026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bir literatur derlemesi degil: simulator staj boyunca sifirdan yazildi. Icinde tren dinamigi, surucu modeli, uc sinyalizasyon sistemi, kilitleme ve tarife var.</a:t>
            </a:r>
          </a:p>
          <a:p>
            <a:r>
              <a:rPr lang="tr-TR" dirty="0"/>
              <a:t>Neden onemli: kapasiteyi arttirmanin klasik yolu yeni hat veya yeni peron yapmak, ikisi de pahali ve yavas. Sinyalizasyon degistirmek ayni altyapidan daha fazla tren gecirmenin en ucuz yolu olarak one suruluyor - bu calisma o iddiayi olcuyor.</a:t>
            </a:r>
          </a:p>
          <a:p>
            <a:r>
              <a:rPr lang="tr-TR" dirty="0"/>
              <a:t>Sunumda gordugunuz her sayi bir kosunun ciktisi ve komutu depodaki COMMANDS.md'de yazili; hicbiri literaturden alinmadi.</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18</a:t>
            </a:fld>
            <a:endParaRPr lang="tr-TR"/>
          </a:p>
        </p:txBody>
      </p:sp>
    </p:spTree>
    <p:extLst>
      <p:ext uri="{BB962C8B-B14F-4D97-AF65-F5344CB8AC3E}">
        <p14:creationId xmlns:p14="http://schemas.microsoft.com/office/powerpoint/2010/main" val="306521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PANEL sik yapilan bir hatayi duzeltiyor. Cizilen sey bir fren mesafesi degil, surucunun ayirdigi toplam yol:</a:t>
            </a:r>
          </a:p>
          <a:p>
            <a:r>
              <a:rPr lang="tr-TR" dirty="0"/>
              <a:t>  tepki suresi 2 s -&gt; 44 m (tren hala tam hizda)</a:t>
            </a:r>
          </a:p>
          <a:p>
            <a:r>
              <a:rPr lang="tr-TR" dirty="0"/>
              <a:t>  fren kabarmasi   -&gt; 22 m (havanin hareket etmesi gerekiyor)</a:t>
            </a:r>
          </a:p>
          <a:p>
            <a:r>
              <a:rPr lang="tr-TR" dirty="0"/>
              <a:t>  fren egrisi      -&gt; 247 m</a:t>
            </a:r>
          </a:p>
          <a:p>
            <a:r>
              <a:rPr lang="tr-TR" dirty="0"/>
              <a:t>  emniyet payi     -&gt; 25 m</a:t>
            </a:r>
          </a:p>
          <a:p>
            <a:r>
              <a:rPr lang="tr-TR" dirty="0"/>
              <a:t>  TOPLAM           -&gt; 339 m.  Fren mesafesi bunun %73'u.</a:t>
            </a:r>
          </a:p>
          <a:p>
            <a:r>
              <a:rPr lang="tr-TR" dirty="0"/>
              <a:t>Dogrulama: surucunun planladigi sabit oranli egri 338.6 m diyor, jerk sinirli gercek hareketi integre ettigimde 337.9 m cikiyor. 0.7 metre. Kabarma payi tam olarak jerkin maliyetini karsilamak icin var ve dogru boyutta.</a:t>
            </a:r>
          </a:p>
          <a:p>
            <a:r>
              <a:rPr lang="tr-TR" dirty="0"/>
              <a:t>ORTA PANEL: 3.1 km'lik bir istasyon araligi. 164 saniye, ortalama 68 km/h. Kirilma noktasi taban hiz.</a:t>
            </a:r>
          </a:p>
          <a:p>
            <a:r>
              <a:rPr lang="tr-TR" dirty="0"/>
              <a:t>SAG PANEL: ayni seyahatin ivmesi. Seyirde sifir - surucu hizi tutuyor, tam guc istemiyor. Buyutec fren devreye girisini gosteriyor: 0'dan -1.0 m/s²'ye jerk siniri yuzunden 2 saniyede iniyor, bir adimda degil. Grafikte hicbir yerde ani ivme sicramasi yok, cunku modelde de yok.</a:t>
            </a:r>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SABIT BLOK: hat sabit parcalara bolunmus, on tren hangi bloktaysa o blok kapali. Tren blogun neresinde olursa olsun bir blok boyu kaybediyorsun - burada 900 m.</a:t>
            </a:r>
          </a:p>
          <a:p>
            <a:r>
              <a:rPr lang="tr-TR" dirty="0"/>
              <a:t>HAREKETLI BLOK (ETCS L3): blok yok. Yetki, on trenin gercek arkasinin 100 m gerisinde bitiyor ve tren oraya durabilecegi hizla yaklasiyor. Buna MUTLAK fren mesafesi denir: ondeki tren duvara carpmis gibi aninda duruyor varsayilir.</a:t>
            </a:r>
          </a:p>
          <a:p>
            <a:r>
              <a:rPr lang="tr-TR" dirty="0"/>
              <a:t>SANAL KUPLAJ: ondeki trenin de fren yapacagi varsayilir, yani gereken sey iki fren mesafesinin FARKI. NISPI fren mesafesi. Kazancin kaynagi bu - ve riski de bu: onde giden trenin freni dogrulanamaz, ve raydan cikan bir tren aninda durur. Aoun'un %45 guvenlik agirligi tam olarak bu belirsizligi olcuyor.</a:t>
            </a:r>
          </a:p>
          <a:p>
            <a:r>
              <a:rPr lang="tr-TR" dirty="0"/>
              <a:t>Kazancin buyuklugu hiza bagli: kabaca v/2 x (1/b - 1/b_acil), bu arac icin 0.17v. 80 km/h'te 3.7 saniye, duran trende sifir. Duraklamali bir hatta kazancin neden kucuk kaldigini bu tek satir aciklıyor.</a:t>
            </a:r>
          </a:p>
          <a:p>
            <a:r>
              <a:rPr lang="tr-TR" dirty="0"/>
              <a:t>ONERI - BURAYA GIF: uc sistemin ayni ani, yan yana. Sabit blokta trenin blok sinirinda beklemesi, hareketli blokta arkaya kilitlenmesi, sanal kuplajda icine girmesi.</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HAREKET DENKLEMI:   m_eff · a = F(v) − R(v) − m·g·sin(θ)</a:t>
            </a:r>
          </a:p>
          <a:p>
            <a:r>
              <a:rPr lang="tr-TR" dirty="0"/>
              <a:t>  m_eff = m · 1.08 — donen kutleler de hizlandirilmak zorunda: tekerlek, disli, rotor. 216 t tren 233 t gibi davraniyor.</a:t>
            </a:r>
          </a:p>
          <a:p>
            <a:r>
              <a:rPr lang="tr-TR" dirty="0"/>
              <a:t>  F(v) : ceki kuvveti. Taban hiza kadar sabit (233 kN), ustunde P/v ile dusuyor.</a:t>
            </a:r>
          </a:p>
          <a:p>
            <a:r>
              <a:rPr lang="tr-TR" dirty="0"/>
              <a:t>  R(v) : Davis direnci = A + B·v + C·v²  [N, v m/s]. Bu arac icin R(v) = 1404 + 28.1·v + 3.74·v².  A yatak ve yuvarlanma direnci, B flans ve ray temasi - ikisi kutleyle olcekleniyor; C aerodinamik ve kutleyle degil UZUNLUKLA olcekleniyor.</a:t>
            </a:r>
          </a:p>
          <a:p>
            <a:r>
              <a:rPr lang="tr-TR" dirty="0"/>
              <a:t>  m·g·sin(θ) : egim bileseni. Sonradan eklenen bir duzeltme degil, denklemin kendi terimi. Trenin %30'u bir egimde %70'i baskaysa kuvvet trenin ALTINDAKI egimin uzunlukla agirliklandirilmis ortalamasindan hesaplaniyor - tek bir nokta degil, trenin tamami.</a:t>
            </a:r>
          </a:p>
          <a:p>
            <a:r>
              <a:rPr lang="tr-TR" dirty="0"/>
              <a:t>  Fren: talep edilen oran aderans siniriyla (mu·g) kesiliyor, egim dogrudan orana ekleniyor.</a:t>
            </a:r>
          </a:p>
          <a:p>
            <a:r>
              <a:rPr lang="tr-TR" dirty="0"/>
              <a:t>SON MADDE: senaryo dosyasi bir aracin uzunlugunu ve dort performans degerini yaziyor, hepsi bu. Kutle, guc, Davis katsayilari, ceki egrisinin kirildigi hiz, en dik inisteki fren mesafesi - hepsi turetiliyor ve stats.py bunlari formuluyle birlikte yazdiriyor.</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butun deneyleri tek karede topluyor.</a:t>
            </a:r>
          </a:p>
          <a:p>
            <a:r>
              <a:rPr lang="tr-TR" dirty="0"/>
              <a:t>Buyuk sicrama sabit bloktan hareketli bloga: duraklamali turda 148 saniyeden 78'e, kapasite neredeyse ikiye katlaniyor (%47). Hareketli bloktan sanal kuplaja gecis ise 78'den 71'e, %9.</a:t>
            </a:r>
          </a:p>
          <a:p>
            <a:r>
              <a:rPr lang="tr-TR" dirty="0"/>
              <a:t>Isletmeci icin yatirim sirasini belirleyen sey bu: buyuk kazanc zaten hareketli blokta aliniyor, sanal kuplaj onun ustune koyuyor.</a:t>
            </a:r>
          </a:p>
          <a:p>
            <a:r>
              <a:rPr lang="tr-TR" dirty="0"/>
              <a:t>Duraksiz isletmede tablo degisiyor: orada sanal kuplajin katkisi %18, yani iki kati. Kazanc isletme bicimine bagli.</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IKI AYRI EMNIYET PAYI VAR VE TOPLANIYORLAR. Sistemin payi tehlike noktasinin NEREDE oldugunu belirliyor - hareketli blokta ondeki trenin arkasindan 100 m once, sanal kuplajda 50 m, sabit blokta hic (orada tehlike noktasi zaten bosalmis bir blok siniri). Surucunun payi ise verilen tehlike noktasindan ne kadar once durdugu: 25 m ve sinyalizasyondan bagimsiz. Yani hareketli blokta bir tren ondekinin arkasindan 125 m uzakta tutuluyor.</a:t>
            </a:r>
          </a:p>
          <a:p>
            <a:r>
              <a:rPr lang="tr-TR" dirty="0"/>
              <a:t>SURUCU DAVRANISI: model surucusu 'agresif' anlamda ideal - hicbir metreyi bosa harcamiyor, hiz sinirini da asmiyor. Bu bilerek boyle: amac sinyalizasyonu olcmek, surucu farkini degil. Gercek bir surucu daha temkinli surer ve butun sistemler ayni oranda kotulesir, yani karsilastirma bozulmaz.</a:t>
            </a:r>
          </a:p>
          <a:p>
            <a:r>
              <a:rPr lang="tr-TR" dirty="0"/>
              <a:t>HABERLESME: V2V icin 0.5 s gecikme ve kesintisiz kapsama varsayildi. Kapsama kaybi modellenmedi - bu bir sinirlama; gercekte sanal kuplaj baglantisiz kaldiginda hareketli bloga dusuyor ve model bu geri dususe sahip ama senaryolarda tetiklenmiyor.</a:t>
            </a:r>
          </a:p>
          <a:p>
            <a:r>
              <a:rPr lang="tr-TR" dirty="0"/>
              <a:t>dt = 0.5 s dogrulamasi onemli: iki sinir da ikiser saniye artiyor, aradaki FARK degismiyor. Yani sonuc bir zaman adimi artefakti degil.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 sahibi olan kazanir. O yuzden iki okuma var.</a:t>
            </a:r>
          </a:p>
          <a:p>
            <a:r>
              <a:rPr lang="tr-TR" dirty="0"/>
              <a:t>SOL: ikisi de 78 saniyede. Bu isletmecinin bugun hareketli blokla kostugu tarife. Sanal kuplaj takilirsa hicbir sey yeniden zamanlanmadan yayilan gecikme 982'den 829 saniyeye iniyor, %16 az.</a:t>
            </a:r>
          </a:p>
          <a:p>
            <a:r>
              <a:rPr lang="tr-TR" dirty="0"/>
              <a:t>SAG: her sistem kendi tum-yesil sinirinda - hareketli blok 78, sanal kuplaj 71. Ikisinde de pay yok. Fark 982'ye karsi 976: alti saniye, %0.6. Yani ayri bir 'toparlanma davranisi' YOK.</a:t>
            </a:r>
          </a:p>
          <a:p>
            <a:r>
              <a:rPr lang="tr-TR" dirty="0"/>
              <a:t>BULGU: teknoloji yedi saniye veriyor, baska bir sey degil. Onu ya trene harcarsin ya dayanikliliga; ikisine birden degil.</a:t>
            </a:r>
          </a:p>
          <a:p>
            <a:r>
              <a:rPr lang="tr-TR" dirty="0"/>
              <a:t>Hiz kisitlamasi deneyi bu slaytta yok cunku iki tarife kisitlamanin saatine farkli sayida tren sokuyor - karsilastirma tarifeden kirleniyor ve bunu ayiramiyorum. Rakamlari sorulursa: 78 s'de her iki sistem de 455 s toplam gecikme.</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slaydin isi dengeli olmak. Sanal kuplaj her kosulda daha iyi degil; ISLETME BICIMINE bagli olarak daha iyi.</a:t>
            </a:r>
          </a:p>
          <a:p>
            <a:r>
              <a:rPr lang="tr-TR" dirty="0"/>
              <a:t>Duraksiz, yuksek hizli, az duraklı bir hatta kazanc gercek ve buyuk. Her istasyonda duran bir hatta kazanc kuculuyor cunku baglayan sey artik sinyalizasyon degil.</a:t>
            </a:r>
          </a:p>
          <a:p>
            <a:r>
              <a:rPr lang="tr-TR" dirty="0"/>
              <a:t>Ve buyuk resimde: asil kazanci sabit bloktan hareketli bloga gecis veriyor. Sanal kuplaj bunun ustune bir kat daha koyuyor - onemli ama ikincil bir adim.</a:t>
            </a:r>
          </a:p>
          <a:p>
            <a:r>
              <a:rPr lang="tr-TR" dirty="0"/>
              <a:t>SINIRLAMALAR (sorulursa): (1) egim sinyalizasyon katmaninin yetki hesabinda dikkate alinmiyor, sadece trenin fren mesafesinde. (2) Konvoy satiri planlama payi tasiyor. (3) Tek arac tipi, tek ag geometrisi. (4) V2V kapsama kaybi modellenmedi.</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KAPANIS: sanal kuplaj kapasitede hareketli bloktan iyi, ama karari kapasite vermiyor. Aoun'un olctugu agirliklara gore karar %45 guvenlik, %32 regulasyon onayi, sadece %5.6 kapasite. Hareketli blok bugun daha olgun oldugu icin genel skorda one geciyor.</a:t>
            </a:r>
          </a:p>
          <a:p>
            <a:r>
              <a:rPr lang="tr-TR" dirty="0"/>
              <a:t>DIKKAT - burada ne SOYLEMIYORUM: sanal kuplajin daha ucuz oldugunu soylemiyorum, cunku bu calismada maliyet analizi yapmadim. Soyleyebilecegim sey su: sanal kuplaj ayirmayi trenin uzerine tasiyor, dolayisiyla saha donanimina bagimliligi azaltma potansiyeli var. Bunun paraya ne kadar cevrildigi ayri bir calisma konusu.</a:t>
            </a:r>
          </a:p>
          <a:p>
            <a:r>
              <a:rPr lang="tr-TR" dirty="0"/>
              <a:t>Teknoloji olgunlastikca ve araç ustu sistemlerin maliyeti dustukce tablo sanal kuplaj lehine doner; olctugum kapasite farki bu beklentinin sayisal tarafini destekliyor. Ama bugun icin durust cevap: duraksiz isletmede evet, duraklamali isletmede marjinal.</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/18</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gif"/><Relationship Id="rId3" Type="http://schemas.openxmlformats.org/officeDocument/2006/relationships/image" Target="../media/image9.gif"/><Relationship Id="rId4" Type="http://schemas.openxmlformats.org/officeDocument/2006/relationships/image" Target="../media/image10.gif"/><Relationship Id="rId5" Type="http://schemas.openxmlformats.org/officeDocument/2006/relationships/notesSlide" Target="../notesSlides/notesSlide8.xml"/><Relationship Id="rId6"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30.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31.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2.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KAPASİTESİNİ</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NE KADAR ARTIRIR?</a:t>
            </a: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9" name="Rectangle 8">
            <a:extLst>
              <a:ext uri="{FF2B5EF4-FFF2-40B4-BE49-F238E27FC236}">
                <a16:creationId xmlns:a16="http://schemas.microsoft.com/office/drawing/2014/main" id="{371BD727-1CC7-44B3-8D58-13A54724542A}"/>
              </a:ext>
            </a:extLst>
          </p:cNvPr>
          <p:cNvSpPr/>
          <p:nvPr/>
        </p:nvSpPr>
        <p:spPr>
          <a:xfrm>
            <a:off x="10610850" y="6431947"/>
            <a:ext cx="359394" cy="338554"/>
          </a:xfrm>
          <a:prstGeom prst="rect">
            <a:avLst/>
          </a:prstGeom>
        </p:spPr>
        <p:txBody>
          <a:bodyPr wrap="none">
            <a:spAutoFit/>
          </a:bodyPr>
          <a:lstStyle/>
          <a:p>
            <a:r>
              <a:rPr lang="tr-TR" sz="1600" dirty="0">
                <a:solidFill>
                  <a:schemeClr val="bg1"/>
                </a:solidFill>
              </a:rPr>
              <a:t>3/18</a:t>
            </a:r>
          </a:p>
        </p:txBody>
      </p:sp>
      <p:sp>
        <p:nvSpPr>
          <p:cNvPr id="90" name="Icerik Metni"/>
          <p:cNvSpPr txBox="1"/>
          <p:nvPr/>
        </p:nvSpPr>
        <p:spPr>
          <a:xfrm>
            <a:off x="411480" y="1450000"/>
            <a:ext cx="11338560" cy="1150000"/>
          </a:xfrm>
          <a:prstGeom prst="rect">
            <a:avLst/>
          </a:prstGeom>
          <a:noFill/>
        </p:spPr>
        <p:txBody>
          <a:bodyPr wrap="square" lIns="0" tIns="0" rIns="0" bIns="0" anchor="ctr">
            <a:normAutofit/>
          </a:bodyPr>
          <a:lstStyle/>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Soru: Yeni hat yapmadan mevcut altyapıdan daha fazla tren geçirilebilir mi?</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Yöntem: Aynı ağ, aynı filo, aynı tarife — yalnızca sinyalizasyon değişiyor.</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Ölçüt: Hattın gecikmeden sürdürebildiği en kısa tren aralığı.</a:t>
            </a:r>
          </a:p>
        </p:txBody>
      </p:sp>
      <p:pic>
        <p:nvPicPr>
          <p:cNvPr id="91" name="Akis"/>
          <p:cNvPicPr>
            <a:picLocks noChangeAspect="1"/>
          </p:cNvPicPr>
          <p:nvPr/>
        </p:nvPicPr>
        <p:blipFill>
          <a:blip r:embed="rId3"/>
          <a:stretch>
            <a:fillRect/>
          </a:stretch>
        </p:blipFill>
        <p:spPr>
          <a:xfrm>
            <a:off x="869649" y="3000000"/>
            <a:ext cx="10422222" cy="2100000"/>
          </a:xfrm>
          <a:prstGeom prst="rect">
            <a:avLst/>
          </a:prstGeom>
        </p:spPr>
      </p:pic>
    </p:spTree>
    <p:extLst>
      <p:ext uri="{BB962C8B-B14F-4D97-AF65-F5344CB8AC3E}">
        <p14:creationId xmlns:p14="http://schemas.microsoft.com/office/powerpoint/2010/main" val="589440327"/>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1080015" y="2225518"/>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Sistemleri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Koşullar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Ana 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9" name="Rectangle 18">
            <a:extLst>
              <a:ext uri="{FF2B5EF4-FFF2-40B4-BE49-F238E27FC236}">
                <a16:creationId xmlns:a16="http://schemas.microsoft.com/office/drawing/2014/main" id="{27935050-2192-482F-8BFE-C3950B99E396}"/>
              </a:ext>
            </a:extLst>
          </p:cNvPr>
          <p:cNvSpPr/>
          <p:nvPr/>
        </p:nvSpPr>
        <p:spPr>
          <a:xfrm>
            <a:off x="10620375" y="6431947"/>
            <a:ext cx="359394" cy="338554"/>
          </a:xfrm>
          <a:prstGeom prst="rect">
            <a:avLst/>
          </a:prstGeom>
        </p:spPr>
        <p:txBody>
          <a:bodyPr wrap="none">
            <a:spAutoFit/>
          </a:bodyPr>
          <a:lstStyle/>
          <a:p>
            <a:r>
              <a:rPr lang="tr-TR" sz="1600" dirty="0">
                <a:solidFill>
                  <a:schemeClr val="bg1"/>
                </a:solidFill>
              </a:rPr>
              <a:t>2/18</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LİTERATÜR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548640"/>
          </a:xfrm>
        </p:spPr>
        <p:txBody>
          <a:bodyPr/>
          <a:lstStyle/>
          <a:p>
            <a:r>
              <a:rPr lang="tr-TR" dirty="0"/>
              <a:t>Sanal kuplajın kapasiteye etkisini ölçen iki temel çalışma ve bu çalışmanın onlara göre yeri.</a:t>
            </a:r>
          </a:p>
        </p:txBody>
      </p:sp>
      <p:pic>
        <p:nvPicPr>
          <p:cNvPr id="4" name="Kartlar"/>
          <p:cNvPicPr>
            <a:picLocks noChangeAspect="1"/>
          </p:cNvPicPr>
          <p:nvPr/>
        </p:nvPicPr>
        <p:blipFill>
          <a:blip r:embed="rId3"/>
          <a:stretch>
            <a:fillRect/>
          </a:stretch>
        </p:blipFill>
        <p:spPr>
          <a:xfrm>
            <a:off x="877569" y="2100000"/>
            <a:ext cx="10406382"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81D1-2F2D-8256-4D80-DEC31C90E1B2}"/>
              </a:ext>
            </a:extLst>
          </p:cNvPr>
          <p:cNvSpPr>
            <a:spLocks noGrp="1"/>
          </p:cNvSpPr>
          <p:nvPr>
            <p:ph type="title"/>
          </p:nvPr>
        </p:nvSpPr>
        <p:spPr/>
        <p:txBody>
          <a:bodyPr/>
          <a:lstStyle/>
          <a:p>
            <a:r>
              <a:rPr lang="en-US" b="0" dirty="0"/>
              <a:t>SİNYALİZASYON SİSTEMLERİ</a:t>
            </a:r>
            <a:br>
              <a:rPr lang="en-US" dirty="0"/>
            </a:br>
            <a:endParaRPr lang="en-US" dirty="0"/>
          </a:p>
        </p:txBody>
      </p:sp>
      <p:sp>
        <p:nvSpPr>
          <p:cNvPr id="21" name="Text Placeholder 20">
            <a:extLst>
              <a:ext uri="{FF2B5EF4-FFF2-40B4-BE49-F238E27FC236}">
                <a16:creationId xmlns:a16="http://schemas.microsoft.com/office/drawing/2014/main" id="{B829300A-3A55-49BD-B886-E727EF2BC3BD}"/>
              </a:ext>
            </a:extLst>
          </p:cNvPr>
          <p:cNvSpPr>
            <a:spLocks noGrp="1"/>
          </p:cNvSpPr>
          <p:nvPr>
            <p:ph type="body" sz="quarter" idx="13"/>
          </p:nvPr>
        </p:nvSpPr>
        <p:spPr>
          <a:xfrm>
            <a:off x="411480" y="1480000"/>
            <a:ext cx="11338560" cy="560000"/>
          </a:xfrm>
        </p:spPr>
        <p:txBody>
          <a:bodyPr/>
          <a:lstStyle/>
          <a:p>
            <a:endParaRPr lang="en-US" dirty="0"/>
            <a:r>
              <a:rPr lang="tr-TR" dirty="0"/>
              <a:t>Üçünün farkı tek soruda: ön trenle aramızdaki mesafeyi ne belirliyor?   [3][5]</a:t>
            </a:r>
          </a:p>
        </p:txBody>
      </p:sp>
      <p:pic>
        <p:nvPicPr>
          <p:cNvPr id="22" name="Matris"/>
          <p:cNvPicPr>
            <a:picLocks noChangeAspect="1"/>
          </p:cNvPicPr>
          <p:nvPr/>
        </p:nvPicPr>
        <p:blipFill>
          <a:blip r:embed="rId6"/>
          <a:stretch>
            <a:fillRect/>
          </a:stretch>
        </p:blipFill>
        <p:spPr>
          <a:xfrm>
            <a:off x="411480" y="2317294"/>
            <a:ext cx="11338560" cy="3215412"/>
          </a:xfrm>
          <a:prstGeom prst="rect">
            <a:avLst/>
          </a:prstGeom>
        </p:spPr>
      </p:pic>
    </p:spTree>
    <p:extLst>
      <p:ext uri="{BB962C8B-B14F-4D97-AF65-F5344CB8AC3E}">
        <p14:creationId xmlns:p14="http://schemas.microsoft.com/office/powerpoint/2010/main" val="425683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a:p>
            <a:r>
              <a:rPr lang="tr-TR" dirty="0"/>
              <a:t>Kentiçi demiryolu (urban railway) profili — metro değil, banliyö karakterinde.   [4][6]</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 VE DİNAMİĞİ</a:t>
            </a:r>
            <a:endParaRPr lang="en-US" dirty="0"/>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4480560"/>
          </a:xfrm>
        </p:spPr>
        <p:txBody>
          <a:bodyPr/>
          <a:lstStyle/>
          <a:p>
            <a:r>
              <a:rPr lang="tr-TR" dirty="0"/>
              <a:t>Araç:   120 m   ·   216 t   ·   90 km/h   ·   2333 kW  (10.8 kW/t)</a:t>
            </a:r>
          </a:p>
          <a:p>
            <a:r>
              <a:rPr lang="tr-TR" dirty="0"/>
              <a:t>Performans:   kalkış 1.0   ·   servis freni 1.0   ·   acil fren 1.5 m/s²</a:t>
            </a:r>
          </a:p>
          <a:p>
            <a:r>
              <a:rPr lang="tr-TR" dirty="0"/>
              <a:t>Dinamik:   çeki eğrisi (taban hız 36 km/h)   ·   Davis direnci   ·   eğim   ·   jerk sınırı 0.5 m/s³</a:t>
            </a:r>
          </a:p>
          <a:p>
            <a:r>
              <a:rPr lang="tr-TR" dirty="0"/>
              <a:t>Türetilen:   kütle, güç, Davis katsayıları, taban hız — hiçbiri senaryo dosyasında yazmıyor</a:t>
            </a:r>
          </a:p>
        </p:txBody>
      </p:sp>
    </p:spTree>
    <p:extLst>
      <p:ext uri="{BB962C8B-B14F-4D97-AF65-F5344CB8AC3E}">
        <p14:creationId xmlns:p14="http://schemas.microsoft.com/office/powerpoint/2010/main" val="382599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KARŞILAŞTIRMALI SONUÇLAR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ağ, aynı filo, aynı tarife — tek değişken sinyalizasyon.</a:t>
            </a:r>
          </a:p>
        </p:txBody>
      </p:sp>
      <p:pic>
        <p:nvPicPr>
          <p:cNvPr id="4" name="Ozet"/>
          <p:cNvPicPr>
            <a:picLocks noChangeAspect="1"/>
          </p:cNvPicPr>
          <p:nvPr/>
        </p:nvPicPr>
        <p:blipFill>
          <a:blip r:embed="rId3"/>
          <a:stretch>
            <a:fillRect/>
          </a:stretch>
        </p:blipFill>
        <p:spPr>
          <a:xfrm>
            <a:off x="411480" y="2224875"/>
            <a:ext cx="11338560" cy="340025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HAREKET EĞRİLERİ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Hareket yetkisi bir fren mesafesi değildir:  44 + 22 + 247 + 25 = 339 m.</a:t>
            </a:r>
          </a:p>
          <a:p>
            <a:r>
              <a:rPr lang="tr-TR" dirty="0"/>
              <a:t>Her nokta simülatörün kendi fonksiyonundan — jerk sınırı dahil.</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473569" y="2745766"/>
            <a:ext cx="11214381" cy="3058467"/>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KABULLER VE SİMÜLASYON KOŞULLARI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ARAÇ VE HAREKET</a:t>
            </a:r>
          </a:p>
          <a:p>
            <a:pPr lvl="1"/>
            <a:r>
              <a:rPr lang="tr-TR" dirty="0"/>
              <a:t>120 m · 216 t   ·   90 km/h   ·   1.0 / 1.0 / 1.5 m/s²   ·   jerk 0.5 m/s³</a:t>
            </a:r>
          </a:p>
          <a:p>
            <a:r>
              <a:rPr lang="tr-TR" b="1" dirty="0"/>
              <a:t>AYRIM VE EMNİYET</a:t>
            </a:r>
          </a:p>
          <a:p>
            <a:pPr lvl="1"/>
            <a:r>
              <a:rPr lang="tr-TR" dirty="0"/>
              <a:t>Sistem payı: hareketli blok 100 m · sanal kuplaj 50 m · sabit blok yok</a:t>
            </a:r>
          </a:p>
          <a:p>
            <a:pPr lvl="1"/>
            <a:r>
              <a:rPr lang="tr-TR" dirty="0"/>
              <a:t>Sürücü payı: 25 m, sistemden bağımsız — ikisi toplanır</a:t>
            </a:r>
          </a:p>
          <a:p>
            <a:pPr lvl="1"/>
            <a:r>
              <a:rPr lang="tr-TR" dirty="0"/>
              <a:t>Sürücü: izin verilen her metreyi kullanır; tepki 2.0 s (kabinde 0 s)</a:t>
            </a:r>
          </a:p>
          <a:p>
            <a:r>
              <a:rPr lang="tr-TR" b="1" dirty="0"/>
              <a:t>HABERLEŞME VE ALTYAPI</a:t>
            </a:r>
          </a:p>
          <a:p>
            <a:pPr lvl="1"/>
            <a:r>
              <a:rPr lang="tr-TR" dirty="0"/>
              <a:t>V2V gecikmesi 0.5 s   ·   kesintisiz kapsama   ·   40 km/h makas, 50 km/h dönüş kavisi</a:t>
            </a:r>
          </a:p>
          <a:p>
            <a:r>
              <a:rPr lang="tr-TR" b="1" dirty="0"/>
              <a:t>KOŞULLAR</a:t>
            </a:r>
          </a:p>
          <a:p>
            <a:pPr lvl="1"/>
            <a:r>
              <a:rPr lang="tr-TR" dirty="0"/>
              <a:t>dt = 1.0 s (tümü dt = 0.5 s ile doğrulandı)   ·   12 servis   ·   30 s bekleme</a:t>
            </a:r>
          </a:p>
        </p:txBody>
      </p:sp>
    </p:spTree>
    <p:extLst>
      <p:ext uri="{BB962C8B-B14F-4D97-AF65-F5344CB8AC3E}">
        <p14:creationId xmlns:p14="http://schemas.microsoft.com/office/powerpoint/2010/main" val="605574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548640"/>
          </a:xfrm>
        </p:spPr>
        <p:txBody>
          <a:bodyPr/>
          <a:lstStyle/>
          <a:p>
            <a:r>
              <a:rPr lang="tr-TR" dirty="0"/>
              <a:t>Peron kısıtı devrede değil — bağlayıcı olan tek şey trenler arası mesafe.</a:t>
            </a:r>
          </a:p>
        </p:txBody>
      </p:sp>
      <p:pic>
        <p:nvPicPr>
          <p:cNvPr id="203"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548640"/>
          </a:xfrm>
        </p:spPr>
        <p:txBody>
          <a:bodyPr/>
          <a:lstStyle/>
          <a:p>
            <a:r>
              <a:rPr lang="tr-TR" dirty="0"/>
              <a:t>22 duruşlu tur — bağlayıcı kısıt artık sinyalizasyon değil, peron işgali.</a:t>
            </a:r>
          </a:p>
        </p:txBody>
      </p:sp>
      <p:pic>
        <p:nvPicPr>
          <p:cNvPr id="204"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265175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p:txBody>
          <a:bodyPr/>
          <a:lstStyle/>
          <a:p>
            <a:r>
              <a:rPr lang="en-US" dirty="0"/>
              <a:t>BOZUCU ETKİ ALTINDA DAVRANIŞ</a:t>
            </a:r>
          </a:p>
        </p:txBody>
      </p:sp>
      <p:sp>
        <p:nvSpPr>
          <p:cNvPr id="3" name="Text Placeholder 2">
            <a:extLst>
              <a:ext uri="{FF2B5EF4-FFF2-40B4-BE49-F238E27FC236}">
                <a16:creationId xmlns:a16="http://schemas.microsoft.com/office/drawing/2014/main" id="{EAB6E82C-AFE1-FC1E-3B25-E4C8086E1CB8}"/>
              </a:ext>
            </a:extLst>
          </p:cNvPr>
          <p:cNvSpPr>
            <a:spLocks noGrp="1"/>
          </p:cNvSpPr>
          <p:nvPr>
            <p:ph type="body" sz="quarter" idx="13"/>
          </p:nvPr>
        </p:nvSpPr>
        <p:spPr>
          <a:xfrm>
            <a:off x="411480" y="1554480"/>
            <a:ext cx="11338560" cy="4480560"/>
          </a:xfrm>
        </p:spPr>
        <p:txBody>
          <a:bodyPr/>
          <a:lstStyle/>
          <a:p>
            <a:r>
              <a:rPr lang="tr-TR" dirty="0"/>
              <a:t>Aynı kapı arızası, iki farklı okuma: aynı tarifede ve her sistem kendi sürdürülebilir aralığında.</a:t>
            </a:r>
          </a:p>
          <a:p>
            <a:r>
              <a:rPr lang="tr-TR" dirty="0"/>
              <a:t>Kazanç sistemin kendisinden değil, elinde kalan paydan geliyor.</a:t>
            </a:r>
          </a:p>
        </p:txBody>
      </p:sp>
      <p:pic>
        <p:nvPicPr>
          <p:cNvPr id="4" name="Bozucu etki grafiği"/>
          <p:cNvPicPr>
            <a:picLocks noChangeAspect="1"/>
          </p:cNvPicPr>
          <p:nvPr/>
        </p:nvPicPr>
        <p:blipFill>
          <a:blip r:embed="rId3"/>
          <a:stretch>
            <a:fillRect/>
          </a:stretch>
        </p:blipFill>
        <p:spPr>
          <a:xfrm>
            <a:off x="1224238" y="2380000"/>
            <a:ext cx="9713043" cy="3300000"/>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11480" y="1920240"/>
            <a:ext cx="11338560" cy="4114800"/>
          </a:xfrm>
        </p:spPr>
        <p:txBody>
          <a:bodyPr/>
          <a:lstStyle/>
          <a:p>
            <a:r>
              <a:rPr lang="tr-TR" dirty="0"/>
              <a:t>Kural: 70 km/h ile sınırlı; yalnızca öndekine yaklaşırken hat hızına serbest bırakılıyor.</a:t>
            </a:r>
          </a:p>
          <a:p>
            <a:r>
              <a:rPr lang="tr-TR" dirty="0"/>
              <a:t>Kural aralığı kısaltıyor, ama trenler kalıcı konvoy kurmuyor: kuplajlar kısa ve ikişerli.</a:t>
            </a:r>
          </a:p>
        </p:txBody>
      </p:sp>
      <p:pic>
        <p:nvPicPr>
          <p:cNvPr id="4" name="Chart"/>
          <p:cNvPicPr>
            <a:picLocks noChangeAspect="1"/>
          </p:cNvPicPr>
          <p:nvPr/>
        </p:nvPicPr>
        <p:blipFill>
          <a:blip r:embed="rId2"/>
          <a:stretch>
            <a:fillRect/>
          </a:stretch>
        </p:blipFill>
        <p:spPr>
          <a:xfrm>
            <a:off x="933846" y="2700000"/>
            <a:ext cx="10293827" cy="2980000"/>
          </a:xfrm>
          <a:prstGeom prst="rect">
            <a:avLst/>
          </a:prstGeom>
        </p:spPr>
      </p:pic>
    </p:spTree>
    <p:extLst>
      <p:ext uri="{BB962C8B-B14F-4D97-AF65-F5344CB8AC3E}">
        <p14:creationId xmlns:p14="http://schemas.microsoft.com/office/powerpoint/2010/main" val="2203774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ANA BULGULAR</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SANAL KUPLAJ NEREDE KAZANDIRIYOR</a:t>
            </a:r>
          </a:p>
          <a:p>
            <a:pPr lvl="1"/>
            <a:r>
              <a:rPr lang="tr-TR" dirty="0"/>
              <a:t>Duraksız işletme   39 s → 32 s   (%18)   ·   konvoy kuralıyla 25 s → 17 s   (%32)</a:t>
            </a:r>
          </a:p>
          <a:p>
            <a:pPr lvl="1"/>
            <a:r>
              <a:rPr lang="tr-TR" dirty="0"/>
              <a:t>Aynı tarifede bozucu etki altında   %16 daha az yayılan gecikme</a:t>
            </a:r>
          </a:p>
          <a:p>
            <a:r>
              <a:rPr lang="tr-TR" dirty="0"/>
              <a:t>NEREDE KAZANDIRMIYOR</a:t>
            </a:r>
          </a:p>
          <a:p>
            <a:pPr lvl="1"/>
            <a:r>
              <a:rPr lang="tr-TR" dirty="0"/>
              <a:t>Duraklamalı işletme   78 s → 71 s   (%9) — kısıt peron, ve peron bir takip mesafesi değil</a:t>
            </a:r>
          </a:p>
          <a:p>
            <a:pPr lvl="1"/>
            <a:r>
              <a:rPr lang="tr-TR" dirty="0"/>
              <a:t>Kendi sürdürülebilir aralığında bozucu etki altında   %0.6</a:t>
            </a:r>
          </a:p>
          <a:p>
            <a:r>
              <a:rPr lang="tr-TR" dirty="0"/>
              <a:t>BAĞLAMI KAÇIRMAMAK İÇİN</a:t>
            </a:r>
          </a:p>
          <a:p>
            <a:pPr lvl="1"/>
            <a:r>
              <a:rPr lang="tr-TR" dirty="0"/>
              <a:t>Asıl sıçrama sabit blok → hareketli blok:   148 s → 78 s   (%47)</a:t>
            </a:r>
          </a:p>
        </p:txBody>
      </p:sp>
    </p:spTree>
    <p:extLst>
      <p:ext uri="{BB962C8B-B14F-4D97-AF65-F5344CB8AC3E}">
        <p14:creationId xmlns:p14="http://schemas.microsoft.com/office/powerpoint/2010/main" val="468788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a:p>
            <a:pPr marL="342900" indent="-342900">
              <a:spcBef>
                <a:spcPts val="500"/>
              </a:spcBef>
              <a:buNone/>
            </a:pPr>
            <a:r>
              <a:rPr lang="tr-TR" sz="1150" dirty="0">
                <a:solidFill>
                  <a:srgbClr val="1D2A4D"/>
                </a:solidFill>
                <a:latin typeface="Calibri"/>
              </a:rPr>
              <a:t>[3]  UNISIG (2016). ERTMS/ETCS System Requirements Specification, Subset-026, version 3.6.0.</a:t>
            </a:r>
          </a:p>
          <a:p>
            <a:pPr marL="342900" indent="-342900">
              <a:spcBef>
                <a:spcPts val="500"/>
              </a:spcBef>
              <a:buNone/>
            </a:pPr>
            <a:r>
              <a:rPr lang="tr-TR" sz="1150" dirty="0">
                <a:solidFill>
                  <a:srgbClr val="1D2A4D"/>
                </a:solidFill>
                <a:latin typeface="Calibri"/>
              </a:rPr>
              <a:t>[4]  Hansen, I.A., Pachl, J. (Ed.) (2014). Railway Timetabling and Operations. Eurailpress, Hamburg.</a:t>
            </a:r>
          </a:p>
          <a:p>
            <a:pPr marL="342900" indent="-342900">
              <a:spcBef>
                <a:spcPts val="500"/>
              </a:spcBef>
              <a:buNone/>
            </a:pPr>
            <a:r>
              <a:rPr lang="tr-TR" sz="1150" dirty="0">
                <a:solidFill>
                  <a:srgbClr val="1D2A4D"/>
                </a:solidFill>
                <a:latin typeface="Calibri"/>
              </a:rPr>
              <a:t>[5]  Theeg, G., Vlasenko, S. (Ed.) (2009). Railway Signalling and Interlocking: International Compendium. Eurailpress, Hamburg.</a:t>
            </a:r>
          </a:p>
          <a:p>
            <a:pPr marL="342900" indent="-342900">
              <a:spcBef>
                <a:spcPts val="500"/>
              </a:spcBef>
              <a:buNone/>
            </a:pPr>
            <a:r>
              <a:rPr lang="tr-TR" sz="1150" dirty="0">
                <a:solidFill>
                  <a:srgbClr val="1D2A4D"/>
                </a:solidFill>
                <a:latin typeface="Calibri"/>
              </a:rPr>
              <a:t>[6]  UIC (2013). UIC Code 406: Capacity, 2nd edition. International Union of Railways, Paris.</a:t>
            </a:r>
          </a:p>
        </p:txBody>
      </p:sp>
    </p:spTree>
    <p:extLst>
      <p:ext uri="{BB962C8B-B14F-4D97-AF65-F5344CB8AC3E}">
        <p14:creationId xmlns:p14="http://schemas.microsoft.com/office/powerpoint/2010/main" val="171181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YEDİ SANİYE: TRENE Mİ, DAYANIKLILIĞA MI?</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Ölçüm tek bir şey söylüyor: teknoloji 7 saniye veriyor. Nereye harcanacağı bir işletme kararı.</a:t>
            </a:r>
          </a:p>
          <a:p>
            <a:r>
              <a:rPr lang="tr-TR" dirty="0"/>
              <a:t>TRENE HARCARSAN</a:t>
            </a:r>
          </a:p>
          <a:p>
            <a:pPr lvl="1"/>
            <a:r>
              <a:rPr lang="tr-TR" dirty="0"/>
              <a:t>%9 daha fazla tren — ama yeni tarife, yeni diyagram, yeni roster</a:t>
            </a:r>
          </a:p>
          <a:p>
            <a:r>
              <a:rPr lang="tr-TR" dirty="0"/>
              <a:t>DAYANIKLILIĞA HARCARSAN</a:t>
            </a:r>
          </a:p>
          <a:p>
            <a:pPr lvl="1"/>
            <a:r>
              <a:rPr lang="tr-TR" dirty="0"/>
              <a:t>Aynı trenler, %16 daha az yayılan gecikme — yalnızca araç donanımı</a:t>
            </a:r>
          </a:p>
          <a:p>
            <a:r>
              <a:rPr lang="tr-TR" dirty="0"/>
              <a:t>UYGULANABİLİRLİK</a:t>
            </a:r>
          </a:p>
          <a:p>
            <a:pPr lvl="1"/>
            <a:r>
              <a:rPr lang="tr-TR" dirty="0"/>
              <a:t>Gerektirdikleri: V2V haberleşme, tren–tren koordinasyonu, araç üstü sistemler, ETCS L3 altyapısı</a:t>
            </a:r>
          </a:p>
          <a:p>
            <a:pPr lvl="1"/>
            <a:r>
              <a:rPr lang="tr-TR" dirty="0"/>
              <a:t>Bu çalışmada maliyet analizi yapılmadı; olası kazanç saha donanımına bağımlılığın azalmasıdır</a:t>
            </a:r>
          </a:p>
        </p:txBody>
      </p:sp>
    </p:spTree>
    <p:extLst>
      <p:ext uri="{BB962C8B-B14F-4D97-AF65-F5344CB8AC3E}">
        <p14:creationId xmlns:p14="http://schemas.microsoft.com/office/powerpoint/2010/main" val="468788410"/>
      </p:ext>
    </p:extLst>
  </p:cSld>
  <p:clrMapOvr>
    <a:masterClrMapping/>
  </p:clrMapOvr>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Props1.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BC776708-A014-4D09-84CC-31521924571B}">
  <ds:schemaRefs>
    <ds:schemaRef ds:uri="http://schemas.microsoft.com/sharepoint/v3/contenttype/forms"/>
  </ds:schemaRefs>
</ds:datastoreItem>
</file>

<file path=customXml/itemProps5.xml><?xml version="1.0" encoding="utf-8"?>
<ds:datastoreItem xmlns:ds="http://schemas.openxmlformats.org/officeDocument/2006/customXml" ds:itemID="{874ECE91-D256-41A1-98BD-156FDEEA250B}">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
  <TotalTime>16526</TotalTime>
  <Words>1807</Words>
  <Application>Microsoft Office PowerPoint</Application>
  <PresentationFormat>Widescreen</PresentationFormat>
  <Paragraphs>182</Paragraphs>
  <Slides>18</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Segoe UI Black</vt:lpstr>
      <vt:lpstr>Calibri</vt:lpstr>
      <vt:lpstr>Segoe UI Semilight</vt:lpstr>
      <vt:lpstr>Source Sans Pro</vt:lpstr>
      <vt:lpstr>Segoe UI</vt:lpstr>
      <vt:lpstr>Posterama</vt:lpstr>
      <vt:lpstr>Arial</vt:lpstr>
      <vt:lpstr>Office Teması</vt:lpstr>
      <vt:lpstr>PowerPoint Presentation</vt:lpstr>
      <vt:lpstr>NEDEN BU SUNUM HAZIRLANDI</vt:lpstr>
      <vt:lpstr>PowerPoint Presentation</vt:lpstr>
      <vt:lpstr>Problem ve amaç</vt:lpstr>
      <vt:lpstr>LİTERATÜR TARAMASI  </vt:lpstr>
      <vt:lpstr>QUAGLIETTA vd. (2020) </vt:lpstr>
      <vt:lpstr>AOUN vd. (2021) </vt:lpstr>
      <vt:lpstr>SİNYALİZASYON SİSTEMLERİ  </vt:lpstr>
      <vt:lpstr>Demiryolu modeli</vt:lpstr>
      <vt:lpstr>Tren modelİ</vt:lpstr>
      <vt:lpstr>SİMÜLASYON ORTAMI  </vt:lpstr>
      <vt:lpstr>EXPRESS ROTA</vt:lpstr>
      <vt:lpstr>DURAKLAMALI ROTA</vt:lpstr>
      <vt:lpstr>BOZUCU ETKİLERE TEPKİ</vt:lpstr>
      <vt:lpstr>KONVOY DAVRANIŞINI ARTTIRMA</vt:lpstr>
      <vt:lpstr>SONUÇLAR VE ÇIKARIMLAR</vt:lpstr>
      <vt:lpstr>KAYNAKLAR </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417</cp:revision>
  <cp:lastPrinted>2024-07-04T05:35:52Z</cp:lastPrinted>
  <dcterms:created xsi:type="dcterms:W3CDTF">2022-10-12T20:35:02Z</dcterms:created>
  <dcterms:modified xsi:type="dcterms:W3CDTF">2026-09-10T03:15:10Z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