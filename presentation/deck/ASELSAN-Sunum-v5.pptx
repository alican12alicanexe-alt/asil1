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6"/>
  </p:sldMasterIdLst>
  <p:notesMasterIdLst>
    <p:notesMasterId r:id="rId24"/>
  </p:notesMasterIdLst>
  <p:handoutMasterIdLst>
    <p:handoutMasterId r:id="rId25"/>
  </p:handoutMasterIdLst>
  <p:sldIdLst>
    <p:sldId id="300" r:id="rId7"/>
    <p:sldId id="3458" r:id="rId8"/>
    <p:sldId id="3500" r:id="rId9"/>
    <p:sldId id="3499" r:id="rId10"/>
    <p:sldId id="3483" r:id="rId11"/>
    <p:sldId id="3481" r:id="rId12"/>
    <p:sldId id="3485" r:id="rId13"/>
    <p:sldId id="3486" r:id="rId14"/>
    <p:sldId id="3487" r:id="rId15"/>
    <p:sldId id="3497" r:id="rId16"/>
    <p:sldId id="3488" r:id="rId17"/>
    <p:sldId id="3489" r:id="rId18"/>
    <p:sldId id="3490" r:id="rId19"/>
    <p:sldId id="3491" r:id="rId20"/>
    <p:sldId id="3492" r:id="rId21"/>
    <p:sldId id="3495" r:id="rId22"/>
    <p:sldId id="302" r:id="rId23"/>
  </p:sldIdLst>
  <p:sldSz cx="12192000" cy="6858000"/>
  <p:notesSz cx="6797675" cy="9926638"/>
  <p:embeddedFontLst>
    <p:embeddedFont>
      <p:font typeface="Posterama" panose="020B0504020200020000" pitchFamily="34" charset="0"/>
      <p:regular r:id="rId26"/>
      <p:bold r:id="rId27"/>
      <p:italic r:id="rId28"/>
      <p:boldItalic r:id="rId29"/>
    </p:embeddedFont>
    <p:embeddedFont>
      <p:font typeface="Segoe UI" panose="020B0502040204020203" pitchFamily="34" charset="0"/>
      <p:regular r:id="rId30"/>
      <p:bold r:id="rId31"/>
      <p:italic r:id="rId32"/>
      <p:boldItalic r:id="rId33"/>
    </p:embeddedFont>
    <p:embeddedFont>
      <p:font typeface="Segoe UI Black" panose="020B0A02040204020203" pitchFamily="34" charset="0"/>
      <p:bold r:id="rId34"/>
      <p:boldItalic r:id="rId35"/>
    </p:embeddedFont>
    <p:embeddedFont>
      <p:font typeface="Segoe UI Semilight" panose="020B0402040204020203" pitchFamily="34" charset="0"/>
      <p:regular r:id="rId36"/>
      <p:italic r:id="rId37"/>
    </p:embeddedFont>
    <p:embeddedFont>
      <p:font typeface="Source Sans Pro" panose="020B0503030403020204" pitchFamily="34" charset="0"/>
      <p:regular r:id="rId38"/>
      <p:bold r:id="rId39"/>
      <p:italic r:id="rId40"/>
      <p:boldItalic r:id="rId41"/>
    </p:embeddedFont>
  </p:embeddedFont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SELSAN" id="{93DD7066-AEC4-4222-8AF9-CDFEECF47427}">
          <p14:sldIdLst>
            <p14:sldId id="300"/>
            <p14:sldId id="3458"/>
            <p14:sldId id="3500"/>
            <p14:sldId id="3499"/>
            <p14:sldId id="3483"/>
            <p14:sldId id="3481"/>
            <p14:sldId id="3485"/>
            <p14:sldId id="3486"/>
            <p14:sldId id="3487"/>
            <p14:sldId id="3497"/>
            <p14:sldId id="3488"/>
            <p14:sldId id="3489"/>
            <p14:sldId id="3490"/>
            <p14:sldId id="3491"/>
            <p14:sldId id="3492"/>
            <p14:sldId id="3495"/>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EF582A"/>
    <a:srgbClr val="F0592B"/>
    <a:srgbClr val="FF6635"/>
    <a:srgbClr val="FF8022"/>
    <a:srgbClr val="EBEBEE"/>
    <a:srgbClr val="FF5620"/>
    <a:srgbClr val="A8CF38"/>
    <a:srgbClr val="003087"/>
    <a:srgbClr val="0025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66" autoAdjust="0"/>
    <p:restoredTop sz="80654" autoAdjust="0"/>
  </p:normalViewPr>
  <p:slideViewPr>
    <p:cSldViewPr snapToGrid="0">
      <p:cViewPr varScale="1">
        <p:scale>
          <a:sx n="63" d="100"/>
          <a:sy n="63" d="100"/>
        </p:scale>
        <p:origin x="1464" y="5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15.xml"/><Relationship Id="rId34" Type="http://schemas.openxmlformats.org/officeDocument/2006/relationships/font" Target="fonts/font9.fntdata"/><Relationship Id="rId42"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notesMaster" Target="notesMasters/notesMaster1.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6.fntdata"/><Relationship Id="rId44"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handoutMaster" Target="handoutMasters/handout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4.xml"/><Relationship Id="rId41" Type="http://schemas.openxmlformats.org/officeDocument/2006/relationships/font" Target="fonts/font1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8E6431-A79F-4691-AEA7-6E09E7B1FF0D}"/>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Date Placeholder 2">
            <a:extLst>
              <a:ext uri="{FF2B5EF4-FFF2-40B4-BE49-F238E27FC236}">
                <a16:creationId xmlns:a16="http://schemas.microsoft.com/office/drawing/2014/main" id="{C00843A7-623F-4CBE-BDDF-33813BBAEFE2}"/>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0AB740B6-646D-4A4C-AEDE-E73833C6E508}" type="datetimeFigureOut">
              <a:rPr lang="tr-TR" smtClean="0"/>
              <a:t>11.09.2026</a:t>
            </a:fld>
            <a:endParaRPr lang="tr-TR"/>
          </a:p>
        </p:txBody>
      </p:sp>
      <p:sp>
        <p:nvSpPr>
          <p:cNvPr id="4" name="Footer Placeholder 3">
            <a:extLst>
              <a:ext uri="{FF2B5EF4-FFF2-40B4-BE49-F238E27FC236}">
                <a16:creationId xmlns:a16="http://schemas.microsoft.com/office/drawing/2014/main" id="{5A51A982-76FD-43B3-89D7-8121928D1225}"/>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5" name="Slide Number Placeholder 4">
            <a:extLst>
              <a:ext uri="{FF2B5EF4-FFF2-40B4-BE49-F238E27FC236}">
                <a16:creationId xmlns:a16="http://schemas.microsoft.com/office/drawing/2014/main" id="{56960F27-9299-4461-9481-B66A2F1BF762}"/>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D12C0598-3F49-47EA-A73A-00936C53184B}" type="slidenum">
              <a:rPr lang="tr-TR" smtClean="0"/>
              <a:t>‹#›</a:t>
            </a:fld>
            <a:endParaRPr lang="tr-TR"/>
          </a:p>
        </p:txBody>
      </p:sp>
    </p:spTree>
    <p:extLst>
      <p:ext uri="{BB962C8B-B14F-4D97-AF65-F5344CB8AC3E}">
        <p14:creationId xmlns:p14="http://schemas.microsoft.com/office/powerpoint/2010/main" val="161085023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3D126F64-650B-4185-81A8-0D0989901828}" type="datetimeFigureOut">
              <a:rPr lang="tr-TR" smtClean="0"/>
              <a:t>11.09.2026</a:t>
            </a:fld>
            <a:endParaRPr lang="tr-TR"/>
          </a:p>
        </p:txBody>
      </p:sp>
      <p:sp>
        <p:nvSpPr>
          <p:cNvPr id="4" name="Slayt Resmi Yer Tutucusu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145DDAFB-7AE0-4170-B9CE-C1E67ACBDE43}" type="slidenum">
              <a:rPr lang="tr-TR" smtClean="0"/>
              <a:t>‹#›</a:t>
            </a:fld>
            <a:endParaRPr lang="tr-TR"/>
          </a:p>
        </p:txBody>
      </p:sp>
    </p:spTree>
    <p:extLst>
      <p:ext uri="{BB962C8B-B14F-4D97-AF65-F5344CB8AC3E}">
        <p14:creationId xmlns:p14="http://schemas.microsoft.com/office/powerpoint/2010/main" val="137572283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Stajin ilk gunlerinde kapasite artirimi uzerine cok sayida calisma okudum; bu ikisi ayri duruyor.</a:t>
            </a:r>
          </a:p>
          <a:p>
            <a:r>
              <a:rPr lang="tr-TR" dirty="0"/>
              <a:t>QUAGLIETTA: sanal kuplaji dort isletim durumu olan bir tren takip modeli olarak kuruyor - kuplaja hazirlanma, kuplajli seyir, istemsiz ayrilma (dik rampada tren ondekine yetisemiyor), istemli ayrilma (ayrilan kavsakta makas guvenle cevrilebilsin diye). Ingiltere'de South West Main Line'in 20 km'lik kesitinde iki tren kosturuyorlar. Kazanc senaryoya gore %13-%53; en buyugu duraklamali ve farkli rotali trenlerde.</a:t>
            </a:r>
          </a:p>
          <a:p>
            <a:r>
              <a:rPr lang="tr-TR" dirty="0"/>
              <a:t>AOUN: kapasitenin otesine bakiyor - maliyet, enerji, guvenlik, regulasyon onayi, kamuoyu kabulu. On bes sektor uzmaniyla anket. Cikan tablo: guvenlik tek basina kararin %45'i, regulasyon %32'si, kapasite sadece %5.6'si. Hareketli blok bugun daha olgun oldugu icin genel skorda one geciyor.</a:t>
            </a:r>
          </a:p>
          <a:p>
            <a:r>
              <a:rPr lang="tr-TR" dirty="0"/>
              <a:t>BENIM FARKIM: onlar iki trenin anlik mesafesini olcuyor, ben on iki trenin bir turu hangi aralikla surdurebildigini. Benim sayimin daha kucuk cikmasi bu yuzden beklenen - ayni seyi olcmuyoruz.</a:t>
            </a:r>
          </a:p>
          <a:p>
            <a:r>
              <a:rPr lang="tr-TR" dirty="0"/>
              <a:t>BURAYA GORSEL (istege bagli): iki makalenin kendi sekilleri. Telifli olduklari icin ben eklemedim; kaynak gostererek sen ekleyebilirsin.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Terminoloji: bu gercek bir metro hatti degil, ve oyleymis gibi sunmuyorum. Istasyon araligi 3.1 km ve kapidan kapiya hiz 53 km/h; metroda bunlar 0.8-1.2 km ve 30-35 km/h olur. Kapali cevrim yapisi, her istasyonda durus ve 71-148 saniyelik takip araliklari ise metro-benzeri. Bu yuzden 'kentici demiryolu test agi' diyorum ve sunumun tamaminda bu terimi kullaniyorum.</a:t>
            </a:r>
          </a:p>
          <a:p>
            <a:r>
              <a:rPr lang="tr-TR" dirty="0"/>
              <a:t>Neden cevrim: gidis-donus hatlarda belli bir araligin altinda kisit sinyalizasyon olmaktan cikip terminaldeki sevk sirasi oluyor. Duran trenin kalkis suresini hicbir sinyalizasyon sistemi degistirmez, o yuzden karsilastirma duzlesiyor. Cevrimde her tren kosuyor ve beklemenin tek sebebi onunde birinin olmasi - olculen sey boylece sinyalizasyonun kendisi.</a:t>
            </a:r>
          </a:p>
          <a:p>
            <a:r>
              <a:rPr lang="tr-TR" dirty="0"/>
              <a:t>Istasyonlar bilerek esit araliksiz: gercek bir tarifenin en sikisik yeri vardir. Akyurt 1 - Macunkoy 1 arasindaki 2.5 km burada ilk baglayan yer.</a:t>
            </a:r>
          </a:p>
          <a:p>
            <a:r>
              <a:rPr lang="tr-TR" dirty="0"/>
              <a:t>Bos turda bir tur 79 dk 09 s; bunun 11 dakikasi peronda duruyor.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HAREKET DENKLEMI:   m_eff · a = F(v) − R(v) − m·g·sin(θ)</a:t>
            </a:r>
          </a:p>
          <a:p>
            <a:r>
              <a:rPr lang="tr-TR" dirty="0"/>
              <a:t>  m_eff = m · 1.08 — donen kutleler de hizlandirilmak zorunda: tekerlek, disli, rotor. 216 t tren 233 t gibi davraniyor.</a:t>
            </a:r>
          </a:p>
          <a:p>
            <a:r>
              <a:rPr lang="tr-TR" dirty="0"/>
              <a:t>  F(v) : ceki kuvveti. Taban hiza kadar sabit (233 kN), ustunde P/v ile dusuyor.</a:t>
            </a:r>
          </a:p>
          <a:p>
            <a:r>
              <a:rPr lang="tr-TR" dirty="0"/>
              <a:t>  R(v) : Davis direnci = A + B·v + C·v²  [N, v m/s]. Bu arac icin R(v) = 1404 + 28.1·v + 3.74·v².  A yatak ve yuvarlanma direnci, B flans ve ray temasi - ikisi kutleyle olcekleniyor; C aerodinamik ve kutleyle degil UZUNLUKLA olcekleniyor.</a:t>
            </a:r>
          </a:p>
          <a:p>
            <a:r>
              <a:rPr lang="tr-TR" dirty="0"/>
              <a:t>  m·g·sin(θ) : egim bileseni. Sonradan eklenen bir duzeltme degil, denklemin kendi terimi. Trenin %30'u bir egimde %70'i baskaysa kuvvet trenin ALTINDAKI egimin uzunlukla agirliklandirilmis ortalamasindan hesaplaniyor - tek bir nokta degil, trenin tamami.</a:t>
            </a:r>
          </a:p>
          <a:p>
            <a:r>
              <a:rPr lang="tr-TR" dirty="0"/>
              <a:t>  Fren: talep edilen oran aderans siniriyla (mu·g) kesiliyor, egim dogrudan orana ekleniyor.</a:t>
            </a:r>
          </a:p>
          <a:p>
            <a:r>
              <a:rPr lang="tr-TR" dirty="0"/>
              <a:t>SON MADDE: senaryo dosyasi bir aracin uzunlugunu ve dort performans degerini yaziyor, hepsi bu. Kutle, guc, Davis katsayilari, ceki egrisinin kirildigi hiz, en dik inisteki fren mesafesi - hepsi turetiliyor ve stats.py bunlari formuluyle birlikte yazdiriyor.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IKI AYRI EMNIYET PAYI VAR VE TOPLANIYORLAR. Sistemin payi tehlike noktasinin NEREDE oldugunu belirliyor - hareketli blokta ondeki trenin arkasindan 100 m once, sanal kuplajda 50 m, sabit blokta hic (orada tehlike noktasi zaten bosalmis bir blok siniri). Surucunun payi ise verilen tehlike noktasindan ne kadar once durdugu: 25 m ve sinyalizasyondan bagimsiz. Yani hareketli blokta bir tren ondekinin arkasindan 125 m uzakta tutuluyor.</a:t>
            </a:r>
          </a:p>
          <a:p>
            <a:r>
              <a:rPr lang="tr-TR" dirty="0"/>
              <a:t>SURUCU DAVRANISI: model surucusu 'agresif' anlamda ideal - hicbir metreyi bosa harcamiyor, hiz sinirini da asmiyor. Bu bilerek boyle: amac sinyalizasyonu olcmek, surucu farkini degil. Gercek bir surucu daha temkinli surer ve butun sistemler ayni oranda kotulesir, yani karsilastirma bozulmaz.</a:t>
            </a:r>
          </a:p>
          <a:p>
            <a:r>
              <a:rPr lang="tr-TR" dirty="0"/>
              <a:t>HABERLESME: V2V icin 0.5 s gecikme ve kesintisiz kapsama varsayildi. Kapsama kaybi modellenmedi - bu bir sinirlama; gercekte sanal kuplaj baglantisiz kaldiginda hareketli bloga dusuyor ve model bu geri dususe sahip ama senaryolarda tetiklenmiyor.</a:t>
            </a:r>
          </a:p>
          <a:p>
            <a:r>
              <a:rPr lang="tr-TR" dirty="0"/>
              <a:t>dt = 0.5 s dogrulamasi onemli: iki sinir da ikiser saniye artiyor, aradaki FARK degismiyor. Yani sonuc bir zaman adimi artefakti degil.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SOL PANEL sik yapilan bir hatayi duzeltiyor. Cizilen sey bir fren mesafesi degil, surucunun ayirdigi toplam yol:</a:t>
            </a:r>
          </a:p>
          <a:p>
            <a:r>
              <a:rPr lang="tr-TR" dirty="0"/>
              <a:t>  tepki suresi 2 s -&gt; 44 m (tren hala tam hizda)</a:t>
            </a:r>
          </a:p>
          <a:p>
            <a:r>
              <a:rPr lang="tr-TR" dirty="0"/>
              <a:t>  fren kabarmasi   -&gt; 22 m (havanin hareket etmesi gerekiyor)</a:t>
            </a:r>
          </a:p>
          <a:p>
            <a:r>
              <a:rPr lang="tr-TR" dirty="0"/>
              <a:t>  fren egrisi      -&gt; 247 m</a:t>
            </a:r>
          </a:p>
          <a:p>
            <a:r>
              <a:rPr lang="tr-TR" dirty="0"/>
              <a:t>  emniyet payi     -&gt; 25 m</a:t>
            </a:r>
          </a:p>
          <a:p>
            <a:r>
              <a:rPr lang="tr-TR" dirty="0"/>
              <a:t>  TOPLAM           -&gt; 339 m.  Fren mesafesi bunun %73'u.</a:t>
            </a:r>
          </a:p>
          <a:p>
            <a:r>
              <a:rPr lang="tr-TR" dirty="0"/>
              <a:t>Dogrulama: surucunun planladigi sabit oranli egri 338.6 m diyor, jerk sinirli gercek hareketi integre ettigimde 337.9 m cikiyor. 0.7 metre. Kabarma payi tam olarak jerkin maliyetini karsilamak icin var ve dogru boyutta.</a:t>
            </a:r>
          </a:p>
          <a:p>
            <a:r>
              <a:rPr lang="tr-TR" dirty="0"/>
              <a:t>ORTA PANEL: 3.1 km'lik bir istasyon araligi. 164 saniye, ortalama 68 km/h. Kirilma noktasi taban hiz.</a:t>
            </a:r>
          </a:p>
          <a:p>
            <a:r>
              <a:rPr lang="tr-TR" dirty="0"/>
              <a:t>SAG PANEL: ayni seyahatin ivmesi. Seyirde sifir - surucu hizi tutuyor, tam guc istemiyor. Buyutec fren devreye girisini gosteriyor: 0'dan -1.0 m/s²'ye jerk siniri yuzunden 2 saniyede iniyor, bir adimda degil. Grafikte hicbir yerde ani ivme sicramasi yok, cunku modelde de yok.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Bu sanal kuplaj icin en elverisli vaka: hicbir tren durmuyor, herkes hat hizinda. Nispi fren mesafesinin kazanci hizla buyudugu icin fark burada aciliyor - 39 saniyeden 32 saniyeye, %18.</a:t>
            </a:r>
          </a:p>
          <a:p>
            <a:r>
              <a:rPr lang="tr-TR" dirty="0"/>
              <a:t>Sabit blogun 139 saniyede kalmasinin sebebi sinyalizasyon felsefesi degil, blok uzunlugunun kendisi: 900 metrelik bir blok, tren nerede olursa olsun kaybedilen mesafedir.</a:t>
            </a:r>
          </a:p>
          <a:p>
            <a:r>
              <a:rPr lang="tr-TR" dirty="0"/>
              <a:t>ONERI - BURAYA GIF/VIDEO: duraksiz kosunun canli semasi. Uc sistemi yan yana gostermek en carpici olani; grafigin yerine degil, grafikten once gosterilebilir.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Ayni ag, ayni filo, tek fark her istasyonda durulmasi. Sanal kuplajin ustunlugu %18'den %9'a iniyor.</a:t>
            </a:r>
          </a:p>
          <a:p>
            <a:r>
              <a:rPr lang="tr-TR" dirty="0"/>
              <a:t>Neden: turun buyuk kismi hat hizinin altinda geciyor ve nispi frenin kazanci hizla satin aliniyor - duran trende kazanc sifir. Daha onemlisi, bu araligin altinda baglayan sey peron: bir peron bir takip mesafesi degildir ve hicbir sinyalizasyon sistemi onu kisaltamaz.</a:t>
            </a:r>
          </a:p>
          <a:p>
            <a:r>
              <a:rPr lang="tr-TR" dirty="0"/>
              <a:t>Bu, calismanin en onemli tek bulgusu olabilir: sanal kuplajin kazanci isletme bicimine bagli, teknolojinin kendisine degil. Aoun da duraklamali isletmede kazancin %2'ye indigini buluyor - ayni yon.</a:t>
            </a:r>
          </a:p>
          <a:p>
            <a:r>
              <a:rPr lang="tr-TR" dirty="0"/>
              <a:t>ONERI - BURAYA GIF/VIDEO: duraklamali kosunun semasi; peron isgalinin baglayici oldugu an gorulsun.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METODOLOJI: bir sistemi digerinin tarifesinde kosturmak haksiz karsilastirmadir - pay sahibi olan kazanir. O yuzden iki okuma var.</a:t>
            </a:r>
          </a:p>
          <a:p>
            <a:r>
              <a:rPr lang="tr-TR" dirty="0"/>
              <a:t>SOL: ikisi de 78 saniyede. Bu isletmecinin bugun hareketli blokla kostugu tarife. Sanal kuplaj takilirsa hicbir sey yeniden zamanlanmadan yayilan gecikme 982'den 829 saniyeye iniyor, %16 az.</a:t>
            </a:r>
          </a:p>
          <a:p>
            <a:r>
              <a:rPr lang="tr-TR" dirty="0"/>
              <a:t>SAG: her sistem kendi tum-yesil sinirinda - hareketli blok 78, sanal kuplaj 71. Ikisinde de pay yok. Fark 982'ye karsi 976: alti saniye, %0.6. Yani ayri bir 'toparlanma davranisi' YOK.</a:t>
            </a:r>
          </a:p>
          <a:p>
            <a:r>
              <a:rPr lang="tr-TR" dirty="0"/>
              <a:t>BULGU: teknoloji yedi saniye veriyor, baska bir sey degil. Onu ya trene harcarsin ya dayanikliliga; ikisine birden degil.</a:t>
            </a:r>
          </a:p>
          <a:p>
            <a:r>
              <a:rPr lang="tr-TR" dirty="0"/>
              <a:t>Hiz kisitlamasi deneyi bu slaytta yok cunku iki tarife kisitlamanin saatine farkli sayida tren sokuyor - karsilastirma tarifeden kirleniyor ve bunu ayiramiyorum. Rakamlari sorulursa: 78 s'de her iki sistem de 455 s toplam gecikme.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Sagdaki iki panel iz dosyasindan sayildi. Bir tik kuplajli sayiliyor: yetki gerekcesi 'coupled to X' iceriyor ve 'uncoupled' icermiyor - yani sanal kuplaj nispi fren mesafesi veriyor VE tren kuplaj esiginin icinde.</a:t>
            </a:r>
          </a:p>
          <a:p>
            <a:r>
              <a:rPr lang="tr-TR" dirty="0"/>
              <a:t>DURAKSIZ: kosma suresinin %14.5'i kuplajli, ortalama kuplaj 31 s, en uzunu 135 s. Trenler ikiser ikiser esleşiyor - X02 X01'e, X04 X03'e. Yani kural gercekten cift kuruyor.</a:t>
            </a:r>
          </a:p>
          <a:p>
            <a:r>
              <a:rPr lang="tr-TR" dirty="0"/>
              <a:t>DURAKLAMALI: %8.6, ortalama 19 s, en uzunu 30 s. Kuplaj kuruluyor ama her istasyonda bozuluyor; kalici konvoy yok.</a:t>
            </a:r>
          </a:p>
          <a:p>
            <a:r>
              <a:rPr lang="tr-TR" dirty="0"/>
              <a:t>En buyuk konvoy iki tren. Uc ve daha buyuk konvoy bu kurulumda olusmuyor - kuplaj esigi (800 m) ve istasyon sikligi buna izin vermiyor.</a:t>
            </a:r>
          </a:p>
          <a:p>
            <a:r>
              <a:rPr lang="tr-TR" dirty="0"/>
              <a:t>DURUST KAYIT: sinirin kendi maliyeti duraksiz turda 213 saniye; serbest birakma bunun 150 saniyesini geri aliyor, tamamini degil. Ayrica tesvikli satir 70 km/h'e gore planlanip 90 kosabildigi icin toparlanma payi tasiyor - kuralin payi ile planin payi bu kurulumda ayrilamiyor.</a:t>
            </a:r>
          </a:p>
          <a:p>
            <a:r>
              <a:rPr lang="tr-TR" dirty="0"/>
              <a:t>ONERI - BURAYA GIF: iki trenin kuplaj kurup istasyonda ayrilmasi.</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Bu slaydin isi dengeli olmak. Sanal kuplaj her kosulda daha iyi degil; ISLETME BICIMINE bagli olarak daha iyi.</a:t>
            </a:r>
          </a:p>
          <a:p>
            <a:r>
              <a:rPr lang="tr-TR" dirty="0"/>
              <a:t>Duraksiz, yuksek hizli, az duraklı bir hatta kazanc gercek ve buyuk. Her istasyonda duran bir hatta kazanc kuculuyor cunku baglayan sey artik sinyalizasyon degil.</a:t>
            </a:r>
          </a:p>
          <a:p>
            <a:r>
              <a:rPr lang="tr-TR" dirty="0"/>
              <a:t>Ve buyuk resimde: asil kazanci sabit bloktan hareketli bloga gecis veriyor. Sanal kuplaj bunun ustune bir kat daha koyuyor - onemli ama ikincil bir adim.</a:t>
            </a:r>
          </a:p>
          <a:p>
            <a:r>
              <a:rPr lang="tr-TR" dirty="0"/>
              <a:t>SINIRLAMALAR (sorulursa): (1) egim sinyalizasyon katmaninin yetki hesabinda dikkate alinmiyor, sadece trenin fren mesafesinde. (2) Konvoy satiri planlama payi tasiyor. (3) Tek arac tipi, tek ag geometrisi. (4) V2V kapsama kaybi modellenmedi.</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Footer Placeholder 3"/>
          <p:cNvSpPr>
            <a:spLocks noGrp="1"/>
          </p:cNvSpPr>
          <p:nvPr>
            <p:ph type="ftr" sz="quarter" idx="4"/>
          </p:nvPr>
        </p:nvSpPr>
        <p:spPr/>
        <p:txBody>
          <a:bodyPr/>
          <a:lstStyle/>
          <a:p>
            <a:endParaRPr lang="tr-TR"/>
          </a:p>
        </p:txBody>
      </p:sp>
      <p:sp>
        <p:nvSpPr>
          <p:cNvPr id="5" name="Slide Number Placeholder 4"/>
          <p:cNvSpPr>
            <a:spLocks noGrp="1"/>
          </p:cNvSpPr>
          <p:nvPr>
            <p:ph type="sldNum" sz="quarter" idx="5"/>
          </p:nvPr>
        </p:nvSpPr>
        <p:spPr/>
        <p:txBody>
          <a:bodyPr/>
          <a:lstStyle/>
          <a:p>
            <a:fld id="{145DDAFB-7AE0-4170-B9CE-C1E67ACBDE43}" type="slidenum">
              <a:rPr lang="tr-TR" smtClean="0"/>
              <a:t>17</a:t>
            </a:fld>
            <a:endParaRPr lang="tr-TR"/>
          </a:p>
        </p:txBody>
      </p:sp>
    </p:spTree>
    <p:extLst>
      <p:ext uri="{BB962C8B-B14F-4D97-AF65-F5344CB8AC3E}">
        <p14:creationId xmlns:p14="http://schemas.microsoft.com/office/powerpoint/2010/main" val="30652189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SELSAN_MAST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C4A3F6-F0EE-4B67-9AE7-538725797B9C}"/>
              </a:ext>
            </a:extLst>
          </p:cNvPr>
          <p:cNvSpPr/>
          <p:nvPr userDrawn="1"/>
        </p:nvSpPr>
        <p:spPr>
          <a:xfrm>
            <a:off x="0" y="1"/>
            <a:ext cx="12192000"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Rectangle 10">
            <a:extLst>
              <a:ext uri="{FF2B5EF4-FFF2-40B4-BE49-F238E27FC236}">
                <a16:creationId xmlns:a16="http://schemas.microsoft.com/office/drawing/2014/main" id="{0F9493B5-CA16-4EBB-A083-B213EF16796C}"/>
              </a:ext>
            </a:extLst>
          </p:cNvPr>
          <p:cNvSpPr/>
          <p:nvPr userDrawn="1"/>
        </p:nvSpPr>
        <p:spPr>
          <a:xfrm>
            <a:off x="0" y="-8805"/>
            <a:ext cx="12192000" cy="6865882"/>
          </a:xfrm>
          <a:prstGeom prst="rect">
            <a:avLst/>
          </a:prstGeom>
          <a:blipFill>
            <a:blip r:embed="rId2"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77" name="Rounded Rectangle 10">
            <a:extLst>
              <a:ext uri="{FF2B5EF4-FFF2-40B4-BE49-F238E27FC236}">
                <a16:creationId xmlns:a16="http://schemas.microsoft.com/office/drawing/2014/main" id="{EF6AA81D-52A3-47E3-A296-08352AF39B88}"/>
              </a:ext>
            </a:extLst>
          </p:cNvPr>
          <p:cNvSpPr/>
          <p:nvPr userDrawn="1"/>
        </p:nvSpPr>
        <p:spPr>
          <a:xfrm>
            <a:off x="4766553" y="291830"/>
            <a:ext cx="7062281" cy="6264613"/>
          </a:xfrm>
          <a:prstGeom prst="roundRect">
            <a:avLst>
              <a:gd name="adj" fmla="val 6457"/>
            </a:avLst>
          </a:prstGeom>
          <a:solidFill>
            <a:srgbClr val="FFFFFF"/>
          </a:solidFill>
          <a:effectLst>
            <a:outerShdw blurRad="1087927" dist="50800" dir="3540000" sx="101000" sy="101000" algn="ctr" rotWithShape="0">
              <a:srgbClr val="3F403F">
                <a:alpha val="25000"/>
              </a:srgbClr>
            </a:outerShdw>
          </a:effectLst>
        </p:spPr>
        <p:txBody>
          <a:bodyPr wrap="square" lIns="182880" tIns="0" rIns="18288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78" name="Rectangle: Rounded Corners 40">
            <a:extLst>
              <a:ext uri="{FF2B5EF4-FFF2-40B4-BE49-F238E27FC236}">
                <a16:creationId xmlns:a16="http://schemas.microsoft.com/office/drawing/2014/main" id="{4D1EF7EB-55D3-4EE7-A1DA-2327835C2ACD}"/>
              </a:ext>
            </a:extLst>
          </p:cNvPr>
          <p:cNvSpPr/>
          <p:nvPr userDrawn="1"/>
        </p:nvSpPr>
        <p:spPr>
          <a:xfrm>
            <a:off x="5407103" y="4720353"/>
            <a:ext cx="5799161" cy="1306154"/>
          </a:xfrm>
          <a:prstGeom prst="roundRect">
            <a:avLst>
              <a:gd name="adj" fmla="val 10322"/>
            </a:avLst>
          </a:prstGeom>
          <a:solidFill>
            <a:srgbClr val="FF5620"/>
          </a:solidFill>
          <a:ln w="19050">
            <a:noFill/>
          </a:ln>
          <a:effectLst/>
        </p:spPr>
        <p:txBody>
          <a:bodyPr vert="horz" wrap="square" lIns="91440" tIns="45720" rIns="91440" bIns="45720" numCol="1" anchor="t" anchorCtr="0" compatLnSpc="1">
            <a:prstTxWarp prst="textNoShape">
              <a:avLst/>
            </a:prstTxWarp>
          </a:bodyPr>
          <a:lstStyle/>
          <a:p>
            <a:endParaRPr lang="en-ID" kern="0" dirty="0">
              <a:solidFill>
                <a:prstClr val="black"/>
              </a:solidFill>
              <a:latin typeface="Calibri" panose="020F0502020204030204" pitchFamily="34" charset="0"/>
            </a:endParaRPr>
          </a:p>
        </p:txBody>
      </p:sp>
    </p:spTree>
    <p:extLst>
      <p:ext uri="{BB962C8B-B14F-4D97-AF65-F5344CB8AC3E}">
        <p14:creationId xmlns:p14="http://schemas.microsoft.com/office/powerpoint/2010/main" val="1187062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ÜNDEM">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3444B44-4A70-4031-9D03-BBCBCC73B5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66" y="3806"/>
            <a:ext cx="12178468" cy="6850388"/>
          </a:xfrm>
          <a:prstGeom prst="rect">
            <a:avLst/>
          </a:prstGeom>
          <a:blipFill>
            <a:blip r:embed="rId3"/>
            <a:stretch>
              <a:fillRect/>
            </a:stretch>
          </a:blipFill>
        </p:spPr>
      </p:pic>
      <p:cxnSp>
        <p:nvCxnSpPr>
          <p:cNvPr id="7" name="Straight Connector 6">
            <a:extLst>
              <a:ext uri="{FF2B5EF4-FFF2-40B4-BE49-F238E27FC236}">
                <a16:creationId xmlns:a16="http://schemas.microsoft.com/office/drawing/2014/main" id="{B0189CC1-5D7A-41BE-A905-EC72AF42E5DF}"/>
              </a:ext>
            </a:extLst>
          </p:cNvPr>
          <p:cNvCxnSpPr>
            <a:cxnSpLocks/>
          </p:cNvCxnSpPr>
          <p:nvPr userDrawn="1"/>
        </p:nvCxnSpPr>
        <p:spPr>
          <a:xfrm>
            <a:off x="738504" y="959618"/>
            <a:ext cx="0" cy="5175175"/>
          </a:xfrm>
          <a:prstGeom prst="line">
            <a:avLst/>
          </a:prstGeom>
          <a:ln w="28575">
            <a:solidFill>
              <a:srgbClr val="003087"/>
            </a:solidFill>
          </a:ln>
        </p:spPr>
        <p:style>
          <a:lnRef idx="1">
            <a:schemeClr val="accent1"/>
          </a:lnRef>
          <a:fillRef idx="0">
            <a:schemeClr val="accent1"/>
          </a:fillRef>
          <a:effectRef idx="0">
            <a:schemeClr val="accent1"/>
          </a:effectRef>
          <a:fontRef idx="minor">
            <a:schemeClr val="tx1"/>
          </a:fontRef>
        </p:style>
      </p:cxnSp>
      <p:sp>
        <p:nvSpPr>
          <p:cNvPr id="8" name="Rounded Rectangle 10">
            <a:extLst>
              <a:ext uri="{FF2B5EF4-FFF2-40B4-BE49-F238E27FC236}">
                <a16:creationId xmlns:a16="http://schemas.microsoft.com/office/drawing/2014/main" id="{E69E8E51-13B1-4BE7-A04A-0B29449B4A0C}"/>
              </a:ext>
            </a:extLst>
          </p:cNvPr>
          <p:cNvSpPr/>
          <p:nvPr userDrawn="1"/>
        </p:nvSpPr>
        <p:spPr>
          <a:xfrm>
            <a:off x="0" y="0"/>
            <a:ext cx="12191993" cy="1190649"/>
          </a:xfrm>
          <a:prstGeom prst="roundRect">
            <a:avLst>
              <a:gd name="adj" fmla="val 6457"/>
            </a:avLst>
          </a:prstGeom>
          <a:solidFill>
            <a:srgbClr val="FFFFFF"/>
          </a:solidFill>
          <a:effectLst>
            <a:outerShdw blurRad="381000" dist="50800" dir="3540000" sx="101000" sy="101000" algn="ctr" rotWithShape="0">
              <a:srgbClr val="3F403F">
                <a:alpha val="25000"/>
              </a:srgbClr>
            </a:outerShdw>
          </a:effectLst>
        </p:spPr>
        <p:txBody>
          <a:bodyPr wrap="square" lIns="182880" tIns="0" rIns="18288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&lt;?xml version="1.0" encoding="UTF-8"?&gt;&lt;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svg</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 id="Layer_1" data-name="Layer 1" </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xmlns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="http://www.w3.org/2000/svg" </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viewBox</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="0 0 3200 1801.62"&gt;  &lt;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defs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    &lt;style&gt;      .cls-1 {        fill: #c1c1c1;      }    &lt;/style&gt;  &lt;/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defs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  &lt;path class="cls-1" d="M4309.61,1314.68l664.45-833.19c56.16-70.43,77.2-162.59,57.16-250.41l-237.14-1038.97c-20.04-87.82-78.99-161.73-160.15-200.82l-960.16-462.39c-81.16-39.08-175.7-39.08-256.85,0l-960.16,462.39c-81.16,39.08-140.1,113-160.15,200.82l-237.14,1038.97c-20.04,87.82,.99,179.99,57.16,250.41l664.45,833.19c56.16,70.43,141.34,111.44,231.42,111.44h1065.69c90.08,0,175.25-41.02,231.42-111.45Z"/&gt;&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svg</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a:t>
            </a:r>
          </a:p>
        </p:txBody>
      </p:sp>
      <p:sp>
        <p:nvSpPr>
          <p:cNvPr id="6" name="TextBox 5">
            <a:extLst>
              <a:ext uri="{FF2B5EF4-FFF2-40B4-BE49-F238E27FC236}">
                <a16:creationId xmlns:a16="http://schemas.microsoft.com/office/drawing/2014/main" id="{352D322E-CFAD-4302-98BF-20F17256178F}"/>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spTree>
    <p:extLst>
      <p:ext uri="{BB962C8B-B14F-4D97-AF65-F5344CB8AC3E}">
        <p14:creationId xmlns:p14="http://schemas.microsoft.com/office/powerpoint/2010/main" val="4052853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NDAR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BBE562-3E9B-4289-8444-32FE050C7B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itle 3">
            <a:extLst>
              <a:ext uri="{FF2B5EF4-FFF2-40B4-BE49-F238E27FC236}">
                <a16:creationId xmlns:a16="http://schemas.microsoft.com/office/drawing/2014/main" id="{D276C3F1-7F8D-4F73-82CE-EB8562DB187C}"/>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latin typeface="Segoe UI Black" panose="020B0A02040204020203" pitchFamily="34" charset="0"/>
                <a:ea typeface="Segoe UI Black" panose="020B0A02040204020203" pitchFamily="34" charset="0"/>
              </a:defRPr>
            </a:lvl1pPr>
          </a:lstStyle>
          <a:p>
            <a:pPr lvl="0"/>
            <a:r>
              <a:rPr lang="en-US" dirty="0"/>
              <a:t>Click to edit Master title style</a:t>
            </a:r>
            <a:endParaRPr lang="tr-TR" dirty="0"/>
          </a:p>
        </p:txBody>
      </p:sp>
      <p:sp>
        <p:nvSpPr>
          <p:cNvPr id="8" name="Text Placeholder 5">
            <a:extLst>
              <a:ext uri="{FF2B5EF4-FFF2-40B4-BE49-F238E27FC236}">
                <a16:creationId xmlns:a16="http://schemas.microsoft.com/office/drawing/2014/main" id="{CB192974-564B-4CB6-8403-B748517647B2}"/>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2" name="TextBox 11">
            <a:extLst>
              <a:ext uri="{FF2B5EF4-FFF2-40B4-BE49-F238E27FC236}">
                <a16:creationId xmlns:a16="http://schemas.microsoft.com/office/drawing/2014/main" id="{D47051C9-0D3C-4A28-8D21-5619826A7E24}"/>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spTree>
    <p:extLst>
      <p:ext uri="{BB962C8B-B14F-4D97-AF65-F5344CB8AC3E}">
        <p14:creationId xmlns:p14="http://schemas.microsoft.com/office/powerpoint/2010/main" val="1859072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SELSAN ÖZEL">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A778907C-1DE9-410A-B218-F36AE6BFA189}"/>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ea typeface="+mn-ea"/>
              </a:defRPr>
            </a:lvl1pPr>
          </a:lstStyle>
          <a:p>
            <a:pPr lvl="0"/>
            <a:r>
              <a:rPr lang="en-US" dirty="0"/>
              <a:t>Click to edit Master title style</a:t>
            </a:r>
            <a:endParaRPr lang="tr-TR" dirty="0"/>
          </a:p>
        </p:txBody>
      </p:sp>
      <p:sp>
        <p:nvSpPr>
          <p:cNvPr id="9" name="Text Placeholder 5">
            <a:extLst>
              <a:ext uri="{FF2B5EF4-FFF2-40B4-BE49-F238E27FC236}">
                <a16:creationId xmlns:a16="http://schemas.microsoft.com/office/drawing/2014/main" id="{EE6B1F48-14DC-43AB-A8AF-1E381E4EA43D}"/>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1" name="TextBox 10">
            <a:extLst>
              <a:ext uri="{FF2B5EF4-FFF2-40B4-BE49-F238E27FC236}">
                <a16:creationId xmlns:a16="http://schemas.microsoft.com/office/drawing/2014/main" id="{1632DA59-EDF8-4457-8CF3-758EB32ED887}"/>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pic>
        <p:nvPicPr>
          <p:cNvPr id="5" name="Picture 4">
            <a:extLst>
              <a:ext uri="{FF2B5EF4-FFF2-40B4-BE49-F238E27FC236}">
                <a16:creationId xmlns:a16="http://schemas.microsoft.com/office/drawing/2014/main" id="{90E4F763-14BC-4DC2-9CBF-B0A3C81DF0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37211" y="6366320"/>
            <a:ext cx="438546" cy="439017"/>
          </a:xfrm>
          <a:prstGeom prst="rect">
            <a:avLst/>
          </a:prstGeom>
        </p:spPr>
      </p:pic>
    </p:spTree>
    <p:extLst>
      <p:ext uri="{BB962C8B-B14F-4D97-AF65-F5344CB8AC3E}">
        <p14:creationId xmlns:p14="http://schemas.microsoft.com/office/powerpoint/2010/main" val="712765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İZMETE ÖZEL">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870BEECA-EC1A-4F4C-814A-D962AA4777D1}"/>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ea typeface="+mn-ea"/>
              </a:defRPr>
            </a:lvl1pPr>
          </a:lstStyle>
          <a:p>
            <a:pPr lvl="0"/>
            <a:r>
              <a:rPr lang="en-US" dirty="0"/>
              <a:t>Click to edit Master title style</a:t>
            </a:r>
            <a:endParaRPr lang="tr-TR" dirty="0"/>
          </a:p>
        </p:txBody>
      </p:sp>
      <p:sp>
        <p:nvSpPr>
          <p:cNvPr id="9" name="Text Placeholder 5">
            <a:extLst>
              <a:ext uri="{FF2B5EF4-FFF2-40B4-BE49-F238E27FC236}">
                <a16:creationId xmlns:a16="http://schemas.microsoft.com/office/drawing/2014/main" id="{698A1369-A41B-4771-8ADB-8BC54D35FBCC}"/>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0" name="TextBox 9">
            <a:extLst>
              <a:ext uri="{FF2B5EF4-FFF2-40B4-BE49-F238E27FC236}">
                <a16:creationId xmlns:a16="http://schemas.microsoft.com/office/drawing/2014/main" id="{F53DA368-FF7B-4E95-A00F-1CD188007566}"/>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TASNİF DIŞI</a:t>
            </a:r>
          </a:p>
        </p:txBody>
      </p:sp>
      <p:pic>
        <p:nvPicPr>
          <p:cNvPr id="5" name="Picture 4">
            <a:extLst>
              <a:ext uri="{FF2B5EF4-FFF2-40B4-BE49-F238E27FC236}">
                <a16:creationId xmlns:a16="http://schemas.microsoft.com/office/drawing/2014/main" id="{B9A11C57-41BE-4318-9598-DDF713763A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37211" y="6366320"/>
            <a:ext cx="438546" cy="439017"/>
          </a:xfrm>
          <a:prstGeom prst="rect">
            <a:avLst/>
          </a:prstGeom>
        </p:spPr>
      </p:pic>
    </p:spTree>
    <p:extLst>
      <p:ext uri="{BB962C8B-B14F-4D97-AF65-F5344CB8AC3E}">
        <p14:creationId xmlns:p14="http://schemas.microsoft.com/office/powerpoint/2010/main" val="301517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9493B5-CA16-4EBB-A083-B213EF16796C}"/>
              </a:ext>
            </a:extLst>
          </p:cNvPr>
          <p:cNvSpPr/>
          <p:nvPr userDrawn="1"/>
        </p:nvSpPr>
        <p:spPr>
          <a:xfrm>
            <a:off x="0" y="14067"/>
            <a:ext cx="12192000" cy="6843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3" name="Picture 2">
            <a:extLst>
              <a:ext uri="{FF2B5EF4-FFF2-40B4-BE49-F238E27FC236}">
                <a16:creationId xmlns:a16="http://schemas.microsoft.com/office/drawing/2014/main" id="{FF60B213-FE2D-41FD-9B4A-8C2A887299F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02154" y="4567830"/>
            <a:ext cx="4387693" cy="1638751"/>
          </a:xfrm>
          <a:prstGeom prst="rect">
            <a:avLst/>
          </a:prstGeom>
        </p:spPr>
      </p:pic>
    </p:spTree>
    <p:extLst>
      <p:ext uri="{BB962C8B-B14F-4D97-AF65-F5344CB8AC3E}">
        <p14:creationId xmlns:p14="http://schemas.microsoft.com/office/powerpoint/2010/main" val="714990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con se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9493B5-CA16-4EBB-A083-B213EF16796C}"/>
              </a:ext>
            </a:extLst>
          </p:cNvPr>
          <p:cNvSpPr/>
          <p:nvPr userDrawn="1"/>
        </p:nvSpPr>
        <p:spPr>
          <a:xfrm>
            <a:off x="0" y="14067"/>
            <a:ext cx="12192000" cy="6843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504978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E764F9-DD66-45F3-8B8C-B3E3FD9829BD}"/>
              </a:ext>
            </a:extLst>
          </p:cNvPr>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34DAA0DA-4370-4950-932B-0F797D019F1F}"/>
              </a:ext>
            </a:extLst>
          </p:cNvPr>
          <p:cNvSpPr/>
          <p:nvPr userDrawn="1"/>
        </p:nvSpPr>
        <p:spPr>
          <a:xfrm>
            <a:off x="10603788" y="6460258"/>
            <a:ext cx="665567" cy="307777"/>
          </a:xfrm>
          <a:prstGeom prst="rect">
            <a:avLst/>
          </a:prstGeom>
        </p:spPr>
        <p:txBody>
          <a:bodyPr wrap="none">
            <a:spAutoFit/>
          </a:bodyPr>
          <a:lstStyle/>
          <a:p>
            <a:pPr algn="ctr"/>
            <a:fld id="{98D512E5-7CAC-4FDD-81A1-D37F136070B3}" type="slidenum">
              <a:rPr lang="tr-TR" sz="1400" smtClean="0">
                <a:solidFill>
                  <a:schemeClr val="bg1"/>
                </a:solidFill>
                <a:latin typeface="Segoe UI" panose="020B0502040204020203" pitchFamily="34" charset="0"/>
                <a:cs typeface="Segoe UI" panose="020B0502040204020203" pitchFamily="34" charset="0"/>
              </a:rPr>
              <a:t>‹#›</a:t>
            </a:fld>
            <a:r>
              <a:rPr lang="tr-TR" sz="1400" dirty="0">
                <a:solidFill>
                  <a:schemeClr val="bg1"/>
                </a:solidFill>
                <a:latin typeface="Segoe UI" panose="020B0502040204020203" pitchFamily="34" charset="0"/>
                <a:cs typeface="Segoe UI" panose="020B0502040204020203" pitchFamily="34" charset="0"/>
              </a:rPr>
              <a:t>/17</a:t>
            </a:r>
          </a:p>
        </p:txBody>
      </p:sp>
    </p:spTree>
    <p:extLst>
      <p:ext uri="{BB962C8B-B14F-4D97-AF65-F5344CB8AC3E}">
        <p14:creationId xmlns:p14="http://schemas.microsoft.com/office/powerpoint/2010/main" val="1031558323"/>
      </p:ext>
    </p:extLst>
  </p:cSld>
  <p:clrMap bg1="lt1" tx1="dk1" bg2="lt2" tx2="dk2" accent1="accent1" accent2="accent2" accent3="accent3" accent4="accent4" accent5="accent5" accent6="accent6" hlink="hlink" folHlink="folHlink"/>
  <p:sldLayoutIdLst>
    <p:sldLayoutId id="2147483653" r:id="rId1"/>
    <p:sldLayoutId id="2147483651" r:id="rId2"/>
    <p:sldLayoutId id="2147483650" r:id="rId3"/>
    <p:sldLayoutId id="2147483654" r:id="rId4"/>
    <p:sldLayoutId id="2147483657" r:id="rId5"/>
    <p:sldLayoutId id="2147483652" r:id="rId6"/>
    <p:sldLayoutId id="2147483656" r:id="rId7"/>
  </p:sldLayoutIdLst>
  <p:hf hdr="0" ftr="0" dt="0"/>
  <p:txStyles>
    <p:titleStyle>
      <a:lvl1pPr marL="0" marR="0" indent="0" algn="l" defTabSz="914400" rtl="0" eaLnBrk="1" fontAlgn="auto" latinLnBrk="0" hangingPunct="1">
        <a:lnSpc>
          <a:spcPts val="4500"/>
        </a:lnSpc>
        <a:spcBef>
          <a:spcPts val="0"/>
        </a:spcBef>
        <a:spcAft>
          <a:spcPts val="0"/>
        </a:spcAft>
        <a:buClrTx/>
        <a:buSzTx/>
        <a:buFontTx/>
        <a:buNone/>
        <a:tabLst/>
        <a:defRPr kumimoji="0" lang="tr-TR" sz="3200" b="1" i="0" u="none" strike="noStrike" kern="1200" cap="none" spc="0" normalizeH="0" baseline="0" noProof="0">
          <a:ln>
            <a:noFill/>
          </a:ln>
          <a:noFill/>
          <a:effectLst/>
          <a:uLnTx/>
          <a:uFillTx/>
          <a:latin typeface="Posterama" panose="020B0504020200020000" pitchFamily="34" charset="0"/>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Dikdörtgen 10">
            <a:extLst>
              <a:ext uri="{FF2B5EF4-FFF2-40B4-BE49-F238E27FC236}">
                <a16:creationId xmlns:a16="http://schemas.microsoft.com/office/drawing/2014/main" id="{1519FEA3-A5AA-106D-D2D9-896F74EDD4D6}"/>
              </a:ext>
            </a:extLst>
          </p:cNvPr>
          <p:cNvSpPr txBox="1"/>
          <p:nvPr/>
        </p:nvSpPr>
        <p:spPr>
          <a:xfrm>
            <a:off x="5161227" y="1792844"/>
            <a:ext cx="6277050" cy="2716623"/>
          </a:xfrm>
          <a:prstGeom prst="rect">
            <a:avLst/>
          </a:prstGeom>
          <a:noFill/>
        </p:spPr>
        <p:txBody>
          <a:bodyPr wrap="square" lIns="360000" rtlCol="0" anchor="ctr" anchorCtr="0">
            <a:noAutofit/>
          </a:bodyPr>
          <a:lstStyle/>
          <a:p>
            <a:r>
              <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SANAL KUPLAJ</a:t>
            </a:r>
            <a:r>
              <a:rPr lang="en-US"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IN</a:t>
            </a:r>
            <a:endPar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endParaRPr>
          </a:p>
          <a:p>
            <a:r>
              <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HAT KAPASİTESİN</a:t>
            </a:r>
            <a:r>
              <a:rPr lang="en-US"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E </a:t>
            </a:r>
            <a:r>
              <a:rPr lang="en-US" sz="4400" cap="all" dirty="0" err="1">
                <a:solidFill>
                  <a:srgbClr val="003087"/>
                </a:solidFill>
                <a:latin typeface="Segoe UI Black" panose="020B0A02040204020203" pitchFamily="34" charset="0"/>
                <a:ea typeface="Segoe UI Black" panose="020B0A02040204020203" pitchFamily="34" charset="0"/>
                <a:cs typeface="Calibri" panose="020F0502020204030204" pitchFamily="34" charset="0"/>
              </a:rPr>
              <a:t>etkİSİ</a:t>
            </a:r>
            <a:endPar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endParaRPr>
          </a:p>
        </p:txBody>
      </p:sp>
      <p:sp>
        <p:nvSpPr>
          <p:cNvPr id="3" name="TextBox 41">
            <a:extLst>
              <a:ext uri="{FF2B5EF4-FFF2-40B4-BE49-F238E27FC236}">
                <a16:creationId xmlns:a16="http://schemas.microsoft.com/office/drawing/2014/main" id="{F819A479-EF03-CC12-7CB1-18256212A344}"/>
              </a:ext>
            </a:extLst>
          </p:cNvPr>
          <p:cNvSpPr txBox="1"/>
          <p:nvPr/>
        </p:nvSpPr>
        <p:spPr>
          <a:xfrm>
            <a:off x="5627566" y="4720353"/>
            <a:ext cx="3648513" cy="1306154"/>
          </a:xfrm>
          <a:prstGeom prst="rect">
            <a:avLst/>
          </a:prstGeom>
          <a:noFill/>
        </p:spPr>
        <p:txBody>
          <a:bodyPr wrap="square" lIns="180000" tIns="72000" rIns="180000" bIns="72000" rtlCol="0" anchor="ctr" anchorCtr="0">
            <a:noAutofit/>
          </a:bodyPr>
          <a:lstStyle/>
          <a:p>
            <a:r>
              <a:rPr lang="en-US" sz="2400" b="1" dirty="0">
                <a:solidFill>
                  <a:schemeClr val="bg1"/>
                </a:solidFill>
                <a:latin typeface="Calibri" panose="020F0502020204030204" pitchFamily="34" charset="0"/>
                <a:cs typeface="Calibri" panose="020F0502020204030204" pitchFamily="34" charset="0"/>
              </a:rPr>
              <a:t>Recepcan YETİMOĞLU </a:t>
            </a:r>
            <a:r>
              <a:rPr lang="tr-TR" dirty="0">
                <a:solidFill>
                  <a:schemeClr val="bg1"/>
                </a:solidFill>
                <a:latin typeface="Calibri" panose="020F0502020204030204" pitchFamily="34" charset="0"/>
                <a:cs typeface="Calibri" panose="020F0502020204030204" pitchFamily="34" charset="0"/>
              </a:rPr>
              <a:t>Unvan: </a:t>
            </a:r>
            <a:r>
              <a:rPr lang="en-US" dirty="0" err="1">
                <a:solidFill>
                  <a:schemeClr val="bg1"/>
                </a:solidFill>
                <a:latin typeface="Calibri" panose="020F0502020204030204" pitchFamily="34" charset="0"/>
                <a:cs typeface="Calibri" panose="020F0502020204030204" pitchFamily="34" charset="0"/>
              </a:rPr>
              <a:t>Elektrik</a:t>
            </a:r>
            <a:r>
              <a:rPr lang="en-US" dirty="0">
                <a:solidFill>
                  <a:schemeClr val="bg1"/>
                </a:solidFill>
                <a:latin typeface="Calibri" panose="020F0502020204030204" pitchFamily="34" charset="0"/>
                <a:cs typeface="Calibri" panose="020F0502020204030204" pitchFamily="34" charset="0"/>
              </a:rPr>
              <a:t> Elektronik</a:t>
            </a:r>
            <a:r>
              <a:rPr lang="tr-TR" dirty="0">
                <a:solidFill>
                  <a:schemeClr val="bg1"/>
                </a:solidFill>
                <a:latin typeface="Calibri" panose="020F0502020204030204" pitchFamily="34" charset="0"/>
                <a:cs typeface="Calibri" panose="020F0502020204030204" pitchFamily="34" charset="0"/>
              </a:rPr>
              <a:t> Mühendisi Öğrencisi</a:t>
            </a:r>
            <a:endParaRPr lang="en-US" dirty="0">
              <a:solidFill>
                <a:schemeClr val="bg1"/>
              </a:solidFill>
              <a:latin typeface="Calibri" panose="020F0502020204030204" pitchFamily="34" charset="0"/>
              <a:cs typeface="Calibri" panose="020F0502020204030204" pitchFamily="34" charset="0"/>
            </a:endParaRPr>
          </a:p>
        </p:txBody>
      </p:sp>
      <p:sp>
        <p:nvSpPr>
          <p:cNvPr id="4" name="TextBox 42">
            <a:extLst>
              <a:ext uri="{FF2B5EF4-FFF2-40B4-BE49-F238E27FC236}">
                <a16:creationId xmlns:a16="http://schemas.microsoft.com/office/drawing/2014/main" id="{97E5BD68-5B2C-B276-DAE5-D3D15A63E50B}"/>
              </a:ext>
            </a:extLst>
          </p:cNvPr>
          <p:cNvSpPr txBox="1"/>
          <p:nvPr/>
        </p:nvSpPr>
        <p:spPr>
          <a:xfrm>
            <a:off x="8998226" y="5136579"/>
            <a:ext cx="2273279" cy="517944"/>
          </a:xfrm>
          <a:prstGeom prst="rect">
            <a:avLst/>
          </a:prstGeom>
          <a:noFill/>
        </p:spPr>
        <p:txBody>
          <a:bodyPr wrap="square" lIns="180000" tIns="72000" rIns="180000" bIns="72000" rtlCol="0">
            <a:spAutoFit/>
          </a:bodyPr>
          <a:lstStyle/>
          <a:p>
            <a:pPr algn="r">
              <a:lnSpc>
                <a:spcPct val="150000"/>
              </a:lnSpc>
            </a:pPr>
            <a:r>
              <a:rPr lang="tr-TR" dirty="0">
                <a:solidFill>
                  <a:schemeClr val="bg1"/>
                </a:solidFill>
                <a:latin typeface="Calibri" panose="020F0502020204030204" pitchFamily="34" charset="0"/>
                <a:cs typeface="Calibri" panose="020F0502020204030204" pitchFamily="34" charset="0"/>
              </a:rPr>
              <a:t> </a:t>
            </a:r>
            <a:r>
              <a:rPr lang="en-US" dirty="0">
                <a:solidFill>
                  <a:schemeClr val="bg1"/>
                </a:solidFill>
                <a:latin typeface="Calibri" panose="020F0502020204030204" pitchFamily="34" charset="0"/>
                <a:cs typeface="Calibri" panose="020F0502020204030204" pitchFamily="34" charset="0"/>
              </a:rPr>
              <a:t>Eylül</a:t>
            </a:r>
            <a:r>
              <a:rPr lang="tr-TR" dirty="0">
                <a:solidFill>
                  <a:schemeClr val="bg1"/>
                </a:solidFill>
                <a:latin typeface="Calibri" panose="020F0502020204030204" pitchFamily="34" charset="0"/>
                <a:cs typeface="Calibri" panose="020F0502020204030204" pitchFamily="34" charset="0"/>
              </a:rPr>
              <a:t> 2026</a:t>
            </a:r>
            <a:endParaRPr lang="en-US" dirty="0">
              <a:solidFill>
                <a:schemeClr val="bg1"/>
              </a:solidFill>
              <a:latin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2DEF3F28-48E5-46B0-87AD-4AD173E306E9}"/>
              </a:ext>
            </a:extLst>
          </p:cNvPr>
          <p:cNvSpPr/>
          <p:nvPr/>
        </p:nvSpPr>
        <p:spPr>
          <a:xfrm rot="19210176">
            <a:off x="8320880" y="5780054"/>
            <a:ext cx="485022" cy="485022"/>
          </a:xfrm>
          <a:prstGeom prst="ellipse">
            <a:avLst/>
          </a:prstGeom>
          <a:solidFill>
            <a:srgbClr val="FFFFFF"/>
          </a:solidFill>
          <a:ln w="12700" cap="flat" cmpd="sng" algn="ctr">
            <a:noFill/>
            <a:prstDash val="solid"/>
            <a:miter lim="800000"/>
          </a:ln>
          <a:effectLst>
            <a:outerShdw blurRad="393700" dist="50800" dir="5400000" algn="ctr" rotWithShape="0">
              <a:srgbClr val="000000">
                <a:alpha val="2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37" name="Freeform: Shape 36">
            <a:extLst>
              <a:ext uri="{FF2B5EF4-FFF2-40B4-BE49-F238E27FC236}">
                <a16:creationId xmlns:a16="http://schemas.microsoft.com/office/drawing/2014/main" id="{62320595-D2BA-4114-BB14-C7D615578289}"/>
              </a:ext>
            </a:extLst>
          </p:cNvPr>
          <p:cNvSpPr/>
          <p:nvPr/>
        </p:nvSpPr>
        <p:spPr>
          <a:xfrm rot="2700000">
            <a:off x="8454007" y="5917124"/>
            <a:ext cx="218766" cy="218766"/>
          </a:xfrm>
          <a:custGeom>
            <a:avLst/>
            <a:gdLst>
              <a:gd name="connsiteX0" fmla="*/ 1063636 w 1327482"/>
              <a:gd name="connsiteY0" fmla="*/ 0 h 1327482"/>
              <a:gd name="connsiteX1" fmla="*/ 1086849 w 1327482"/>
              <a:gd name="connsiteY1" fmla="*/ 0 h 1327482"/>
              <a:gd name="connsiteX2" fmla="*/ 1327482 w 1327482"/>
              <a:gd name="connsiteY2" fmla="*/ 240633 h 1327482"/>
              <a:gd name="connsiteX3" fmla="*/ 1327482 w 1327482"/>
              <a:gd name="connsiteY3" fmla="*/ 1086849 h 1327482"/>
              <a:gd name="connsiteX4" fmla="*/ 1086849 w 1327482"/>
              <a:gd name="connsiteY4" fmla="*/ 1327482 h 1327482"/>
              <a:gd name="connsiteX5" fmla="*/ 240633 w 1327482"/>
              <a:gd name="connsiteY5" fmla="*/ 1327482 h 1327482"/>
              <a:gd name="connsiteX6" fmla="*/ 0 w 1327482"/>
              <a:gd name="connsiteY6" fmla="*/ 1086849 h 1327482"/>
              <a:gd name="connsiteX7" fmla="*/ 0 w 1327482"/>
              <a:gd name="connsiteY7" fmla="*/ 1065660 h 1327482"/>
              <a:gd name="connsiteX8" fmla="*/ 890953 w 1327482"/>
              <a:gd name="connsiteY8" fmla="*/ 1065662 h 1327482"/>
              <a:gd name="connsiteX9" fmla="*/ 7859 w 1327482"/>
              <a:gd name="connsiteY9" fmla="*/ 182568 h 1327482"/>
              <a:gd name="connsiteX10" fmla="*/ 18910 w 1327482"/>
              <a:gd name="connsiteY10" fmla="*/ 146968 h 1327482"/>
              <a:gd name="connsiteX11" fmla="*/ 192137 w 1327482"/>
              <a:gd name="connsiteY11" fmla="*/ 4889 h 1327482"/>
              <a:gd name="connsiteX12" fmla="*/ 202609 w 1327482"/>
              <a:gd name="connsiteY12" fmla="*/ 3833 h 1327482"/>
              <a:gd name="connsiteX13" fmla="*/ 1063636 w 1327482"/>
              <a:gd name="connsiteY13" fmla="*/ 864860 h 132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7482" h="1327482">
                <a:moveTo>
                  <a:pt x="1063636" y="0"/>
                </a:moveTo>
                <a:lnTo>
                  <a:pt x="1086849" y="0"/>
                </a:lnTo>
                <a:cubicBezTo>
                  <a:pt x="1219747" y="0"/>
                  <a:pt x="1327482" y="107735"/>
                  <a:pt x="1327482" y="240633"/>
                </a:cubicBezTo>
                <a:lnTo>
                  <a:pt x="1327482" y="1086849"/>
                </a:lnTo>
                <a:cubicBezTo>
                  <a:pt x="1327482" y="1219747"/>
                  <a:pt x="1219747" y="1327482"/>
                  <a:pt x="1086849" y="1327482"/>
                </a:cubicBezTo>
                <a:lnTo>
                  <a:pt x="240633" y="1327482"/>
                </a:lnTo>
                <a:cubicBezTo>
                  <a:pt x="107735" y="1327482"/>
                  <a:pt x="0" y="1219747"/>
                  <a:pt x="0" y="1086849"/>
                </a:cubicBezTo>
                <a:lnTo>
                  <a:pt x="0" y="1065660"/>
                </a:lnTo>
                <a:lnTo>
                  <a:pt x="890953" y="1065662"/>
                </a:lnTo>
                <a:lnTo>
                  <a:pt x="7859" y="182568"/>
                </a:lnTo>
                <a:lnTo>
                  <a:pt x="18910" y="146968"/>
                </a:lnTo>
                <a:cubicBezTo>
                  <a:pt x="49352" y="74995"/>
                  <a:pt x="113814" y="20916"/>
                  <a:pt x="192137" y="4889"/>
                </a:cubicBezTo>
                <a:lnTo>
                  <a:pt x="202609" y="3833"/>
                </a:lnTo>
                <a:lnTo>
                  <a:pt x="1063636" y="864860"/>
                </a:lnTo>
                <a:close/>
              </a:path>
            </a:pathLst>
          </a:custGeom>
          <a:solidFill>
            <a:srgbClr val="FF5620"/>
          </a:solidFill>
          <a:ln>
            <a:noFill/>
          </a:ln>
        </p:spPr>
        <p:txBody>
          <a:bodyPr vert="horz" wrap="square" lIns="91440" tIns="45720" rIns="91440" bIns="45720" numCol="1" anchor="t" anchorCtr="0" compatLnSpc="1">
            <a:prstTxWarp prst="textNoShape">
              <a:avLst/>
            </a:prstTxWarp>
          </a:bodyPr>
          <a:lstStyle/>
          <a:p>
            <a:endParaRPr lang="tr-TR" kern="0" dirty="0">
              <a:solidFill>
                <a:prstClr val="black"/>
              </a:solidFill>
              <a:latin typeface="Calibri" panose="020F0502020204030204" pitchFamily="34" charset="0"/>
            </a:endParaRPr>
          </a:p>
        </p:txBody>
      </p:sp>
      <p:sp>
        <p:nvSpPr>
          <p:cNvPr id="2" name="TextBox 1">
            <a:extLst>
              <a:ext uri="{FF2B5EF4-FFF2-40B4-BE49-F238E27FC236}">
                <a16:creationId xmlns:a16="http://schemas.microsoft.com/office/drawing/2014/main" id="{8269E67F-5369-4BA0-9224-10A574D3CEAA}"/>
              </a:ext>
            </a:extLst>
          </p:cNvPr>
          <p:cNvSpPr txBox="1"/>
          <p:nvPr/>
        </p:nvSpPr>
        <p:spPr>
          <a:xfrm>
            <a:off x="753723" y="2903998"/>
            <a:ext cx="3702271" cy="738664"/>
          </a:xfrm>
          <a:prstGeom prst="rect">
            <a:avLst/>
          </a:prstGeom>
          <a:noFill/>
        </p:spPr>
        <p:txBody>
          <a:bodyPr wrap="square" rtlCol="0">
            <a:spAutoFit/>
          </a:bodyPr>
          <a:lstStyle/>
          <a:p>
            <a:r>
              <a:rPr lang="tr-TR" sz="1400" i="1" dirty="0">
                <a:solidFill>
                  <a:schemeClr val="bg1">
                    <a:lumMod val="65000"/>
                  </a:schemeClr>
                </a:solidFill>
                <a:latin typeface="Segoe UI" panose="020B0502040204020203" pitchFamily="34" charset="0"/>
                <a:cs typeface="Segoe UI" panose="020B0502040204020203" pitchFamily="34" charset="0"/>
              </a:rPr>
              <a:t>Alanımızda </a:t>
            </a:r>
            <a:r>
              <a:rPr lang="tr-TR" sz="1400" b="1" i="1" dirty="0">
                <a:solidFill>
                  <a:schemeClr val="bg1">
                    <a:lumMod val="65000"/>
                  </a:schemeClr>
                </a:solidFill>
                <a:latin typeface="Segoe UI" panose="020B0502040204020203" pitchFamily="34" charset="0"/>
                <a:cs typeface="Segoe UI" panose="020B0502040204020203" pitchFamily="34" charset="0"/>
              </a:rPr>
              <a:t>en iyileri </a:t>
            </a:r>
            <a:r>
              <a:rPr lang="tr-TR" sz="1400" i="1" dirty="0">
                <a:solidFill>
                  <a:schemeClr val="bg1">
                    <a:lumMod val="65000"/>
                  </a:schemeClr>
                </a:solidFill>
                <a:latin typeface="Segoe UI" panose="020B0502040204020203" pitchFamily="34" charset="0"/>
                <a:cs typeface="Segoe UI" panose="020B0502040204020203" pitchFamily="34" charset="0"/>
              </a:rPr>
              <a:t>üretmek,</a:t>
            </a:r>
          </a:p>
          <a:p>
            <a:r>
              <a:rPr lang="tr-TR" sz="1400" b="1" i="1" dirty="0">
                <a:solidFill>
                  <a:schemeClr val="bg1">
                    <a:lumMod val="65000"/>
                  </a:schemeClr>
                </a:solidFill>
                <a:latin typeface="Segoe UI" panose="020B0502040204020203" pitchFamily="34" charset="0"/>
                <a:cs typeface="Segoe UI" panose="020B0502040204020203" pitchFamily="34" charset="0"/>
              </a:rPr>
              <a:t>Oyun değiştirici </a:t>
            </a:r>
            <a:r>
              <a:rPr lang="tr-TR" sz="1400" i="1" dirty="0">
                <a:solidFill>
                  <a:schemeClr val="bg1">
                    <a:lumMod val="65000"/>
                  </a:schemeClr>
                </a:solidFill>
                <a:latin typeface="Segoe UI" panose="020B0502040204020203" pitchFamily="34" charset="0"/>
                <a:cs typeface="Segoe UI" panose="020B0502040204020203" pitchFamily="34" charset="0"/>
              </a:rPr>
              <a:t>teknolojileri geliştirmek,</a:t>
            </a:r>
          </a:p>
          <a:p>
            <a:r>
              <a:rPr lang="tr-TR" sz="1400" b="1" i="1" dirty="0">
                <a:solidFill>
                  <a:schemeClr val="bg1">
                    <a:lumMod val="65000"/>
                  </a:schemeClr>
                </a:solidFill>
                <a:latin typeface="Segoe UI" panose="020B0502040204020203" pitchFamily="34" charset="0"/>
                <a:cs typeface="Segoe UI" panose="020B0502040204020203" pitchFamily="34" charset="0"/>
              </a:rPr>
              <a:t>İhracat</a:t>
            </a:r>
            <a:r>
              <a:rPr lang="tr-TR" sz="1400" i="1" dirty="0">
                <a:solidFill>
                  <a:schemeClr val="bg1">
                    <a:lumMod val="65000"/>
                  </a:schemeClr>
                </a:solidFill>
                <a:latin typeface="Segoe UI" panose="020B0502040204020203" pitchFamily="34" charset="0"/>
                <a:cs typeface="Segoe UI" panose="020B0502040204020203" pitchFamily="34" charset="0"/>
              </a:rPr>
              <a:t> odaklı büyümek.</a:t>
            </a:r>
          </a:p>
        </p:txBody>
      </p:sp>
    </p:spTree>
    <p:extLst>
      <p:ext uri="{BB962C8B-B14F-4D97-AF65-F5344CB8AC3E}">
        <p14:creationId xmlns:p14="http://schemas.microsoft.com/office/powerpoint/2010/main" val="2779230412"/>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Metin kutusu 41">
            <a:extLst>
              <a:ext uri="{FF2B5EF4-FFF2-40B4-BE49-F238E27FC236}">
                <a16:creationId xmlns:a16="http://schemas.microsoft.com/office/drawing/2014/main" id="{3ADF1C07-BE85-46EF-8364-B1AB60C7522E}"/>
              </a:ext>
            </a:extLst>
          </p:cNvPr>
          <p:cNvSpPr txBox="1"/>
          <p:nvPr/>
        </p:nvSpPr>
        <p:spPr>
          <a:xfrm>
            <a:off x="978415" y="2193734"/>
            <a:ext cx="7206129" cy="3385542"/>
          </a:xfrm>
          <a:prstGeom prst="rect">
            <a:avLst/>
          </a:prstGeom>
          <a:noFill/>
        </p:spPr>
        <p:txBody>
          <a:bodyPr wrap="square" rtlCol="0">
            <a:spAutoFit/>
          </a:bodyPr>
          <a:lstStyle/>
          <a:p>
            <a:pPr>
              <a:spcBef>
                <a:spcPts val="1200"/>
              </a:spcBef>
            </a:pPr>
            <a:r>
              <a:rPr lang="tr-TR" b="1" cap="all" dirty="0">
                <a:solidFill>
                  <a:srgbClr val="003087"/>
                </a:solidFill>
                <a:latin typeface="Segoe UI" panose="020B0502040204020203" pitchFamily="34" charset="0"/>
                <a:cs typeface="Segoe UI" panose="020B0502040204020203" pitchFamily="34" charset="0"/>
              </a:rPr>
              <a:t>Sinyalizasyon Yöntemleri</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Sanal Kuplaj Nedir?</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Literatürde Sanal Kuplaj</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Çalışma</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Test Ağı</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Tren Modeli ve Dinamiği</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Kabuller ve Simülasyon Koşulları</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Deneyler ve Sonuçlar</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Bulgular</a:t>
            </a:r>
          </a:p>
        </p:txBody>
      </p:sp>
      <p:sp>
        <p:nvSpPr>
          <p:cNvPr id="7" name="Oval 6">
            <a:extLst>
              <a:ext uri="{FF2B5EF4-FFF2-40B4-BE49-F238E27FC236}">
                <a16:creationId xmlns:a16="http://schemas.microsoft.com/office/drawing/2014/main" id="{421DA2A1-2B82-4049-8037-E629E1FF3431}"/>
              </a:ext>
            </a:extLst>
          </p:cNvPr>
          <p:cNvSpPr/>
          <p:nvPr/>
        </p:nvSpPr>
        <p:spPr>
          <a:xfrm>
            <a:off x="621287" y="2225518"/>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47" name="Oval 46">
            <a:extLst>
              <a:ext uri="{FF2B5EF4-FFF2-40B4-BE49-F238E27FC236}">
                <a16:creationId xmlns:a16="http://schemas.microsoft.com/office/drawing/2014/main" id="{1C2EE151-3BDE-41E5-A6CA-F331054FF6ED}"/>
              </a:ext>
            </a:extLst>
          </p:cNvPr>
          <p:cNvSpPr/>
          <p:nvPr/>
        </p:nvSpPr>
        <p:spPr>
          <a:xfrm>
            <a:off x="621287" y="2654526"/>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dirty="0"/>
          </a:p>
        </p:txBody>
      </p:sp>
      <p:sp>
        <p:nvSpPr>
          <p:cNvPr id="8" name="Oval 7">
            <a:extLst>
              <a:ext uri="{FF2B5EF4-FFF2-40B4-BE49-F238E27FC236}">
                <a16:creationId xmlns:a16="http://schemas.microsoft.com/office/drawing/2014/main" id="{BB502744-EDCA-4768-A3B5-B3401F023670}"/>
              </a:ext>
            </a:extLst>
          </p:cNvPr>
          <p:cNvSpPr/>
          <p:nvPr/>
        </p:nvSpPr>
        <p:spPr>
          <a:xfrm>
            <a:off x="621287" y="3077691"/>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2" name="Oval 11">
            <a:extLst>
              <a:ext uri="{FF2B5EF4-FFF2-40B4-BE49-F238E27FC236}">
                <a16:creationId xmlns:a16="http://schemas.microsoft.com/office/drawing/2014/main" id="{B367841E-60BF-44EA-A0AE-B3B973DAAF3D}"/>
              </a:ext>
            </a:extLst>
          </p:cNvPr>
          <p:cNvSpPr/>
          <p:nvPr/>
        </p:nvSpPr>
        <p:spPr>
          <a:xfrm>
            <a:off x="621287" y="3890333"/>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3" name="Oval 12">
            <a:extLst>
              <a:ext uri="{FF2B5EF4-FFF2-40B4-BE49-F238E27FC236}">
                <a16:creationId xmlns:a16="http://schemas.microsoft.com/office/drawing/2014/main" id="{13E71E64-10DC-4DA4-BCBD-64E14C2F1B62}"/>
              </a:ext>
            </a:extLst>
          </p:cNvPr>
          <p:cNvSpPr/>
          <p:nvPr/>
        </p:nvSpPr>
        <p:spPr>
          <a:xfrm>
            <a:off x="621287" y="3484012"/>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6" name="Title 9">
            <a:extLst>
              <a:ext uri="{FF2B5EF4-FFF2-40B4-BE49-F238E27FC236}">
                <a16:creationId xmlns:a16="http://schemas.microsoft.com/office/drawing/2014/main" id="{18A96956-405B-4837-AAD0-9AA1CC5CE7FC}"/>
              </a:ext>
            </a:extLst>
          </p:cNvPr>
          <p:cNvSpPr txBox="1">
            <a:spLocks/>
          </p:cNvSpPr>
          <p:nvPr/>
        </p:nvSpPr>
        <p:spPr>
          <a:xfrm>
            <a:off x="421520" y="374078"/>
            <a:ext cx="5946550" cy="595928"/>
          </a:xfrm>
          <a:prstGeom prst="rect">
            <a:avLst/>
          </a:prstGeom>
          <a:noFill/>
        </p:spPr>
        <p:txBody>
          <a:bodyPr wrap="square" rtlCol="0">
            <a:no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tr-TR" sz="3200" b="1" i="0" u="none" strike="noStrike" kern="1200" cap="all" spc="0" normalizeH="0" baseline="0" noProof="0" dirty="0">
                <a:ln>
                  <a:noFill/>
                </a:ln>
                <a:solidFill>
                  <a:srgbClr val="003087"/>
                </a:solidFill>
                <a:effectLst/>
                <a:uLnTx/>
                <a:uFillTx/>
                <a:latin typeface="Posterama" panose="020B0504020200020000" pitchFamily="34" charset="0"/>
                <a:ea typeface="+mn-ea"/>
                <a:cs typeface="Posterama" panose="020B0504020200020000" pitchFamily="34" charset="0"/>
              </a:defRPr>
            </a:lvl1pPr>
          </a:lstStyle>
          <a:p>
            <a:r>
              <a:rPr lang="tr-TR" dirty="0">
                <a:latin typeface="Segoe UI Black" panose="020B0A02040204020203" pitchFamily="34" charset="0"/>
                <a:ea typeface="Segoe UI Black" panose="020B0A02040204020203" pitchFamily="34" charset="0"/>
              </a:rPr>
              <a:t>İÇERİK</a:t>
            </a:r>
            <a:endParaRPr lang="tr-TR" sz="2400" b="0" dirty="0">
              <a:solidFill>
                <a:srgbClr val="F7931D"/>
              </a:solidFill>
              <a:latin typeface="Segoe UI Black" panose="020B0A02040204020203" pitchFamily="34" charset="0"/>
              <a:ea typeface="Segoe UI Black" panose="020B0A02040204020203" pitchFamily="34" charset="0"/>
            </a:endParaRPr>
          </a:p>
        </p:txBody>
      </p:sp>
      <p:sp>
        <p:nvSpPr>
          <p:cNvPr id="10" name="Oval 9">
            <a:extLst>
              <a:ext uri="{FF2B5EF4-FFF2-40B4-BE49-F238E27FC236}">
                <a16:creationId xmlns:a16="http://schemas.microsoft.com/office/drawing/2014/main" id="{96763803-F06A-4F8C-91C3-B6080C8BF0A4}"/>
              </a:ext>
            </a:extLst>
          </p:cNvPr>
          <p:cNvSpPr/>
          <p:nvPr/>
        </p:nvSpPr>
        <p:spPr>
          <a:xfrm>
            <a:off x="621287" y="4324986"/>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1" name="Oval 10">
            <a:extLst>
              <a:ext uri="{FF2B5EF4-FFF2-40B4-BE49-F238E27FC236}">
                <a16:creationId xmlns:a16="http://schemas.microsoft.com/office/drawing/2014/main" id="{7D009DDF-A7A9-42F9-9A58-F313227F5D2A}"/>
              </a:ext>
            </a:extLst>
          </p:cNvPr>
          <p:cNvSpPr/>
          <p:nvPr/>
        </p:nvSpPr>
        <p:spPr>
          <a:xfrm>
            <a:off x="621287" y="4759640"/>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4" name="Oval 13">
            <a:extLst>
              <a:ext uri="{FF2B5EF4-FFF2-40B4-BE49-F238E27FC236}">
                <a16:creationId xmlns:a16="http://schemas.microsoft.com/office/drawing/2014/main" id="{B8EF4556-5E02-4084-B247-3C1A50FE3201}"/>
              </a:ext>
            </a:extLst>
          </p:cNvPr>
          <p:cNvSpPr/>
          <p:nvPr/>
        </p:nvSpPr>
        <p:spPr>
          <a:xfrm>
            <a:off x="621287" y="5169458"/>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5" name="Oval 14">
            <a:extLst>
              <a:ext uri="{FF2B5EF4-FFF2-40B4-BE49-F238E27FC236}">
                <a16:creationId xmlns:a16="http://schemas.microsoft.com/office/drawing/2014/main" id="{0251A7EC-FFD9-4E04-8DAC-EB886D1891E8}"/>
              </a:ext>
            </a:extLst>
          </p:cNvPr>
          <p:cNvSpPr/>
          <p:nvPr/>
        </p:nvSpPr>
        <p:spPr>
          <a:xfrm>
            <a:off x="621287" y="5579276"/>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7" name="Rectangle 16">
            <a:extLst>
              <a:ext uri="{FF2B5EF4-FFF2-40B4-BE49-F238E27FC236}">
                <a16:creationId xmlns:a16="http://schemas.microsoft.com/office/drawing/2014/main" id="{EBE28D82-48A2-45B8-ACA3-958630194D66}"/>
              </a:ext>
            </a:extLst>
          </p:cNvPr>
          <p:cNvSpPr/>
          <p:nvPr/>
        </p:nvSpPr>
        <p:spPr>
          <a:xfrm>
            <a:off x="10610850" y="6467476"/>
            <a:ext cx="742950" cy="257175"/>
          </a:xfrm>
          <a:prstGeom prst="rect">
            <a:avLst/>
          </a:prstGeom>
          <a:solidFill>
            <a:srgbClr val="F0592B"/>
          </a:solidFill>
          <a:ln>
            <a:solidFill>
              <a:srgbClr val="EF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8" name="Rectangle 11">
            <a:extLst>
              <a:ext uri="{FF2B5EF4-FFF2-40B4-BE49-F238E27FC236}">
                <a16:creationId xmlns:a16="http://schemas.microsoft.com/office/drawing/2014/main" id="{34DAA0DA-4370-4950-932B-0F797D019F1F}"/>
              </a:ext>
            </a:extLst>
          </p:cNvPr>
          <p:cNvSpPr/>
          <p:nvPr userDrawn="1"/>
        </p:nvSpPr>
        <p:spPr>
          <a:xfrm>
            <a:off x="10603788" y="6460258"/>
            <a:ext cx="665567" cy="307777"/>
          </a:xfrm>
          <a:prstGeom prst="rect">
            <a:avLst/>
          </a:prstGeom>
        </p:spPr>
        <p:txBody>
          <a:bodyPr wrap="none">
            <a:spAutoFit/>
          </a:bodyPr>
          <a:lstStyle/>
          <a:p>
            <a:pPr algn="ctr"/>
            <a:fld id="{B05105E6-3F36-410B-8F60-3836D1C1D20A}" type="slidenum">
              <a:rPr lang="tr-TR" sz="1400" smtClean="0">
                <a:solidFill>
                  <a:schemeClr val="bg1"/>
                </a:solidFill>
                <a:latin typeface="Segoe UI" panose="020B0502040204020203" pitchFamily="34" charset="0"/>
                <a:cs typeface="Segoe UI" panose="020B0502040204020203" pitchFamily="34" charset="0"/>
              </a:rPr>
              <a:t>‹#›</a:t>
            </a:fld>
            <a:r>
              <a:rPr lang="tr-TR" sz="1400" dirty="0">
                <a:solidFill>
                  <a:schemeClr val="bg1"/>
                </a:solidFill>
                <a:latin typeface="Segoe UI" panose="020B0502040204020203" pitchFamily="34" charset="0"/>
                <a:cs typeface="Segoe UI" panose="020B0502040204020203" pitchFamily="34" charset="0"/>
              </a:rPr>
              <a:t>/17</a:t>
            </a:r>
          </a:p>
        </p:txBody>
      </p:sp>
    </p:spTree>
    <p:extLst>
      <p:ext uri="{BB962C8B-B14F-4D97-AF65-F5344CB8AC3E}">
        <p14:creationId xmlns:p14="http://schemas.microsoft.com/office/powerpoint/2010/main" val="117731333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4475A-97C7-F616-F772-8505346368FF}"/>
              </a:ext>
            </a:extLst>
          </p:cNvPr>
          <p:cNvSpPr>
            <a:spLocks noGrp="1"/>
          </p:cNvSpPr>
          <p:nvPr>
            <p:ph type="title"/>
          </p:nvPr>
        </p:nvSpPr>
        <p:spPr>
          <a:xfrm>
            <a:off x="409163" y="360549"/>
            <a:ext cx="7565972" cy="1110111"/>
          </a:xfrm>
        </p:spPr>
        <p:txBody>
          <a:bodyPr/>
          <a:lstStyle/>
          <a:p>
            <a:r>
              <a:rPr lang="en-US" dirty="0" err="1"/>
              <a:t>SİnyalİZASYON</a:t>
            </a:r>
            <a:r>
              <a:rPr lang="en-US" dirty="0"/>
              <a:t> YÖNTEMLERİ</a:t>
            </a:r>
          </a:p>
        </p:txBody>
      </p:sp>
      <p:pic>
        <p:nvPicPr>
          <p:cNvPr id="5" name="Picture 4">
            <a:extLst>
              <a:ext uri="{FF2B5EF4-FFF2-40B4-BE49-F238E27FC236}">
                <a16:creationId xmlns:a16="http://schemas.microsoft.com/office/drawing/2014/main" id="{42927148-9171-8356-287A-40D3AF9AF7A3}"/>
              </a:ext>
            </a:extLst>
          </p:cNvPr>
          <p:cNvPicPr>
            <a:picLocks noChangeAspect="1"/>
          </p:cNvPicPr>
          <p:nvPr/>
        </p:nvPicPr>
        <p:blipFill>
          <a:blip r:embed="rId2">
            <a:extLst>
              <a:ext uri="{28A0092B-C50C-407E-A947-70E740481C1C}">
                <a14:useLocalDpi xmlns:a14="http://schemas.microsoft.com/office/drawing/2010/main" val="0"/>
              </a:ext>
            </a:extLst>
          </a:blip>
          <a:srcRect l="3173" r="22684"/>
          <a:stretch>
            <a:fillRect/>
          </a:stretch>
        </p:blipFill>
        <p:spPr>
          <a:xfrm>
            <a:off x="6984072" y="4279601"/>
            <a:ext cx="3975894" cy="1805888"/>
          </a:xfrm>
          <a:prstGeom prst="rect">
            <a:avLst/>
          </a:prstGeom>
        </p:spPr>
      </p:pic>
      <p:pic>
        <p:nvPicPr>
          <p:cNvPr id="7" name="Picture 6">
            <a:extLst>
              <a:ext uri="{FF2B5EF4-FFF2-40B4-BE49-F238E27FC236}">
                <a16:creationId xmlns:a16="http://schemas.microsoft.com/office/drawing/2014/main" id="{102331D9-0E82-9485-AEE2-EEAD8A924D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5215" y="4279602"/>
            <a:ext cx="3951598" cy="1805887"/>
          </a:xfrm>
          <a:prstGeom prst="rect">
            <a:avLst/>
          </a:prstGeom>
        </p:spPr>
      </p:pic>
      <p:pic>
        <p:nvPicPr>
          <p:cNvPr id="13" name="Picture 12">
            <a:extLst>
              <a:ext uri="{FF2B5EF4-FFF2-40B4-BE49-F238E27FC236}">
                <a16:creationId xmlns:a16="http://schemas.microsoft.com/office/drawing/2014/main" id="{8E9B9E0B-A37C-5F52-02B7-D0F32F7E23C2}"/>
              </a:ext>
            </a:extLst>
          </p:cNvPr>
          <p:cNvPicPr>
            <a:picLocks noChangeAspect="1"/>
          </p:cNvPicPr>
          <p:nvPr/>
        </p:nvPicPr>
        <p:blipFill>
          <a:blip r:embed="rId4"/>
          <a:stretch>
            <a:fillRect/>
          </a:stretch>
        </p:blipFill>
        <p:spPr>
          <a:xfrm>
            <a:off x="6984072" y="1496036"/>
            <a:ext cx="3405184" cy="2361260"/>
          </a:xfrm>
          <a:prstGeom prst="rect">
            <a:avLst/>
          </a:prstGeom>
        </p:spPr>
      </p:pic>
      <p:pic>
        <p:nvPicPr>
          <p:cNvPr id="15" name="Picture 14">
            <a:extLst>
              <a:ext uri="{FF2B5EF4-FFF2-40B4-BE49-F238E27FC236}">
                <a16:creationId xmlns:a16="http://schemas.microsoft.com/office/drawing/2014/main" id="{58F586C0-4133-6B5A-A509-A16363580EAD}"/>
              </a:ext>
            </a:extLst>
          </p:cNvPr>
          <p:cNvPicPr>
            <a:picLocks noChangeAspect="1"/>
          </p:cNvPicPr>
          <p:nvPr/>
        </p:nvPicPr>
        <p:blipFill>
          <a:blip r:embed="rId5"/>
          <a:stretch>
            <a:fillRect/>
          </a:stretch>
        </p:blipFill>
        <p:spPr>
          <a:xfrm>
            <a:off x="239984" y="1449995"/>
            <a:ext cx="5535504" cy="2407301"/>
          </a:xfrm>
          <a:prstGeom prst="rect">
            <a:avLst/>
          </a:prstGeom>
        </p:spPr>
      </p:pic>
    </p:spTree>
    <p:extLst>
      <p:ext uri="{BB962C8B-B14F-4D97-AF65-F5344CB8AC3E}">
        <p14:creationId xmlns:p14="http://schemas.microsoft.com/office/powerpoint/2010/main" val="1266185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08F2E8B-2DA9-159B-52D8-D1E888C8E56B}"/>
              </a:ext>
            </a:extLst>
          </p:cNvPr>
          <p:cNvPicPr>
            <a:picLocks noChangeAspect="1"/>
          </p:cNvPicPr>
          <p:nvPr/>
        </p:nvPicPr>
        <p:blipFill>
          <a:blip r:embed="rId2"/>
          <a:stretch>
            <a:fillRect/>
          </a:stretch>
        </p:blipFill>
        <p:spPr>
          <a:xfrm>
            <a:off x="4236720" y="0"/>
            <a:ext cx="7955280" cy="6035040"/>
          </a:xfrm>
          <a:prstGeom prst="rect">
            <a:avLst/>
          </a:prstGeom>
        </p:spPr>
      </p:pic>
      <p:sp>
        <p:nvSpPr>
          <p:cNvPr id="2" name="Title 1">
            <a:extLst>
              <a:ext uri="{FF2B5EF4-FFF2-40B4-BE49-F238E27FC236}">
                <a16:creationId xmlns:a16="http://schemas.microsoft.com/office/drawing/2014/main" id="{223F8F12-B25F-A0D9-25BB-D7627E5A7D03}"/>
              </a:ext>
            </a:extLst>
          </p:cNvPr>
          <p:cNvSpPr>
            <a:spLocks noGrp="1"/>
          </p:cNvSpPr>
          <p:nvPr>
            <p:ph type="title"/>
          </p:nvPr>
        </p:nvSpPr>
        <p:spPr>
          <a:xfrm>
            <a:off x="409163" y="151901"/>
            <a:ext cx="6060218" cy="1110111"/>
          </a:xfrm>
        </p:spPr>
        <p:txBody>
          <a:bodyPr/>
          <a:lstStyle/>
          <a:p>
            <a:r>
              <a:rPr lang="en-US" dirty="0"/>
              <a:t>Sanal </a:t>
            </a:r>
            <a:r>
              <a:rPr lang="en-US" dirty="0" err="1"/>
              <a:t>kuplaj</a:t>
            </a:r>
            <a:r>
              <a:rPr lang="en-US" dirty="0"/>
              <a:t> </a:t>
            </a:r>
            <a:r>
              <a:rPr lang="en-US" dirty="0" err="1"/>
              <a:t>nedİR</a:t>
            </a:r>
            <a:r>
              <a:rPr lang="en-US" dirty="0"/>
              <a:t>?</a:t>
            </a:r>
          </a:p>
        </p:txBody>
      </p:sp>
      <p:pic>
        <p:nvPicPr>
          <p:cNvPr id="11" name="Picture 10">
            <a:extLst>
              <a:ext uri="{FF2B5EF4-FFF2-40B4-BE49-F238E27FC236}">
                <a16:creationId xmlns:a16="http://schemas.microsoft.com/office/drawing/2014/main" id="{D1662FB2-1172-35D8-72F9-835AF2A59FA2}"/>
              </a:ext>
            </a:extLst>
          </p:cNvPr>
          <p:cNvPicPr>
            <a:picLocks noChangeAspect="1"/>
          </p:cNvPicPr>
          <p:nvPr/>
        </p:nvPicPr>
        <p:blipFill>
          <a:blip r:embed="rId3">
            <a:extLst>
              <a:ext uri="{28A0092B-C50C-407E-A947-70E740481C1C}">
                <a14:useLocalDpi xmlns:a14="http://schemas.microsoft.com/office/drawing/2010/main" val="0"/>
              </a:ext>
            </a:extLst>
          </a:blip>
          <a:srcRect l="9260" t="-325" r="20371" b="325"/>
          <a:stretch>
            <a:fillRect/>
          </a:stretch>
        </p:blipFill>
        <p:spPr>
          <a:xfrm>
            <a:off x="409163" y="4119163"/>
            <a:ext cx="3444604" cy="1574661"/>
          </a:xfrm>
          <a:prstGeom prst="rect">
            <a:avLst/>
          </a:prstGeom>
        </p:spPr>
      </p:pic>
      <p:pic>
        <p:nvPicPr>
          <p:cNvPr id="14" name="Picture 13">
            <a:extLst>
              <a:ext uri="{FF2B5EF4-FFF2-40B4-BE49-F238E27FC236}">
                <a16:creationId xmlns:a16="http://schemas.microsoft.com/office/drawing/2014/main" id="{9924FCD3-3442-4C3F-063A-EE1307303112}"/>
              </a:ext>
            </a:extLst>
          </p:cNvPr>
          <p:cNvPicPr>
            <a:picLocks noChangeAspect="1"/>
          </p:cNvPicPr>
          <p:nvPr/>
        </p:nvPicPr>
        <p:blipFill>
          <a:blip r:embed="rId4"/>
          <a:stretch>
            <a:fillRect/>
          </a:stretch>
        </p:blipFill>
        <p:spPr>
          <a:xfrm>
            <a:off x="845410" y="1862414"/>
            <a:ext cx="2572109" cy="1752845"/>
          </a:xfrm>
          <a:prstGeom prst="rect">
            <a:avLst/>
          </a:prstGeom>
        </p:spPr>
      </p:pic>
    </p:spTree>
    <p:extLst>
      <p:ext uri="{BB962C8B-B14F-4D97-AF65-F5344CB8AC3E}">
        <p14:creationId xmlns:p14="http://schemas.microsoft.com/office/powerpoint/2010/main" val="174223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2CAF-3293-D8EF-F148-7E38DAEB627B}"/>
              </a:ext>
            </a:extLst>
          </p:cNvPr>
          <p:cNvSpPr>
            <a:spLocks noGrp="1"/>
          </p:cNvSpPr>
          <p:nvPr>
            <p:ph type="title"/>
          </p:nvPr>
        </p:nvSpPr>
        <p:spPr>
          <a:xfrm>
            <a:off x="409162" y="360549"/>
            <a:ext cx="6832465" cy="1110111"/>
          </a:xfrm>
        </p:spPr>
        <p:txBody>
          <a:bodyPr/>
          <a:lstStyle/>
          <a:p>
            <a:r>
              <a:rPr lang="en-US" b="0" dirty="0"/>
              <a:t>LİTERATÜRDE SANAL KUPLAJ</a:t>
            </a:r>
            <a:br>
              <a:rPr lang="en-US" dirty="0"/>
            </a:br>
            <a:endParaRPr lang="en-US" dirty="0"/>
          </a:p>
        </p:txBody>
      </p:sp>
      <p:sp>
        <p:nvSpPr>
          <p:cNvPr id="3" name="Text Placeholder 2">
            <a:extLst>
              <a:ext uri="{FF2B5EF4-FFF2-40B4-BE49-F238E27FC236}">
                <a16:creationId xmlns:a16="http://schemas.microsoft.com/office/drawing/2014/main" id="{9D65E0A4-E215-4B12-17B1-EEC3373CE389}"/>
              </a:ext>
            </a:extLst>
          </p:cNvPr>
          <p:cNvSpPr>
            <a:spLocks noGrp="1"/>
          </p:cNvSpPr>
          <p:nvPr>
            <p:ph type="body" sz="quarter" idx="13"/>
          </p:nvPr>
        </p:nvSpPr>
        <p:spPr>
          <a:xfrm>
            <a:off x="411480" y="1463040"/>
            <a:ext cx="11338560" cy="313932"/>
          </a:xfrm>
        </p:spPr>
        <p:txBody>
          <a:bodyPr/>
          <a:lstStyle/>
          <a:p>
            <a:r>
              <a:rPr lang="tr-TR" dirty="0"/>
              <a:t>Sanal kuplajın kapasiteye etkisini ölçen iki </a:t>
            </a:r>
            <a:r>
              <a:rPr lang="en-US" dirty="0" err="1"/>
              <a:t>referans</a:t>
            </a:r>
            <a:r>
              <a:rPr lang="en-US" dirty="0"/>
              <a:t> </a:t>
            </a:r>
            <a:r>
              <a:rPr lang="tr-TR" dirty="0"/>
              <a:t>çalışma</a:t>
            </a:r>
            <a:r>
              <a:rPr lang="en-US" dirty="0"/>
              <a:t>.</a:t>
            </a:r>
            <a:endParaRPr lang="tr-TR" dirty="0"/>
          </a:p>
        </p:txBody>
      </p:sp>
      <p:pic>
        <p:nvPicPr>
          <p:cNvPr id="4" name="Kartlar"/>
          <p:cNvPicPr>
            <a:picLocks noChangeAspect="1"/>
          </p:cNvPicPr>
          <p:nvPr/>
        </p:nvPicPr>
        <p:blipFill>
          <a:blip r:embed="rId3"/>
          <a:srcRect l="3" r="33220"/>
          <a:stretch>
            <a:fillRect/>
          </a:stretch>
        </p:blipFill>
        <p:spPr>
          <a:xfrm>
            <a:off x="803996" y="2011680"/>
            <a:ext cx="7499176" cy="3650000"/>
          </a:xfrm>
          <a:prstGeom prst="rect">
            <a:avLst/>
          </a:prstGeom>
        </p:spPr>
      </p:pic>
    </p:spTree>
    <p:extLst>
      <p:ext uri="{BB962C8B-B14F-4D97-AF65-F5344CB8AC3E}">
        <p14:creationId xmlns:p14="http://schemas.microsoft.com/office/powerpoint/2010/main" val="1711816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9">
            <a:extLst>
              <a:ext uri="{FF2B5EF4-FFF2-40B4-BE49-F238E27FC236}">
                <a16:creationId xmlns:a16="http://schemas.microsoft.com/office/drawing/2014/main" id="{3B5455EA-DF9A-4BBF-BF42-4980D73BBC15}"/>
              </a:ext>
            </a:extLst>
          </p:cNvPr>
          <p:cNvSpPr>
            <a:spLocks noGrp="1"/>
          </p:cNvSpPr>
          <p:nvPr>
            <p:ph type="title"/>
          </p:nvPr>
        </p:nvSpPr>
        <p:spPr>
          <a:xfrm>
            <a:off x="409713" y="360534"/>
            <a:ext cx="5128938" cy="1208921"/>
          </a:xfrm>
          <a:prstGeom prst="rect">
            <a:avLst/>
          </a:prstGeom>
        </p:spPr>
        <p:txBody>
          <a:bodyPr/>
          <a:lstStyle/>
          <a:p>
            <a:r>
              <a:rPr lang="tr-TR" b="0" dirty="0">
                <a:latin typeface="Segoe UI Black" panose="020B0A02040204020203" pitchFamily="34" charset="0"/>
                <a:ea typeface="Segoe UI Black" panose="020B0A02040204020203" pitchFamily="34" charset="0"/>
              </a:rPr>
              <a:t>ÇALIŞMA</a:t>
            </a:r>
          </a:p>
        </p:txBody>
      </p:sp>
      <p:sp>
        <p:nvSpPr>
          <p:cNvPr id="2" name="Rectangle 1">
            <a:extLst>
              <a:ext uri="{FF2B5EF4-FFF2-40B4-BE49-F238E27FC236}">
                <a16:creationId xmlns:a16="http://schemas.microsoft.com/office/drawing/2014/main" id="{D47F25F7-396C-4CA9-B73D-7E5DE0B7D628}"/>
              </a:ext>
            </a:extLst>
          </p:cNvPr>
          <p:cNvSpPr/>
          <p:nvPr/>
        </p:nvSpPr>
        <p:spPr>
          <a:xfrm>
            <a:off x="10610850" y="6457951"/>
            <a:ext cx="742950" cy="257175"/>
          </a:xfrm>
          <a:prstGeom prst="rect">
            <a:avLst/>
          </a:prstGeom>
          <a:solidFill>
            <a:srgbClr val="F0592B"/>
          </a:solidFill>
          <a:ln>
            <a:solidFill>
              <a:srgbClr val="EF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6" name="Picture 5">
            <a:extLst>
              <a:ext uri="{FF2B5EF4-FFF2-40B4-BE49-F238E27FC236}">
                <a16:creationId xmlns:a16="http://schemas.microsoft.com/office/drawing/2014/main" id="{53A62043-40B2-C49B-2CDF-70232E46DC7D}"/>
              </a:ext>
            </a:extLst>
          </p:cNvPr>
          <p:cNvPicPr>
            <a:picLocks noChangeAspect="1"/>
          </p:cNvPicPr>
          <p:nvPr/>
        </p:nvPicPr>
        <p:blipFill>
          <a:blip r:embed="rId3"/>
          <a:stretch>
            <a:fillRect/>
          </a:stretch>
        </p:blipFill>
        <p:spPr>
          <a:xfrm>
            <a:off x="556506" y="1461780"/>
            <a:ext cx="10631447" cy="3688954"/>
          </a:xfrm>
          <a:prstGeom prst="rect">
            <a:avLst/>
          </a:prstGeom>
        </p:spPr>
      </p:pic>
      <p:sp>
        <p:nvSpPr>
          <p:cNvPr id="14" name="Rectangle 11">
            <a:extLst>
              <a:ext uri="{FF2B5EF4-FFF2-40B4-BE49-F238E27FC236}">
                <a16:creationId xmlns:a16="http://schemas.microsoft.com/office/drawing/2014/main" id="{34DAA0DA-4370-4950-932B-0F797D019F1F}"/>
              </a:ext>
            </a:extLst>
          </p:cNvPr>
          <p:cNvSpPr/>
          <p:nvPr userDrawn="1"/>
        </p:nvSpPr>
        <p:spPr>
          <a:xfrm>
            <a:off x="10603788" y="6460258"/>
            <a:ext cx="665567" cy="307777"/>
          </a:xfrm>
          <a:prstGeom prst="rect">
            <a:avLst/>
          </a:prstGeom>
        </p:spPr>
        <p:txBody>
          <a:bodyPr wrap="none">
            <a:spAutoFit/>
          </a:bodyPr>
          <a:lstStyle/>
          <a:p>
            <a:pPr algn="ctr"/>
            <a:fld id="{1BF25093-344D-4590-B190-2EF07FACD7DC}" type="slidenum">
              <a:rPr lang="tr-TR" sz="1400" smtClean="0">
                <a:solidFill>
                  <a:schemeClr val="bg1"/>
                </a:solidFill>
                <a:latin typeface="Segoe UI" panose="020B0502040204020203" pitchFamily="34" charset="0"/>
                <a:cs typeface="Segoe UI" panose="020B0502040204020203" pitchFamily="34" charset="0"/>
              </a:rPr>
              <a:t>‹#›</a:t>
            </a:fld>
            <a:r>
              <a:rPr lang="tr-TR" sz="1400" dirty="0">
                <a:solidFill>
                  <a:schemeClr val="bg1"/>
                </a:solidFill>
                <a:latin typeface="Segoe UI" panose="020B0502040204020203" pitchFamily="34" charset="0"/>
                <a:cs typeface="Segoe UI" panose="020B0502040204020203" pitchFamily="34" charset="0"/>
              </a:rPr>
              <a:t>/17</a:t>
            </a:r>
          </a:p>
        </p:txBody>
      </p:sp>
    </p:spTree>
    <p:extLst>
      <p:ext uri="{BB962C8B-B14F-4D97-AF65-F5344CB8AC3E}">
        <p14:creationId xmlns:p14="http://schemas.microsoft.com/office/powerpoint/2010/main" val="58944032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B7A9-F84B-37B2-F6A2-ECBDD11357CB}"/>
              </a:ext>
            </a:extLst>
          </p:cNvPr>
          <p:cNvSpPr>
            <a:spLocks noGrp="1"/>
          </p:cNvSpPr>
          <p:nvPr>
            <p:ph type="title"/>
          </p:nvPr>
        </p:nvSpPr>
        <p:spPr/>
        <p:txBody>
          <a:bodyPr/>
          <a:lstStyle/>
          <a:p>
            <a:r>
              <a:rPr lang="en-US" dirty="0" err="1"/>
              <a:t>TEST AĞI</a:t>
            </a:r>
            <a:endParaRPr lang="en-US" dirty="0"/>
          </a:p>
        </p:txBody>
      </p:sp>
      <p:sp>
        <p:nvSpPr>
          <p:cNvPr id="3" name="Text Placeholder 2">
            <a:extLst>
              <a:ext uri="{FF2B5EF4-FFF2-40B4-BE49-F238E27FC236}">
                <a16:creationId xmlns:a16="http://schemas.microsoft.com/office/drawing/2014/main" id="{6FFFACB4-1568-DFBA-A64F-45D0F9665F13}"/>
              </a:ext>
            </a:extLst>
          </p:cNvPr>
          <p:cNvSpPr>
            <a:spLocks noGrp="1"/>
          </p:cNvSpPr>
          <p:nvPr>
            <p:ph type="body" sz="quarter" idx="13"/>
          </p:nvPr>
        </p:nvSpPr>
        <p:spPr>
          <a:xfrm>
            <a:off x="444277" y="1058000"/>
            <a:ext cx="11338560" cy="1013611"/>
          </a:xfrm>
        </p:spPr>
        <p:txBody>
          <a:bodyPr/>
          <a:lstStyle/>
          <a:p>
            <a:r>
              <a:rPr lang="tr-TR" dirty="0"/>
              <a:t>Kapalı çevrim (ring)   ·   çift hat   ·   70 km tur   ·   11 istasyon   ·   22 duruş</a:t>
            </a:r>
          </a:p>
          <a:p>
            <a:r>
              <a:rPr lang="tr-TR" dirty="0"/>
              <a:t>3.1 km ortalama istasyon aralığı   ·   900 m blok   ·   10 makas bağlantısı</a:t>
            </a:r>
          </a:p>
          <a:p>
            <a:r>
              <a:rPr lang="tr-TR" dirty="0"/>
              <a:t>80 km/h azami hat hızı   ·   30 s peron beklemesi   ·   12 tren</a:t>
            </a:r>
          </a:p>
        </p:txBody>
      </p:sp>
      <p:pic>
        <p:nvPicPr>
          <p:cNvPr id="5" name="Picture 4">
            <a:extLst>
              <a:ext uri="{FF2B5EF4-FFF2-40B4-BE49-F238E27FC236}">
                <a16:creationId xmlns:a16="http://schemas.microsoft.com/office/drawing/2014/main" id="{9A2CEE2B-1696-52C2-B75B-160B564246F2}"/>
              </a:ext>
            </a:extLst>
          </p:cNvPr>
          <p:cNvPicPr>
            <a:picLocks noChangeAspect="1"/>
          </p:cNvPicPr>
          <p:nvPr/>
        </p:nvPicPr>
        <p:blipFill>
          <a:blip r:embed="rId3"/>
          <a:stretch>
            <a:fillRect/>
          </a:stretch>
        </p:blipFill>
        <p:spPr>
          <a:xfrm>
            <a:off x="737913" y="2900000"/>
            <a:ext cx="10685694" cy="2900000"/>
          </a:xfrm>
          <a:prstGeom prst="rect">
            <a:avLst/>
          </a:prstGeom>
        </p:spPr>
      </p:pic>
    </p:spTree>
    <p:extLst>
      <p:ext uri="{BB962C8B-B14F-4D97-AF65-F5344CB8AC3E}">
        <p14:creationId xmlns:p14="http://schemas.microsoft.com/office/powerpoint/2010/main" val="1755325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3DD44-FA6C-335B-7369-91F938446FA7}"/>
              </a:ext>
            </a:extLst>
          </p:cNvPr>
          <p:cNvSpPr>
            <a:spLocks noGrp="1"/>
          </p:cNvSpPr>
          <p:nvPr>
            <p:ph type="title"/>
          </p:nvPr>
        </p:nvSpPr>
        <p:spPr/>
        <p:txBody>
          <a:bodyPr/>
          <a:lstStyle/>
          <a:p>
            <a:r>
              <a:rPr lang="en-US" dirty="0"/>
              <a:t>TREN MODELİ VE DİNAMİĞİ</a:t>
            </a:r>
          </a:p>
        </p:txBody>
      </p:sp>
      <p:sp>
        <p:nvSpPr>
          <p:cNvPr id="3" name="Text Placeholder 2">
            <a:extLst>
              <a:ext uri="{FF2B5EF4-FFF2-40B4-BE49-F238E27FC236}">
                <a16:creationId xmlns:a16="http://schemas.microsoft.com/office/drawing/2014/main" id="{790FDF56-82D5-917C-286D-10C7115D4598}"/>
              </a:ext>
            </a:extLst>
          </p:cNvPr>
          <p:cNvSpPr>
            <a:spLocks noGrp="1"/>
          </p:cNvSpPr>
          <p:nvPr>
            <p:ph type="body" sz="quarter" idx="13"/>
          </p:nvPr>
        </p:nvSpPr>
        <p:spPr>
          <a:xfrm>
            <a:off x="411480" y="1554480"/>
            <a:ext cx="11338560" cy="2561727"/>
          </a:xfrm>
        </p:spPr>
        <p:txBody>
          <a:bodyPr/>
          <a:lstStyle/>
          <a:p>
            <a:r>
              <a:rPr lang="tr-TR" b="1" dirty="0"/>
              <a:t>HAREKET DENKLEMİ</a:t>
            </a:r>
          </a:p>
          <a:p>
            <a:pPr lvl="1"/>
            <a:r>
              <a:rPr lang="tr-TR" dirty="0"/>
              <a:t>m_eff · a  =  F(v)  −  R(v)  −  m · g · sin(θ) </a:t>
            </a:r>
            <a:endParaRPr lang="en-US" dirty="0"/>
          </a:p>
          <a:p>
            <a:pPr lvl="1"/>
            <a:r>
              <a:rPr lang="tr-TR" dirty="0"/>
              <a:t>F(v) = F₀   (v ≤ v_taban)          F(v) = P / v   (v &gt; v_taban)</a:t>
            </a:r>
          </a:p>
          <a:p>
            <a:r>
              <a:rPr lang="tr-TR" b="1" dirty="0"/>
              <a:t>DİRENÇ — DAVIS</a:t>
            </a:r>
          </a:p>
          <a:p>
            <a:pPr lvl="1"/>
            <a:r>
              <a:rPr lang="tr-TR" dirty="0"/>
              <a:t>R(v)  =  A  +  B·v  +  C·v²          [N,  v m/s]</a:t>
            </a:r>
          </a:p>
          <a:p>
            <a:pPr lvl="1"/>
            <a:r>
              <a:rPr lang="tr-TR" dirty="0"/>
              <a:t>A, B kütleyle ölçeklenir   ·   C trenin uzunluğuyla</a:t>
            </a:r>
          </a:p>
          <a:p>
            <a:r>
              <a:rPr lang="tr-TR" b="1" dirty="0"/>
              <a:t>FREN</a:t>
            </a:r>
          </a:p>
          <a:p>
            <a:pPr lvl="1"/>
            <a:r>
              <a:rPr lang="tr-TR" dirty="0"/>
              <a:t>b(θ)  =  min(b_talep , μ·g)  +  g · sin(θ) · m / m_eff</a:t>
            </a:r>
          </a:p>
          <a:p>
            <a:pPr lvl="1"/>
            <a:r>
              <a:rPr lang="tr-TR" dirty="0"/>
              <a:t>d_fren  =  v₀² / 2b(θ)</a:t>
            </a:r>
          </a:p>
        </p:txBody>
      </p:sp>
    </p:spTree>
    <p:extLst>
      <p:ext uri="{BB962C8B-B14F-4D97-AF65-F5344CB8AC3E}">
        <p14:creationId xmlns:p14="http://schemas.microsoft.com/office/powerpoint/2010/main" val="3825991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BBA49-041E-4086-8375-602C250F98C3}"/>
              </a:ext>
            </a:extLst>
          </p:cNvPr>
          <p:cNvSpPr>
            <a:spLocks noGrp="1"/>
          </p:cNvSpPr>
          <p:nvPr>
            <p:ph type="title"/>
          </p:nvPr>
        </p:nvSpPr>
        <p:spPr>
          <a:xfrm>
            <a:off x="409163" y="360549"/>
            <a:ext cx="8345954" cy="1110111"/>
          </a:xfrm>
        </p:spPr>
        <p:txBody>
          <a:bodyPr/>
          <a:lstStyle/>
          <a:p>
            <a:r>
              <a:rPr lang="en-US" b="0" dirty="0"/>
              <a:t>KABULLER VE SİMÜLASYON KOŞULLARI</a:t>
            </a:r>
            <a:br>
              <a:rPr lang="en-US" dirty="0"/>
            </a:br>
            <a:endParaRPr lang="en-US" dirty="0"/>
          </a:p>
        </p:txBody>
      </p:sp>
      <p:sp>
        <p:nvSpPr>
          <p:cNvPr id="3" name="Text Placeholder 2">
            <a:extLst>
              <a:ext uri="{FF2B5EF4-FFF2-40B4-BE49-F238E27FC236}">
                <a16:creationId xmlns:a16="http://schemas.microsoft.com/office/drawing/2014/main" id="{F7D2BFF2-56A7-E1E3-DBB1-4BAC2BFBC3FB}"/>
              </a:ext>
            </a:extLst>
          </p:cNvPr>
          <p:cNvSpPr>
            <a:spLocks noGrp="1"/>
          </p:cNvSpPr>
          <p:nvPr>
            <p:ph type="body" sz="quarter" idx="13"/>
          </p:nvPr>
        </p:nvSpPr>
        <p:spPr>
          <a:xfrm>
            <a:off x="411480" y="1554480"/>
            <a:ext cx="11338560" cy="3427605"/>
          </a:xfrm>
        </p:spPr>
        <p:txBody>
          <a:bodyPr/>
          <a:lstStyle/>
          <a:p>
            <a:r>
              <a:rPr lang="tr-TR" b="1" dirty="0"/>
              <a:t>ARAÇ</a:t>
            </a:r>
          </a:p>
          <a:p>
            <a:pPr lvl="1"/>
            <a:r>
              <a:rPr lang="tr-TR" dirty="0"/>
              <a:t>120 m   ·   216 t   ·   m_eff 233 t   ·   v_max 90 km/h</a:t>
            </a:r>
          </a:p>
          <a:p>
            <a:pPr lvl="1"/>
            <a:r>
              <a:rPr lang="tr-TR" dirty="0"/>
              <a:t>F₀ 233 kN   ·   P 2333 kW   ·   v_taban 36 km/h  (%40 · v_max)</a:t>
            </a:r>
          </a:p>
          <a:p>
            <a:pPr lvl="1"/>
            <a:r>
              <a:rPr lang="tr-TR" dirty="0"/>
              <a:t>Davis:   A 1404 N   ·   B 28.1 N·s/m   ·   C 3.74 N·s²/m²</a:t>
            </a:r>
          </a:p>
          <a:p>
            <a:r>
              <a:rPr lang="tr-TR" b="1" dirty="0"/>
              <a:t>FREN VE SÜRÜCÜ</a:t>
            </a:r>
          </a:p>
          <a:p>
            <a:pPr lvl="1"/>
            <a:r>
              <a:rPr lang="tr-TR" dirty="0"/>
              <a:t>servis 1.0   ·   acil 1.5 m/s²   ·   jerk 0.5 m/s³   ·   brake build-up 2.0 s</a:t>
            </a:r>
          </a:p>
          <a:p>
            <a:pPr lvl="1"/>
            <a:r>
              <a:rPr lang="tr-TR" dirty="0"/>
              <a:t>tepki 2.0 s (kabin sinyalizasyonunda 0 s)   ·   sürücü payı 25 m</a:t>
            </a:r>
          </a:p>
          <a:p>
            <a:r>
              <a:rPr lang="tr-TR" b="1" dirty="0"/>
              <a:t>SİNYALİZASYON</a:t>
            </a:r>
          </a:p>
          <a:p>
            <a:pPr lvl="1"/>
            <a:r>
              <a:rPr lang="tr-TR" dirty="0"/>
              <a:t>tehlike noktası payı:  hareketli blok 100 m · sanal kuplaj 50 m · sabit blok yok</a:t>
            </a:r>
          </a:p>
          <a:p>
            <a:pPr lvl="1"/>
            <a:r>
              <a:rPr lang="tr-TR" dirty="0"/>
              <a:t>V2V gecikmesi 0.5 s   ·   kuplaj eşiği 800 m   ·   blok 900 m</a:t>
            </a:r>
          </a:p>
          <a:p>
            <a:r>
              <a:rPr lang="tr-TR" b="1" dirty="0"/>
              <a:t>İŞLETME</a:t>
            </a:r>
          </a:p>
          <a:p>
            <a:pPr lvl="1"/>
            <a:r>
              <a:rPr lang="tr-TR" dirty="0"/>
              <a:t>dt = 1.0 s   12 servis   ·   22 duruş/tur   ·   30 s bekleme</a:t>
            </a:r>
          </a:p>
        </p:txBody>
      </p:sp>
    </p:spTree>
    <p:extLst>
      <p:ext uri="{BB962C8B-B14F-4D97-AF65-F5344CB8AC3E}">
        <p14:creationId xmlns:p14="http://schemas.microsoft.com/office/powerpoint/2010/main" val="605574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B7A9-F84B-37B2-F6A2-ECBDD11357CB}"/>
              </a:ext>
            </a:extLst>
          </p:cNvPr>
          <p:cNvSpPr>
            <a:spLocks noGrp="1"/>
          </p:cNvSpPr>
          <p:nvPr>
            <p:ph type="title"/>
          </p:nvPr>
        </p:nvSpPr>
        <p:spPr/>
        <p:txBody>
          <a:bodyPr/>
          <a:lstStyle/>
          <a:p>
            <a:r>
              <a:rPr lang="en-US" dirty="0"/>
              <a:t>Fren EĞRİLERİ</a:t>
            </a:r>
          </a:p>
        </p:txBody>
      </p:sp>
      <p:sp>
        <p:nvSpPr>
          <p:cNvPr id="3" name="Text Placeholder 2">
            <a:extLst>
              <a:ext uri="{FF2B5EF4-FFF2-40B4-BE49-F238E27FC236}">
                <a16:creationId xmlns:a16="http://schemas.microsoft.com/office/drawing/2014/main" id="{6FFFACB4-1568-DFBA-A64F-45D0F9665F13}"/>
              </a:ext>
            </a:extLst>
          </p:cNvPr>
          <p:cNvSpPr>
            <a:spLocks noGrp="1"/>
          </p:cNvSpPr>
          <p:nvPr>
            <p:ph type="body" sz="quarter" idx="13"/>
          </p:nvPr>
        </p:nvSpPr>
        <p:spPr>
          <a:xfrm>
            <a:off x="444277" y="915604"/>
            <a:ext cx="11338560" cy="663771"/>
          </a:xfrm>
        </p:spPr>
        <p:txBody>
          <a:bodyPr/>
          <a:lstStyle/>
          <a:p>
            <a:r>
              <a:rPr lang="tr-TR" dirty="0"/>
              <a:t>80 km/h'ten duruşa, servis freni, düz hat:   269 m,   23 s.</a:t>
            </a:r>
          </a:p>
          <a:p>
            <a:r>
              <a:rPr lang="tr-TR" dirty="0"/>
              <a:t>Binde 15 inişte 301 m · acil frenle 197 m. </a:t>
            </a:r>
          </a:p>
        </p:txBody>
      </p:sp>
      <p:pic>
        <p:nvPicPr>
          <p:cNvPr id="4" name="Fren">
            <a:extLst>
              <a:ext uri="{FF2B5EF4-FFF2-40B4-BE49-F238E27FC236}">
                <a16:creationId xmlns:a16="http://schemas.microsoft.com/office/drawing/2014/main" id="{DA65A946-4D11-6E43-CDB9-F50FAF17A402}"/>
              </a:ext>
            </a:extLst>
          </p:cNvPr>
          <p:cNvPicPr>
            <a:picLocks noChangeAspect="1"/>
          </p:cNvPicPr>
          <p:nvPr/>
        </p:nvPicPr>
        <p:blipFill>
          <a:blip r:embed="rId3"/>
          <a:srcRect l="-1" r="44611"/>
          <a:stretch>
            <a:fillRect/>
          </a:stretch>
        </p:blipFill>
        <p:spPr>
          <a:xfrm>
            <a:off x="322572" y="2025715"/>
            <a:ext cx="6126480" cy="3300000"/>
          </a:xfrm>
          <a:prstGeom prst="rect">
            <a:avLst/>
          </a:prstGeom>
        </p:spPr>
      </p:pic>
    </p:spTree>
    <p:extLst>
      <p:ext uri="{BB962C8B-B14F-4D97-AF65-F5344CB8AC3E}">
        <p14:creationId xmlns:p14="http://schemas.microsoft.com/office/powerpoint/2010/main" val="1755325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6DA32-9D7C-48E0-B063-CC1A4B8D2A66}"/>
              </a:ext>
            </a:extLst>
          </p:cNvPr>
          <p:cNvSpPr>
            <a:spLocks noGrp="1"/>
          </p:cNvSpPr>
          <p:nvPr>
            <p:ph type="title"/>
          </p:nvPr>
        </p:nvSpPr>
        <p:spPr>
          <a:xfrm>
            <a:off x="409162" y="360549"/>
            <a:ext cx="7210837" cy="1110111"/>
          </a:xfrm>
        </p:spPr>
        <p:txBody>
          <a:bodyPr/>
          <a:lstStyle/>
          <a:p>
            <a:r>
              <a:rPr lang="en-US" dirty="0"/>
              <a:t>DURAKSIZ (EXPRESS) İŞLETME</a:t>
            </a:r>
          </a:p>
        </p:txBody>
      </p:sp>
      <p:sp>
        <p:nvSpPr>
          <p:cNvPr id="3" name="Text Placeholder 2">
            <a:extLst>
              <a:ext uri="{FF2B5EF4-FFF2-40B4-BE49-F238E27FC236}">
                <a16:creationId xmlns:a16="http://schemas.microsoft.com/office/drawing/2014/main" id="{67366213-77AB-9F47-59BC-88694E73B2B8}"/>
              </a:ext>
            </a:extLst>
          </p:cNvPr>
          <p:cNvSpPr>
            <a:spLocks noGrp="1"/>
          </p:cNvSpPr>
          <p:nvPr>
            <p:ph type="body" sz="quarter" idx="13"/>
          </p:nvPr>
        </p:nvSpPr>
        <p:spPr>
          <a:xfrm>
            <a:off x="411480" y="1463040"/>
            <a:ext cx="11338560" cy="313932"/>
          </a:xfrm>
        </p:spPr>
        <p:txBody>
          <a:bodyPr/>
          <a:lstStyle/>
          <a:p>
            <a:r>
              <a:rPr lang="en-US" dirty="0" err="1"/>
              <a:t>Trenler</a:t>
            </a:r>
            <a:r>
              <a:rPr lang="en-US" dirty="0"/>
              <a:t> </a:t>
            </a:r>
            <a:r>
              <a:rPr lang="en-US" dirty="0" err="1"/>
              <a:t>hiçbir</a:t>
            </a:r>
            <a:r>
              <a:rPr lang="en-US" dirty="0"/>
              <a:t> </a:t>
            </a:r>
            <a:r>
              <a:rPr lang="en-US" dirty="0" err="1"/>
              <a:t>istasyonda</a:t>
            </a:r>
            <a:r>
              <a:rPr lang="en-US" dirty="0"/>
              <a:t> </a:t>
            </a:r>
            <a:r>
              <a:rPr lang="en-US" dirty="0" err="1"/>
              <a:t>durmadan</a:t>
            </a:r>
            <a:r>
              <a:rPr lang="en-US" dirty="0"/>
              <a:t> </a:t>
            </a:r>
            <a:r>
              <a:rPr lang="en-US" dirty="0" err="1"/>
              <a:t>sadece</a:t>
            </a:r>
            <a:r>
              <a:rPr lang="en-US" dirty="0"/>
              <a:t> </a:t>
            </a:r>
            <a:r>
              <a:rPr lang="en-US" dirty="0" err="1"/>
              <a:t>hız</a:t>
            </a:r>
            <a:r>
              <a:rPr lang="en-US" dirty="0"/>
              <a:t> </a:t>
            </a:r>
            <a:r>
              <a:rPr lang="en-US" dirty="0" err="1"/>
              <a:t>limitlerine</a:t>
            </a:r>
            <a:r>
              <a:rPr lang="en-US" dirty="0"/>
              <a:t> </a:t>
            </a:r>
            <a:r>
              <a:rPr lang="en-US" dirty="0" err="1"/>
              <a:t>uyarak</a:t>
            </a:r>
            <a:r>
              <a:rPr lang="en-US" dirty="0"/>
              <a:t> </a:t>
            </a:r>
            <a:r>
              <a:rPr lang="en-US" dirty="0" err="1"/>
              <a:t>çalıştırıldığında</a:t>
            </a:r>
            <a:r>
              <a:rPr lang="en-US" dirty="0"/>
              <a:t> :</a:t>
            </a:r>
            <a:endParaRPr lang="tr-TR" dirty="0"/>
          </a:p>
        </p:txBody>
      </p:sp>
      <p:pic>
        <p:nvPicPr>
          <p:cNvPr id="203" name="Grafik"/>
          <p:cNvPicPr>
            <a:picLocks noChangeAspect="1"/>
          </p:cNvPicPr>
          <p:nvPr/>
        </p:nvPicPr>
        <p:blipFill>
          <a:blip r:embed="rId3"/>
          <a:srcRect t="12719" r="29840" b="1420"/>
          <a:stretch>
            <a:fillRect/>
          </a:stretch>
        </p:blipFill>
        <p:spPr>
          <a:xfrm>
            <a:off x="409163" y="2377441"/>
            <a:ext cx="7955280" cy="2468880"/>
          </a:xfrm>
          <a:prstGeom prst="rect">
            <a:avLst/>
          </a:prstGeom>
        </p:spPr>
      </p:pic>
      <p:sp>
        <p:nvSpPr>
          <p:cNvPr id="204" name="Yuzde 204"/>
          <p:cNvSpPr txBox="1"/>
          <p:nvPr/>
        </p:nvSpPr>
        <p:spPr>
          <a:xfrm>
            <a:off x="8550000" y="2122761"/>
            <a:ext cx="3200000" cy="420000"/>
          </a:xfrm>
          <a:prstGeom prst="rect">
            <a:avLst/>
          </a:prstGeom>
          <a:noFill/>
        </p:spPr>
        <p:txBody>
          <a:bodyPr wrap="square" rtlCol="0" anchor="ctr">
            <a:normAutofit/>
          </a:bodyPr>
          <a:lstStyle/>
          <a:p>
            <a:pPr algn="l"/>
            <a:r>
              <a:rPr lang="tr-TR" sz="1200" b="0" i="1" dirty="0">
                <a:solidFill>
                  <a:srgbClr val="5B6478"/>
                </a:solidFill>
                <a:latin typeface="Segoe UI"/>
                <a:cs typeface="Segoe UI"/>
              </a:rPr>
              <a:t>sabit bloğa göre</a:t>
            </a:r>
          </a:p>
        </p:txBody>
      </p:sp>
      <p:sp>
        <p:nvSpPr>
          <p:cNvPr id="205" name="Yuzde 205"/>
          <p:cNvSpPr txBox="1"/>
          <p:nvPr/>
        </p:nvSpPr>
        <p:spPr>
          <a:xfrm>
            <a:off x="8550000" y="3387497"/>
            <a:ext cx="3200000" cy="420000"/>
          </a:xfrm>
          <a:prstGeom prst="rect">
            <a:avLst/>
          </a:prstGeom>
          <a:noFill/>
        </p:spPr>
        <p:txBody>
          <a:bodyPr wrap="square" rtlCol="0" anchor="ctr">
            <a:normAutofit/>
          </a:bodyPr>
          <a:lstStyle/>
          <a:p>
            <a:pPr algn="l"/>
            <a:r>
              <a:rPr lang="tr-TR" sz="2000" b="1" i="0" dirty="0">
                <a:solidFill>
                  <a:srgbClr val="58B0E8"/>
                </a:solidFill>
                <a:latin typeface="Segoe UI"/>
                <a:cs typeface="Segoe UI"/>
              </a:rPr>
              <a:t>−72 %</a:t>
            </a:r>
          </a:p>
        </p:txBody>
      </p:sp>
      <p:sp>
        <p:nvSpPr>
          <p:cNvPr id="206" name="Yuzde 206"/>
          <p:cNvSpPr txBox="1"/>
          <p:nvPr/>
        </p:nvSpPr>
        <p:spPr>
          <a:xfrm>
            <a:off x="8550000" y="4222232"/>
            <a:ext cx="3200000" cy="420000"/>
          </a:xfrm>
          <a:prstGeom prst="rect">
            <a:avLst/>
          </a:prstGeom>
          <a:noFill/>
        </p:spPr>
        <p:txBody>
          <a:bodyPr wrap="square" rtlCol="0" anchor="ctr">
            <a:normAutofit/>
          </a:bodyPr>
          <a:lstStyle/>
          <a:p>
            <a:pPr algn="l"/>
            <a:r>
              <a:rPr lang="tr-TR" sz="2000" b="1" i="0" dirty="0">
                <a:solidFill>
                  <a:srgbClr val="E8871F"/>
                </a:solidFill>
                <a:latin typeface="Segoe UI"/>
                <a:cs typeface="Segoe UI"/>
              </a:rPr>
              <a:t>−77 %</a:t>
            </a:r>
          </a:p>
        </p:txBody>
      </p:sp>
      <p:sp>
        <p:nvSpPr>
          <p:cNvPr id="207" name="Yuzde 207"/>
          <p:cNvSpPr txBox="1"/>
          <p:nvPr/>
        </p:nvSpPr>
        <p:spPr>
          <a:xfrm>
            <a:off x="8550000" y="4642232"/>
            <a:ext cx="3200000" cy="420000"/>
          </a:xfrm>
          <a:prstGeom prst="rect">
            <a:avLst/>
          </a:prstGeom>
          <a:noFill/>
        </p:spPr>
        <p:txBody>
          <a:bodyPr wrap="square" rtlCol="0" anchor="ctr">
            <a:normAutofit/>
          </a:bodyPr>
          <a:lstStyle/>
          <a:p>
            <a:pPr algn="l"/>
            <a:r>
              <a:rPr lang="tr-TR" sz="1200" b="0" i="0" dirty="0">
                <a:solidFill>
                  <a:srgbClr val="E8871F"/>
                </a:solidFill>
                <a:latin typeface="Segoe UI"/>
                <a:cs typeface="Segoe UI"/>
              </a:rPr>
              <a:t>hareketli bloğa göre −18 %</a:t>
            </a:r>
          </a:p>
        </p:txBody>
      </p:sp>
    </p:spTree>
    <p:extLst>
      <p:ext uri="{BB962C8B-B14F-4D97-AF65-F5344CB8AC3E}">
        <p14:creationId xmlns:p14="http://schemas.microsoft.com/office/powerpoint/2010/main" val="1523495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CB793-14AB-F568-A32F-5645D6ACA969}"/>
              </a:ext>
            </a:extLst>
          </p:cNvPr>
          <p:cNvSpPr>
            <a:spLocks noGrp="1"/>
          </p:cNvSpPr>
          <p:nvPr>
            <p:ph type="title"/>
          </p:nvPr>
        </p:nvSpPr>
        <p:spPr>
          <a:xfrm>
            <a:off x="409162" y="360549"/>
            <a:ext cx="7698517" cy="1110111"/>
          </a:xfrm>
        </p:spPr>
        <p:txBody>
          <a:bodyPr/>
          <a:lstStyle/>
          <a:p>
            <a:r>
              <a:rPr lang="en-US" dirty="0"/>
              <a:t>DURAKLAMALI (ALL-STOP) İŞLETME</a:t>
            </a:r>
          </a:p>
        </p:txBody>
      </p:sp>
      <p:sp>
        <p:nvSpPr>
          <p:cNvPr id="3" name="Text Placeholder 2">
            <a:extLst>
              <a:ext uri="{FF2B5EF4-FFF2-40B4-BE49-F238E27FC236}">
                <a16:creationId xmlns:a16="http://schemas.microsoft.com/office/drawing/2014/main" id="{9805FF9A-EB0F-494A-8CB2-3A8FEDFF936A}"/>
              </a:ext>
            </a:extLst>
          </p:cNvPr>
          <p:cNvSpPr>
            <a:spLocks noGrp="1"/>
          </p:cNvSpPr>
          <p:nvPr>
            <p:ph type="body" sz="quarter" idx="13"/>
          </p:nvPr>
        </p:nvSpPr>
        <p:spPr>
          <a:xfrm>
            <a:off x="411480" y="1463040"/>
            <a:ext cx="11338560" cy="313932"/>
          </a:xfrm>
        </p:spPr>
        <p:txBody>
          <a:bodyPr/>
          <a:lstStyle/>
          <a:p>
            <a:r>
              <a:rPr lang="en-US" dirty="0" err="1"/>
              <a:t>Trenler</a:t>
            </a:r>
            <a:r>
              <a:rPr lang="en-US" dirty="0"/>
              <a:t> </a:t>
            </a:r>
            <a:r>
              <a:rPr lang="en-US" dirty="0" err="1"/>
              <a:t>tüm</a:t>
            </a:r>
            <a:r>
              <a:rPr lang="en-US" dirty="0"/>
              <a:t> </a:t>
            </a:r>
            <a:r>
              <a:rPr lang="en-US" dirty="0" err="1"/>
              <a:t>istasyonlarda</a:t>
            </a:r>
            <a:r>
              <a:rPr lang="en-US" dirty="0"/>
              <a:t> 30 </a:t>
            </a:r>
            <a:r>
              <a:rPr lang="en-US" dirty="0" err="1"/>
              <a:t>saniye</a:t>
            </a:r>
            <a:r>
              <a:rPr lang="en-US" dirty="0"/>
              <a:t> </a:t>
            </a:r>
            <a:r>
              <a:rPr lang="en-US" dirty="0" err="1"/>
              <a:t>duraklamalı</a:t>
            </a:r>
            <a:r>
              <a:rPr lang="en-US" dirty="0"/>
              <a:t> </a:t>
            </a:r>
            <a:r>
              <a:rPr lang="en-US" dirty="0" err="1"/>
              <a:t>çalıştırıldığında</a:t>
            </a:r>
            <a:r>
              <a:rPr lang="en-US" dirty="0"/>
              <a:t> :</a:t>
            </a:r>
            <a:endParaRPr lang="tr-TR" dirty="0"/>
          </a:p>
        </p:txBody>
      </p:sp>
      <p:pic>
        <p:nvPicPr>
          <p:cNvPr id="204" name="Grafik"/>
          <p:cNvPicPr>
            <a:picLocks noChangeAspect="1"/>
          </p:cNvPicPr>
          <p:nvPr/>
        </p:nvPicPr>
        <p:blipFill>
          <a:blip r:embed="rId3"/>
          <a:srcRect l="1" t="11840" r="28227" b="-880"/>
          <a:stretch>
            <a:fillRect/>
          </a:stretch>
        </p:blipFill>
        <p:spPr>
          <a:xfrm>
            <a:off x="409163" y="2148840"/>
            <a:ext cx="8138160" cy="2560320"/>
          </a:xfrm>
          <a:prstGeom prst="rect">
            <a:avLst/>
          </a:prstGeom>
        </p:spPr>
      </p:pic>
      <p:sp>
        <p:nvSpPr>
          <p:cNvPr id="205" name="Yuzde 205"/>
          <p:cNvSpPr txBox="1"/>
          <p:nvPr/>
        </p:nvSpPr>
        <p:spPr>
          <a:xfrm>
            <a:off x="8720000" y="1919440"/>
            <a:ext cx="3030000" cy="420000"/>
          </a:xfrm>
          <a:prstGeom prst="rect">
            <a:avLst/>
          </a:prstGeom>
          <a:noFill/>
        </p:spPr>
        <p:txBody>
          <a:bodyPr wrap="square" rtlCol="0" anchor="ctr">
            <a:normAutofit/>
          </a:bodyPr>
          <a:lstStyle/>
          <a:p>
            <a:pPr algn="l"/>
            <a:r>
              <a:rPr lang="tr-TR" sz="1200" b="0" i="1" dirty="0">
                <a:solidFill>
                  <a:srgbClr val="5B6478"/>
                </a:solidFill>
                <a:latin typeface="Segoe UI"/>
                <a:cs typeface="Segoe UI"/>
              </a:rPr>
              <a:t>sabit bloğa göre</a:t>
            </a:r>
          </a:p>
        </p:txBody>
      </p:sp>
      <p:sp>
        <p:nvSpPr>
          <p:cNvPr id="206" name="Yuzde 206"/>
          <p:cNvSpPr txBox="1"/>
          <p:nvPr/>
        </p:nvSpPr>
        <p:spPr>
          <a:xfrm>
            <a:off x="8720000" y="3184185"/>
            <a:ext cx="3030000" cy="420000"/>
          </a:xfrm>
          <a:prstGeom prst="rect">
            <a:avLst/>
          </a:prstGeom>
          <a:noFill/>
        </p:spPr>
        <p:txBody>
          <a:bodyPr wrap="square" rtlCol="0" anchor="ctr">
            <a:normAutofit/>
          </a:bodyPr>
          <a:lstStyle/>
          <a:p>
            <a:pPr algn="l"/>
            <a:r>
              <a:rPr lang="tr-TR" sz="2000" b="1" i="0" dirty="0">
                <a:solidFill>
                  <a:srgbClr val="58B0E8"/>
                </a:solidFill>
                <a:latin typeface="Segoe UI"/>
                <a:cs typeface="Segoe UI"/>
              </a:rPr>
              <a:t>−47 %</a:t>
            </a:r>
          </a:p>
        </p:txBody>
      </p:sp>
      <p:sp>
        <p:nvSpPr>
          <p:cNvPr id="207" name="Yuzde 207"/>
          <p:cNvSpPr txBox="1"/>
          <p:nvPr/>
        </p:nvSpPr>
        <p:spPr>
          <a:xfrm>
            <a:off x="8720000" y="4018930"/>
            <a:ext cx="3030000" cy="420000"/>
          </a:xfrm>
          <a:prstGeom prst="rect">
            <a:avLst/>
          </a:prstGeom>
          <a:noFill/>
        </p:spPr>
        <p:txBody>
          <a:bodyPr wrap="square" rtlCol="0" anchor="ctr">
            <a:normAutofit/>
          </a:bodyPr>
          <a:lstStyle/>
          <a:p>
            <a:pPr algn="l"/>
            <a:r>
              <a:rPr lang="tr-TR" sz="2000" b="1" i="0" dirty="0">
                <a:solidFill>
                  <a:srgbClr val="E8871F"/>
                </a:solidFill>
                <a:latin typeface="Segoe UI"/>
                <a:cs typeface="Segoe UI"/>
              </a:rPr>
              <a:t>−52 %</a:t>
            </a:r>
          </a:p>
        </p:txBody>
      </p:sp>
      <p:sp>
        <p:nvSpPr>
          <p:cNvPr id="208" name="Yuzde 208"/>
          <p:cNvSpPr txBox="1"/>
          <p:nvPr/>
        </p:nvSpPr>
        <p:spPr>
          <a:xfrm>
            <a:off x="8720000" y="4438930"/>
            <a:ext cx="3030000" cy="420000"/>
          </a:xfrm>
          <a:prstGeom prst="rect">
            <a:avLst/>
          </a:prstGeom>
          <a:noFill/>
        </p:spPr>
        <p:txBody>
          <a:bodyPr wrap="square" rtlCol="0" anchor="ctr">
            <a:normAutofit/>
          </a:bodyPr>
          <a:lstStyle/>
          <a:p>
            <a:pPr algn="l"/>
            <a:r>
              <a:rPr lang="tr-TR" sz="1200" b="0" i="0" dirty="0">
                <a:solidFill>
                  <a:srgbClr val="E8871F"/>
                </a:solidFill>
                <a:latin typeface="Segoe UI"/>
                <a:cs typeface="Segoe UI"/>
              </a:rPr>
              <a:t>hareketli bloğa göre −9 %</a:t>
            </a:r>
          </a:p>
        </p:txBody>
      </p:sp>
    </p:spTree>
    <p:extLst>
      <p:ext uri="{BB962C8B-B14F-4D97-AF65-F5344CB8AC3E}">
        <p14:creationId xmlns:p14="http://schemas.microsoft.com/office/powerpoint/2010/main" val="265175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5F1BA-B50D-4FA0-1E12-C910A798D243}"/>
              </a:ext>
            </a:extLst>
          </p:cNvPr>
          <p:cNvSpPr>
            <a:spLocks noGrp="1"/>
          </p:cNvSpPr>
          <p:nvPr>
            <p:ph type="title"/>
          </p:nvPr>
        </p:nvSpPr>
        <p:spPr>
          <a:xfrm>
            <a:off x="409162" y="360549"/>
            <a:ext cx="8177789" cy="1110111"/>
          </a:xfrm>
        </p:spPr>
        <p:txBody>
          <a:bodyPr/>
          <a:lstStyle/>
          <a:p>
            <a:r>
              <a:rPr lang="en-US" dirty="0"/>
              <a:t>BOZUCU ETKİ </a:t>
            </a:r>
            <a:r>
              <a:rPr lang="en-US" dirty="0" err="1"/>
              <a:t>ALTINDakİ</a:t>
            </a:r>
            <a:r>
              <a:rPr lang="en-US" dirty="0"/>
              <a:t> SONUÇLAR</a:t>
            </a:r>
          </a:p>
        </p:txBody>
      </p:sp>
      <p:pic>
        <p:nvPicPr>
          <p:cNvPr id="4" name="Bozucu etki grafiği"/>
          <p:cNvPicPr>
            <a:picLocks noChangeAspect="1"/>
          </p:cNvPicPr>
          <p:nvPr/>
        </p:nvPicPr>
        <p:blipFill>
          <a:blip r:embed="rId3"/>
          <a:stretch>
            <a:fillRect/>
          </a:stretch>
        </p:blipFill>
        <p:spPr>
          <a:xfrm>
            <a:off x="970238" y="1943120"/>
            <a:ext cx="9713043" cy="3300000"/>
          </a:xfrm>
          <a:prstGeom prst="rect">
            <a:avLst/>
          </a:prstGeom>
        </p:spPr>
      </p:pic>
    </p:spTree>
    <p:extLst>
      <p:ext uri="{BB962C8B-B14F-4D97-AF65-F5344CB8AC3E}">
        <p14:creationId xmlns:p14="http://schemas.microsoft.com/office/powerpoint/2010/main" val="2821810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D1C50-7279-B932-5A8B-B9F31FADBF91}"/>
              </a:ext>
            </a:extLst>
          </p:cNvPr>
          <p:cNvSpPr>
            <a:spLocks noGrp="1"/>
          </p:cNvSpPr>
          <p:nvPr>
            <p:ph type="title"/>
          </p:nvPr>
        </p:nvSpPr>
        <p:spPr/>
        <p:txBody>
          <a:bodyPr/>
          <a:lstStyle/>
          <a:p>
            <a:r>
              <a:rPr lang="en-US" dirty="0"/>
              <a:t>KONVOY DAVRANIŞI</a:t>
            </a:r>
          </a:p>
        </p:txBody>
      </p:sp>
      <p:sp>
        <p:nvSpPr>
          <p:cNvPr id="3" name="Text Placeholder 2">
            <a:extLst>
              <a:ext uri="{FF2B5EF4-FFF2-40B4-BE49-F238E27FC236}">
                <a16:creationId xmlns:a16="http://schemas.microsoft.com/office/drawing/2014/main" id="{546D0D9C-DE6C-DA93-D4B4-5B95C96A783D}"/>
              </a:ext>
            </a:extLst>
          </p:cNvPr>
          <p:cNvSpPr>
            <a:spLocks noGrp="1"/>
          </p:cNvSpPr>
          <p:nvPr>
            <p:ph type="body" sz="quarter" idx="13"/>
          </p:nvPr>
        </p:nvSpPr>
        <p:spPr>
          <a:xfrm>
            <a:off x="426720" y="1574800"/>
            <a:ext cx="11338560" cy="535531"/>
          </a:xfrm>
        </p:spPr>
        <p:txBody>
          <a:bodyPr/>
          <a:lstStyle/>
          <a:p>
            <a:pPr marL="0" indent="0">
              <a:buNone/>
            </a:pPr>
            <a:r>
              <a:rPr lang="tr-TR" dirty="0"/>
              <a:t> 70 km/h ile sınırlı; yalnızca öndekine yaklaşırken hat hızına serbest bırakılıyor.</a:t>
            </a:r>
            <a:br>
              <a:rPr lang="en-US" dirty="0"/>
            </a:br>
            <a:r>
              <a:rPr lang="en-US" dirty="0"/>
              <a:t>Toplam </a:t>
            </a:r>
            <a:r>
              <a:rPr lang="en-US" dirty="0" err="1"/>
              <a:t>gecikmenin</a:t>
            </a:r>
            <a:r>
              <a:rPr lang="en-US" dirty="0"/>
              <a:t> 1 </a:t>
            </a:r>
            <a:r>
              <a:rPr lang="en-US" dirty="0" err="1"/>
              <a:t>sn</a:t>
            </a:r>
            <a:r>
              <a:rPr lang="en-US" dirty="0"/>
              <a:t> den </a:t>
            </a:r>
            <a:r>
              <a:rPr lang="en-US" dirty="0" err="1"/>
              <a:t>küçük</a:t>
            </a:r>
            <a:r>
              <a:rPr lang="en-US" dirty="0"/>
              <a:t> </a:t>
            </a:r>
            <a:r>
              <a:rPr lang="en-US" dirty="0" err="1"/>
              <a:t>olması</a:t>
            </a:r>
            <a:r>
              <a:rPr lang="en-US" dirty="0"/>
              <a:t> </a:t>
            </a:r>
            <a:r>
              <a:rPr lang="en-US" dirty="0" err="1"/>
              <a:t>kriter</a:t>
            </a:r>
            <a:r>
              <a:rPr lang="en-US" dirty="0"/>
              <a:t> </a:t>
            </a:r>
            <a:r>
              <a:rPr lang="en-US" dirty="0" err="1"/>
              <a:t>olarak</a:t>
            </a:r>
            <a:r>
              <a:rPr lang="en-US" dirty="0"/>
              <a:t> </a:t>
            </a:r>
            <a:r>
              <a:rPr lang="en-US" dirty="0" err="1"/>
              <a:t>alındı</a:t>
            </a:r>
            <a:r>
              <a:rPr lang="en-US" dirty="0"/>
              <a:t>.</a:t>
            </a:r>
            <a:endParaRPr lang="tr-TR" dirty="0"/>
          </a:p>
        </p:txBody>
      </p:sp>
      <p:pic>
        <p:nvPicPr>
          <p:cNvPr id="10" name="Picture 9">
            <a:extLst>
              <a:ext uri="{FF2B5EF4-FFF2-40B4-BE49-F238E27FC236}">
                <a16:creationId xmlns:a16="http://schemas.microsoft.com/office/drawing/2014/main" id="{485E9FE8-A5D8-0692-9F46-8AE6298F1F0B}"/>
              </a:ext>
            </a:extLst>
          </p:cNvPr>
          <p:cNvPicPr>
            <a:picLocks noChangeAspect="1"/>
          </p:cNvPicPr>
          <p:nvPr/>
        </p:nvPicPr>
        <p:blipFill>
          <a:blip r:embed="rId3"/>
          <a:srcRect l="7547" r="-280"/>
          <a:stretch>
            <a:fillRect/>
          </a:stretch>
        </p:blipFill>
        <p:spPr>
          <a:xfrm>
            <a:off x="409163" y="2537051"/>
            <a:ext cx="7863840" cy="2898549"/>
          </a:xfrm>
          <a:prstGeom prst="rect">
            <a:avLst/>
          </a:prstGeom>
        </p:spPr>
      </p:pic>
      <p:sp>
        <p:nvSpPr>
          <p:cNvPr id="11" name="Yuzde 11"/>
          <p:cNvSpPr txBox="1"/>
          <p:nvPr/>
        </p:nvSpPr>
        <p:spPr>
          <a:xfrm>
            <a:off x="8460000" y="3250000"/>
            <a:ext cx="3290000" cy="1300000"/>
          </a:xfrm>
          <a:prstGeom prst="rect">
            <a:avLst/>
          </a:prstGeom>
          <a:noFill/>
        </p:spPr>
        <p:txBody>
          <a:bodyPr wrap="square" rtlCol="0" anchor="ctr">
            <a:normAutofit/>
          </a:bodyPr>
          <a:lstStyle/>
          <a:p>
            <a:pPr algn="l"/>
            <a:r>
              <a:rPr lang="tr-TR" sz="1200" b="0" i="1" dirty="0">
                <a:solidFill>
                  <a:srgbClr val="5B6478"/>
                </a:solidFill>
                <a:latin typeface="Segoe UI"/>
                <a:cs typeface="Segoe UI"/>
              </a:rPr>
              <a:t>kuralın kazancı</a:t>
            </a:r>
          </a:p>
          <a:p>
            <a:pPr algn="l"/>
            <a:r>
              <a:rPr lang="tr-TR" sz="2000" b="1" i="0" dirty="0">
                <a:solidFill>
                  <a:srgbClr val="E8871F"/>
                </a:solidFill>
                <a:latin typeface="Segoe UI"/>
                <a:cs typeface="Segoe UI"/>
              </a:rPr>
              <a:t>duraksız  −32 %</a:t>
            </a:r>
          </a:p>
          <a:p>
            <a:pPr algn="l"/>
            <a:r>
              <a:rPr lang="tr-TR" sz="2000" b="1" i="0" dirty="0">
                <a:solidFill>
                  <a:srgbClr val="58B0E8"/>
                </a:solidFill>
                <a:latin typeface="Segoe UI"/>
                <a:cs typeface="Segoe UI"/>
              </a:rPr>
              <a:t>duraklamalı  −9 %</a:t>
            </a:r>
          </a:p>
        </p:txBody>
      </p:sp>
    </p:spTree>
    <p:extLst>
      <p:ext uri="{BB962C8B-B14F-4D97-AF65-F5344CB8AC3E}">
        <p14:creationId xmlns:p14="http://schemas.microsoft.com/office/powerpoint/2010/main" val="2203774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5581A-5EE1-B669-4160-F6E89C531053}"/>
              </a:ext>
            </a:extLst>
          </p:cNvPr>
          <p:cNvSpPr>
            <a:spLocks noGrp="1"/>
          </p:cNvSpPr>
          <p:nvPr>
            <p:ph type="title"/>
          </p:nvPr>
        </p:nvSpPr>
        <p:spPr/>
        <p:txBody>
          <a:bodyPr/>
          <a:lstStyle/>
          <a:p>
            <a:r>
              <a:rPr lang="en-US"/>
              <a:t>BULGULAR</a:t>
            </a:r>
            <a:endParaRPr lang="en-US" dirty="0"/>
          </a:p>
        </p:txBody>
      </p:sp>
      <p:sp>
        <p:nvSpPr>
          <p:cNvPr id="3" name="Text Placeholder 2">
            <a:extLst>
              <a:ext uri="{FF2B5EF4-FFF2-40B4-BE49-F238E27FC236}">
                <a16:creationId xmlns:a16="http://schemas.microsoft.com/office/drawing/2014/main" id="{9EEBA305-9B08-AAF7-DDF3-FA4A17F1EB69}"/>
              </a:ext>
            </a:extLst>
          </p:cNvPr>
          <p:cNvSpPr>
            <a:spLocks noGrp="1"/>
          </p:cNvSpPr>
          <p:nvPr>
            <p:ph type="body" sz="quarter" idx="13"/>
          </p:nvPr>
        </p:nvSpPr>
        <p:spPr>
          <a:xfrm>
            <a:off x="411480" y="1920240"/>
            <a:ext cx="11338560" cy="2653547"/>
          </a:xfrm>
        </p:spPr>
        <p:txBody>
          <a:bodyPr/>
          <a:lstStyle/>
          <a:p>
            <a:r>
              <a:rPr lang="tr-TR" dirty="0"/>
              <a:t>EN GÜÇLÜ OLDUĞU YER</a:t>
            </a:r>
          </a:p>
          <a:p>
            <a:pPr lvl="1"/>
            <a:r>
              <a:rPr lang="tr-TR" dirty="0"/>
              <a:t>Duraksız işletme   39 s → 32 s  (%18)   ·   konvoy kuralıyla   25 s → 17 s  (%32)</a:t>
            </a:r>
          </a:p>
          <a:p>
            <a:r>
              <a:rPr lang="tr-TR" dirty="0"/>
              <a:t>ETKİSİNİN KAYBOLDUĞU YER</a:t>
            </a:r>
          </a:p>
          <a:p>
            <a:pPr lvl="1"/>
            <a:r>
              <a:rPr lang="tr-TR" dirty="0"/>
              <a:t>Duraklamalı işletme   78 s → 71 s  (%9) </a:t>
            </a:r>
            <a:endParaRPr lang="en-US" dirty="0"/>
          </a:p>
          <a:p>
            <a:pPr lvl="1"/>
            <a:r>
              <a:rPr lang="tr-TR" dirty="0"/>
              <a:t>Her sistem kendi aralığında koşarken bozucu etki altında   %0.5</a:t>
            </a:r>
          </a:p>
          <a:p>
            <a:r>
              <a:rPr lang="tr-TR" dirty="0"/>
              <a:t>KAPSAM DIŞI BIRAKILAN</a:t>
            </a:r>
          </a:p>
          <a:p>
            <a:pPr lvl="1"/>
            <a:r>
              <a:rPr lang="tr-TR" dirty="0"/>
              <a:t>Karma trafik ve ayrılan/birleşen kavşaklar — rota ve tarife optimizasyonu</a:t>
            </a:r>
          </a:p>
          <a:p>
            <a:r>
              <a:rPr lang="tr-TR" dirty="0"/>
              <a:t>BUGÜNÜN ASIL KISITI KAPASİTE DEĞİL</a:t>
            </a:r>
          </a:p>
          <a:p>
            <a:pPr lvl="1"/>
            <a:r>
              <a:rPr lang="tr-TR" dirty="0"/>
              <a:t>Güvenlik ispatı   ·   protokol olgunluğu   ·   yatırımın hattı hak etmesi</a:t>
            </a:r>
          </a:p>
        </p:txBody>
      </p:sp>
    </p:spTree>
    <p:extLst>
      <p:ext uri="{BB962C8B-B14F-4D97-AF65-F5344CB8AC3E}">
        <p14:creationId xmlns:p14="http://schemas.microsoft.com/office/powerpoint/2010/main" val="468788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2CAF-3293-D8EF-F148-7E38DAEB627B}"/>
              </a:ext>
            </a:extLst>
          </p:cNvPr>
          <p:cNvSpPr>
            <a:spLocks noGrp="1"/>
          </p:cNvSpPr>
          <p:nvPr>
            <p:ph type="title"/>
          </p:nvPr>
        </p:nvSpPr>
        <p:spPr/>
        <p:txBody>
          <a:bodyPr/>
          <a:lstStyle/>
          <a:p>
            <a:r>
              <a:rPr lang="en-US" b="0" dirty="0"/>
              <a:t>KAYNAKLAR</a:t>
            </a:r>
            <a:br>
              <a:rPr lang="en-US" dirty="0"/>
            </a:br>
            <a:endParaRPr lang="en-US" dirty="0"/>
          </a:p>
        </p:txBody>
      </p:sp>
      <p:sp>
        <p:nvSpPr>
          <p:cNvPr id="3" name="Text Placeholder 2">
            <a:extLst>
              <a:ext uri="{FF2B5EF4-FFF2-40B4-BE49-F238E27FC236}">
                <a16:creationId xmlns:a16="http://schemas.microsoft.com/office/drawing/2014/main" id="{9D65E0A4-E215-4B12-17B1-EEC3373CE389}"/>
              </a:ext>
            </a:extLst>
          </p:cNvPr>
          <p:cNvSpPr>
            <a:spLocks noGrp="1"/>
          </p:cNvSpPr>
          <p:nvPr>
            <p:ph type="body" sz="quarter" idx="13"/>
          </p:nvPr>
        </p:nvSpPr>
        <p:spPr>
          <a:xfrm>
            <a:off x="411480" y="1463040"/>
            <a:ext cx="11338560" cy="4663440"/>
          </a:xfrm>
        </p:spPr>
        <p:txBody>
          <a:bodyPr/>
          <a:lstStyle/>
          <a:p>
            <a:pPr marL="342900" indent="-342900">
              <a:spcBef>
                <a:spcPts val="500"/>
              </a:spcBef>
              <a:buNone/>
            </a:pPr>
            <a:r>
              <a:rPr lang="tr-TR" sz="1150" dirty="0">
                <a:solidFill>
                  <a:srgbClr val="1D2A4D"/>
                </a:solidFill>
                <a:latin typeface="Calibri"/>
              </a:rPr>
              <a:t>[1]  Quaglietta, E., Wang, M., Goverde, R.M.P. (2020). A multi-state train-following model for the analysis of virtual coupling railway operations. Journal of Rail Transport Planning &amp; Management, 15, 100195. doi:10.1016/j.jrtpm.2020.100195</a:t>
            </a:r>
          </a:p>
          <a:p>
            <a:pPr marL="342900" indent="-342900">
              <a:spcBef>
                <a:spcPts val="500"/>
              </a:spcBef>
              <a:buNone/>
            </a:pPr>
            <a:r>
              <a:rPr lang="tr-TR" sz="1150" dirty="0">
                <a:solidFill>
                  <a:srgbClr val="1D2A4D"/>
                </a:solidFill>
                <a:latin typeface="Calibri"/>
              </a:rPr>
              <a:t>[2]  Aoun, J., Quaglietta, E., Goverde, R.M.P., Scheidt, M., Blumenfeld, M., Jack, A., Redfern, B. (2021). A hybrid Delphi-AHP multi-criteria analysis of Moving Block and Virtual Coupling railway signalling. Transportation Research Part C, 129, 103250. doi:10.1016/j.trc.2021.103250</a:t>
            </a:r>
          </a:p>
          <a:p>
            <a:pPr marL="342900" indent="-342900">
              <a:spcBef>
                <a:spcPts val="500"/>
              </a:spcBef>
              <a:buNone/>
            </a:pPr>
            <a:r>
              <a:rPr lang="tr-TR" sz="1150" dirty="0">
                <a:solidFill>
                  <a:srgbClr val="1D2A4D"/>
                </a:solidFill>
                <a:latin typeface="Calibri"/>
              </a:rPr>
              <a:t>[3]  UNISIG (2016). ERTMS/ETCS System Requirements Specification, Subset-026, version 3.6.0.</a:t>
            </a:r>
          </a:p>
          <a:p>
            <a:pPr marL="342900" indent="-342900">
              <a:spcBef>
                <a:spcPts val="500"/>
              </a:spcBef>
              <a:buNone/>
            </a:pPr>
            <a:r>
              <a:rPr lang="tr-TR" sz="1150" dirty="0">
                <a:solidFill>
                  <a:srgbClr val="1D2A4D"/>
                </a:solidFill>
                <a:latin typeface="Calibri"/>
              </a:rPr>
              <a:t>[4]  Hansen, I.A., Pachl, J. (Ed.) (2014). Railway Timetabling and Operations. Eurailpress, Hamburg.</a:t>
            </a:r>
          </a:p>
          <a:p>
            <a:pPr marL="342900" indent="-342900">
              <a:spcBef>
                <a:spcPts val="500"/>
              </a:spcBef>
              <a:buNone/>
            </a:pPr>
            <a:r>
              <a:rPr lang="tr-TR" sz="1150" dirty="0">
                <a:solidFill>
                  <a:srgbClr val="1D2A4D"/>
                </a:solidFill>
                <a:latin typeface="Calibri"/>
              </a:rPr>
              <a:t>[5]  Theeg, G., Vlasenko, S. (Ed.) (2009). Railway Signalling and Interlocking: International Compendium. Eurailpress, Hamburg.</a:t>
            </a:r>
          </a:p>
          <a:p>
            <a:pPr marL="342900" indent="-342900">
              <a:spcBef>
                <a:spcPts val="500"/>
              </a:spcBef>
              <a:buNone/>
            </a:pPr>
            <a:r>
              <a:rPr lang="tr-TR" sz="1150" dirty="0">
                <a:solidFill>
                  <a:srgbClr val="1D2A4D"/>
                </a:solidFill>
                <a:latin typeface="Calibri"/>
              </a:rPr>
              <a:t>[6]  UIC (2013). UIC Code 406: Capacity, 2nd edition. International Union of Railways, Paris.</a:t>
            </a:r>
          </a:p>
        </p:txBody>
      </p:sp>
    </p:spTree>
    <p:extLst>
      <p:ext uri="{BB962C8B-B14F-4D97-AF65-F5344CB8AC3E}">
        <p14:creationId xmlns:p14="http://schemas.microsoft.com/office/powerpoint/2010/main" val="1711816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10">
            <a:extLst>
              <a:ext uri="{FF2B5EF4-FFF2-40B4-BE49-F238E27FC236}">
                <a16:creationId xmlns:a16="http://schemas.microsoft.com/office/drawing/2014/main" id="{A60DAAB4-D7C7-4D39-B5C0-C991D9698E89}"/>
              </a:ext>
            </a:extLst>
          </p:cNvPr>
          <p:cNvSpPr txBox="1"/>
          <p:nvPr/>
        </p:nvSpPr>
        <p:spPr>
          <a:xfrm>
            <a:off x="3196311" y="2004552"/>
            <a:ext cx="5799378" cy="2660964"/>
          </a:xfrm>
          <a:prstGeom prst="rect">
            <a:avLst/>
          </a:prstGeom>
          <a:noFill/>
        </p:spPr>
        <p:txBody>
          <a:bodyPr wrap="square" lIns="360000" rtlCol="0" anchor="ctr" anchorCtr="0">
            <a:noAutofit/>
          </a:bodyPr>
          <a:lstStyle/>
          <a:p>
            <a:pPr algn="ctr">
              <a:lnSpc>
                <a:spcPts val="4500"/>
              </a:lnSpc>
            </a:pPr>
            <a:r>
              <a:rPr lang="tr-TR" sz="4400" cap="all" dirty="0">
                <a:solidFill>
                  <a:srgbClr val="003087"/>
                </a:solidFill>
                <a:latin typeface="Segoe UI Black" panose="020B0A02040204020203" pitchFamily="34" charset="0"/>
                <a:ea typeface="Segoe UI Black" panose="020B0A02040204020203" pitchFamily="34" charset="0"/>
                <a:cs typeface="Posterama" panose="020B0504020200020000" pitchFamily="34" charset="0"/>
              </a:rPr>
              <a:t>TEŞEKKÜRLER</a:t>
            </a:r>
          </a:p>
        </p:txBody>
      </p:sp>
      <p:grpSp>
        <p:nvGrpSpPr>
          <p:cNvPr id="28" name="Group 27">
            <a:extLst>
              <a:ext uri="{FF2B5EF4-FFF2-40B4-BE49-F238E27FC236}">
                <a16:creationId xmlns:a16="http://schemas.microsoft.com/office/drawing/2014/main" id="{0DC78FF3-615B-4D31-932C-8ACC1FFDB17F}"/>
              </a:ext>
            </a:extLst>
          </p:cNvPr>
          <p:cNvGrpSpPr/>
          <p:nvPr/>
        </p:nvGrpSpPr>
        <p:grpSpPr>
          <a:xfrm>
            <a:off x="2814206" y="5991497"/>
            <a:ext cx="6563587" cy="496389"/>
            <a:chOff x="2814206" y="5991497"/>
            <a:chExt cx="6563587" cy="496389"/>
          </a:xfrm>
        </p:grpSpPr>
        <p:sp>
          <p:nvSpPr>
            <p:cNvPr id="4" name="Rectangle: Rounded Corners 3">
              <a:extLst>
                <a:ext uri="{FF2B5EF4-FFF2-40B4-BE49-F238E27FC236}">
                  <a16:creationId xmlns:a16="http://schemas.microsoft.com/office/drawing/2014/main" id="{327970B7-7EB9-431D-BEED-59F137A6FE21}"/>
                </a:ext>
              </a:extLst>
            </p:cNvPr>
            <p:cNvSpPr/>
            <p:nvPr/>
          </p:nvSpPr>
          <p:spPr>
            <a:xfrm>
              <a:off x="2814206" y="5991497"/>
              <a:ext cx="6435074" cy="496389"/>
            </a:xfrm>
            <a:prstGeom prst="roundRect">
              <a:avLst/>
            </a:prstGeom>
            <a:solidFill>
              <a:srgbClr val="FF5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22">
              <a:extLst>
                <a:ext uri="{FF2B5EF4-FFF2-40B4-BE49-F238E27FC236}">
                  <a16:creationId xmlns:a16="http://schemas.microsoft.com/office/drawing/2014/main" id="{AD2AC26D-DE1A-4CEB-BCA6-276B701657A5}"/>
                </a:ext>
              </a:extLst>
            </p:cNvPr>
            <p:cNvSpPr txBox="1"/>
            <p:nvPr/>
          </p:nvSpPr>
          <p:spPr>
            <a:xfrm>
              <a:off x="3033864" y="6046316"/>
              <a:ext cx="1780820" cy="338554"/>
            </a:xfrm>
            <a:prstGeom prst="rect">
              <a:avLst/>
            </a:prstGeom>
            <a:noFill/>
          </p:spPr>
          <p:txBody>
            <a:bodyPr wrap="square" rtlCol="0">
              <a:spAutoFit/>
            </a:bodyPr>
            <a:lstStyle/>
            <a:p>
              <a:r>
                <a:rPr lang="tr-TR" sz="1600" b="1"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www.aselsan.com</a:t>
              </a:r>
            </a:p>
          </p:txBody>
        </p:sp>
        <p:cxnSp>
          <p:nvCxnSpPr>
            <p:cNvPr id="10" name="Straight Connector 9">
              <a:extLst>
                <a:ext uri="{FF2B5EF4-FFF2-40B4-BE49-F238E27FC236}">
                  <a16:creationId xmlns:a16="http://schemas.microsoft.com/office/drawing/2014/main" id="{CBEF8130-B0F1-45AB-A075-8ACA270B6FDF}"/>
                </a:ext>
              </a:extLst>
            </p:cNvPr>
            <p:cNvCxnSpPr/>
            <p:nvPr/>
          </p:nvCxnSpPr>
          <p:spPr>
            <a:xfrm>
              <a:off x="4804887" y="6124767"/>
              <a:ext cx="0" cy="216000"/>
            </a:xfrm>
            <a:prstGeom prst="line">
              <a:avLst/>
            </a:prstGeom>
            <a:ln>
              <a:solidFill>
                <a:schemeClr val="bg1"/>
              </a:solidFill>
            </a:ln>
          </p:spPr>
          <p:style>
            <a:lnRef idx="3">
              <a:schemeClr val="accent4"/>
            </a:lnRef>
            <a:fillRef idx="0">
              <a:schemeClr val="accent4"/>
            </a:fillRef>
            <a:effectRef idx="2">
              <a:schemeClr val="accent4"/>
            </a:effectRef>
            <a:fontRef idx="minor">
              <a:schemeClr val="tx1"/>
            </a:fontRef>
          </p:style>
        </p:cxnSp>
        <p:pic>
          <p:nvPicPr>
            <p:cNvPr id="24" name="Picture 23">
              <a:extLst>
                <a:ext uri="{FF2B5EF4-FFF2-40B4-BE49-F238E27FC236}">
                  <a16:creationId xmlns:a16="http://schemas.microsoft.com/office/drawing/2014/main" id="{120ACF76-FC65-4512-B95A-C9800745D3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2529" y="6115242"/>
              <a:ext cx="232526" cy="217118"/>
            </a:xfrm>
            <a:prstGeom prst="rect">
              <a:avLst/>
            </a:prstGeom>
          </p:spPr>
        </p:pic>
        <p:grpSp>
          <p:nvGrpSpPr>
            <p:cNvPr id="11" name="成组">
              <a:extLst>
                <a:ext uri="{FF2B5EF4-FFF2-40B4-BE49-F238E27FC236}">
                  <a16:creationId xmlns:a16="http://schemas.microsoft.com/office/drawing/2014/main" id="{60F83EC0-E54C-4939-BB0C-095EB427309F}"/>
                </a:ext>
              </a:extLst>
            </p:cNvPr>
            <p:cNvGrpSpPr/>
            <p:nvPr/>
          </p:nvGrpSpPr>
          <p:grpSpPr>
            <a:xfrm>
              <a:off x="5382375" y="6069216"/>
              <a:ext cx="299769" cy="299769"/>
              <a:chOff x="0" y="0"/>
              <a:chExt cx="457200" cy="457200"/>
            </a:xfrm>
          </p:grpSpPr>
          <p:sp>
            <p:nvSpPr>
              <p:cNvPr id="12" name="任意形状 741">
                <a:extLst>
                  <a:ext uri="{FF2B5EF4-FFF2-40B4-BE49-F238E27FC236}">
                    <a16:creationId xmlns:a16="http://schemas.microsoft.com/office/drawing/2014/main" id="{B588F2B4-ECA2-49BB-A64E-148239F23290}"/>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3" name="任意形状 742">
                <a:extLst>
                  <a:ext uri="{FF2B5EF4-FFF2-40B4-BE49-F238E27FC236}">
                    <a16:creationId xmlns:a16="http://schemas.microsoft.com/office/drawing/2014/main" id="{B7F8CFB0-6DDE-4E85-844B-38E2D5BD183A}"/>
                  </a:ext>
                </a:extLst>
              </p:cNvPr>
              <p:cNvSpPr/>
              <p:nvPr/>
            </p:nvSpPr>
            <p:spPr>
              <a:xfrm>
                <a:off x="133350" y="38100"/>
                <a:ext cx="200027" cy="381000"/>
              </a:xfrm>
              <a:custGeom>
                <a:avLst/>
                <a:gdLst/>
                <a:ahLst/>
                <a:cxnLst>
                  <a:cxn ang="0">
                    <a:pos x="wd2" y="hd2"/>
                  </a:cxn>
                  <a:cxn ang="5400000">
                    <a:pos x="wd2" y="hd2"/>
                  </a:cxn>
                  <a:cxn ang="10800000">
                    <a:pos x="wd2" y="hd2"/>
                  </a:cxn>
                  <a:cxn ang="16200000">
                    <a:pos x="wd2" y="hd2"/>
                  </a:cxn>
                </a:cxnLst>
                <a:rect l="0" t="0" r="r" b="b"/>
                <a:pathLst>
                  <a:path w="21600" h="21600" extrusionOk="0">
                    <a:moveTo>
                      <a:pt x="14400" y="12420"/>
                    </a:moveTo>
                    <a:lnTo>
                      <a:pt x="19543" y="12420"/>
                    </a:lnTo>
                    <a:lnTo>
                      <a:pt x="21600" y="8100"/>
                    </a:lnTo>
                    <a:lnTo>
                      <a:pt x="14400" y="8100"/>
                    </a:lnTo>
                    <a:lnTo>
                      <a:pt x="14400" y="5940"/>
                    </a:lnTo>
                    <a:cubicBezTo>
                      <a:pt x="14400" y="4828"/>
                      <a:pt x="14400" y="3780"/>
                      <a:pt x="18514" y="3780"/>
                    </a:cubicBezTo>
                    <a:lnTo>
                      <a:pt x="21600" y="3780"/>
                    </a:lnTo>
                    <a:lnTo>
                      <a:pt x="21600" y="151"/>
                    </a:lnTo>
                    <a:cubicBezTo>
                      <a:pt x="20929" y="105"/>
                      <a:pt x="18397" y="0"/>
                      <a:pt x="15723" y="0"/>
                    </a:cubicBezTo>
                    <a:cubicBezTo>
                      <a:pt x="10138" y="0"/>
                      <a:pt x="6171" y="1790"/>
                      <a:pt x="6171" y="5076"/>
                    </a:cubicBezTo>
                    <a:lnTo>
                      <a:pt x="6171" y="8100"/>
                    </a:lnTo>
                    <a:lnTo>
                      <a:pt x="0" y="8100"/>
                    </a:lnTo>
                    <a:lnTo>
                      <a:pt x="0" y="12420"/>
                    </a:lnTo>
                    <a:lnTo>
                      <a:pt x="6171" y="12420"/>
                    </a:lnTo>
                    <a:lnTo>
                      <a:pt x="6171" y="21600"/>
                    </a:lnTo>
                    <a:lnTo>
                      <a:pt x="14400" y="21600"/>
                    </a:lnTo>
                    <a:lnTo>
                      <a:pt x="14400" y="12420"/>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14" name="成组">
              <a:extLst>
                <a:ext uri="{FF2B5EF4-FFF2-40B4-BE49-F238E27FC236}">
                  <a16:creationId xmlns:a16="http://schemas.microsoft.com/office/drawing/2014/main" id="{CBEFBE6A-608E-4EFC-A897-55949B18421A}"/>
                </a:ext>
              </a:extLst>
            </p:cNvPr>
            <p:cNvGrpSpPr/>
            <p:nvPr/>
          </p:nvGrpSpPr>
          <p:grpSpPr>
            <a:xfrm>
              <a:off x="6239215" y="6054525"/>
              <a:ext cx="342674" cy="342674"/>
              <a:chOff x="0" y="0"/>
              <a:chExt cx="457200" cy="457200"/>
            </a:xfrm>
          </p:grpSpPr>
          <p:sp>
            <p:nvSpPr>
              <p:cNvPr id="15" name="任意形状 780">
                <a:extLst>
                  <a:ext uri="{FF2B5EF4-FFF2-40B4-BE49-F238E27FC236}">
                    <a16:creationId xmlns:a16="http://schemas.microsoft.com/office/drawing/2014/main" id="{9DE2F884-69BF-4C08-BA37-28627F4C82DC}"/>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6" name="任意形状 781">
                <a:extLst>
                  <a:ext uri="{FF2B5EF4-FFF2-40B4-BE49-F238E27FC236}">
                    <a16:creationId xmlns:a16="http://schemas.microsoft.com/office/drawing/2014/main" id="{6B82C8F1-99D8-46D1-AB19-DFAF42942A4B}"/>
                  </a:ext>
                </a:extLst>
              </p:cNvPr>
              <p:cNvSpPr/>
              <p:nvPr/>
            </p:nvSpPr>
            <p:spPr>
              <a:xfrm>
                <a:off x="38100" y="38100"/>
                <a:ext cx="381000" cy="381000"/>
              </a:xfrm>
              <a:custGeom>
                <a:avLst/>
                <a:gdLst/>
                <a:ahLst/>
                <a:cxnLst>
                  <a:cxn ang="0">
                    <a:pos x="wd2" y="hd2"/>
                  </a:cxn>
                  <a:cxn ang="5400000">
                    <a:pos x="wd2" y="hd2"/>
                  </a:cxn>
                  <a:cxn ang="10800000">
                    <a:pos x="wd2" y="hd2"/>
                  </a:cxn>
                  <a:cxn ang="16200000">
                    <a:pos x="wd2" y="hd2"/>
                  </a:cxn>
                </a:cxnLst>
                <a:rect l="0" t="0" r="r" b="b"/>
                <a:pathLst>
                  <a:path w="21600" h="21600" extrusionOk="0">
                    <a:moveTo>
                      <a:pt x="10800" y="7560"/>
                    </a:moveTo>
                    <a:cubicBezTo>
                      <a:pt x="9011" y="7560"/>
                      <a:pt x="7560" y="9011"/>
                      <a:pt x="7560" y="10800"/>
                    </a:cubicBezTo>
                    <a:cubicBezTo>
                      <a:pt x="7560" y="12589"/>
                      <a:pt x="9011" y="14040"/>
                      <a:pt x="10800" y="14040"/>
                    </a:cubicBezTo>
                    <a:cubicBezTo>
                      <a:pt x="12589" y="14040"/>
                      <a:pt x="14040" y="12589"/>
                      <a:pt x="14040" y="10800"/>
                    </a:cubicBezTo>
                    <a:cubicBezTo>
                      <a:pt x="14040" y="9011"/>
                      <a:pt x="12589" y="7560"/>
                      <a:pt x="10800" y="7560"/>
                    </a:cubicBezTo>
                    <a:close/>
                    <a:moveTo>
                      <a:pt x="10800" y="5400"/>
                    </a:moveTo>
                    <a:cubicBezTo>
                      <a:pt x="13782" y="5400"/>
                      <a:pt x="16200" y="7818"/>
                      <a:pt x="16200" y="10800"/>
                    </a:cubicBezTo>
                    <a:cubicBezTo>
                      <a:pt x="16200" y="13782"/>
                      <a:pt x="13782" y="16200"/>
                      <a:pt x="10800" y="16200"/>
                    </a:cubicBezTo>
                    <a:cubicBezTo>
                      <a:pt x="7818" y="16200"/>
                      <a:pt x="5400" y="13782"/>
                      <a:pt x="5400" y="10800"/>
                    </a:cubicBezTo>
                    <a:cubicBezTo>
                      <a:pt x="5400" y="7818"/>
                      <a:pt x="7818" y="5400"/>
                      <a:pt x="10800" y="5400"/>
                    </a:cubicBezTo>
                    <a:close/>
                    <a:moveTo>
                      <a:pt x="17820" y="5130"/>
                    </a:moveTo>
                    <a:cubicBezTo>
                      <a:pt x="17820" y="5876"/>
                      <a:pt x="17216" y="6480"/>
                      <a:pt x="16470" y="6480"/>
                    </a:cubicBezTo>
                    <a:cubicBezTo>
                      <a:pt x="15724" y="6480"/>
                      <a:pt x="15120" y="5876"/>
                      <a:pt x="15120" y="5130"/>
                    </a:cubicBezTo>
                    <a:cubicBezTo>
                      <a:pt x="15120" y="4384"/>
                      <a:pt x="15724" y="3780"/>
                      <a:pt x="16470" y="3780"/>
                    </a:cubicBezTo>
                    <a:cubicBezTo>
                      <a:pt x="17216" y="3780"/>
                      <a:pt x="17820" y="4384"/>
                      <a:pt x="17820" y="5130"/>
                    </a:cubicBezTo>
                    <a:close/>
                    <a:moveTo>
                      <a:pt x="10800" y="2160"/>
                    </a:moveTo>
                    <a:cubicBezTo>
                      <a:pt x="8128" y="2160"/>
                      <a:pt x="7692" y="2168"/>
                      <a:pt x="6449" y="2223"/>
                    </a:cubicBezTo>
                    <a:cubicBezTo>
                      <a:pt x="5602" y="2263"/>
                      <a:pt x="5034" y="2376"/>
                      <a:pt x="4507" y="2581"/>
                    </a:cubicBezTo>
                    <a:cubicBezTo>
                      <a:pt x="4038" y="2763"/>
                      <a:pt x="3700" y="2980"/>
                      <a:pt x="3340" y="3340"/>
                    </a:cubicBezTo>
                    <a:cubicBezTo>
                      <a:pt x="3002" y="3667"/>
                      <a:pt x="2742" y="4066"/>
                      <a:pt x="2580" y="4507"/>
                    </a:cubicBezTo>
                    <a:cubicBezTo>
                      <a:pt x="2375" y="5036"/>
                      <a:pt x="2261" y="5603"/>
                      <a:pt x="2223" y="6449"/>
                    </a:cubicBezTo>
                    <a:cubicBezTo>
                      <a:pt x="2166" y="7641"/>
                      <a:pt x="2160" y="8058"/>
                      <a:pt x="2160" y="10800"/>
                    </a:cubicBezTo>
                    <a:cubicBezTo>
                      <a:pt x="2160" y="13472"/>
                      <a:pt x="2168" y="13908"/>
                      <a:pt x="2223" y="15151"/>
                    </a:cubicBezTo>
                    <a:cubicBezTo>
                      <a:pt x="2263" y="15997"/>
                      <a:pt x="2376" y="16566"/>
                      <a:pt x="2580" y="17092"/>
                    </a:cubicBezTo>
                    <a:cubicBezTo>
                      <a:pt x="2764" y="17562"/>
                      <a:pt x="2980" y="17900"/>
                      <a:pt x="3338" y="18259"/>
                    </a:cubicBezTo>
                    <a:cubicBezTo>
                      <a:pt x="3702" y="18621"/>
                      <a:pt x="4040" y="18838"/>
                      <a:pt x="4505" y="19018"/>
                    </a:cubicBezTo>
                    <a:cubicBezTo>
                      <a:pt x="5038" y="19224"/>
                      <a:pt x="5606" y="19339"/>
                      <a:pt x="6449" y="19377"/>
                    </a:cubicBezTo>
                    <a:cubicBezTo>
                      <a:pt x="7641" y="19434"/>
                      <a:pt x="8058" y="19440"/>
                      <a:pt x="10800" y="19440"/>
                    </a:cubicBezTo>
                    <a:cubicBezTo>
                      <a:pt x="13472" y="19440"/>
                      <a:pt x="13908" y="19432"/>
                      <a:pt x="15151" y="19377"/>
                    </a:cubicBezTo>
                    <a:cubicBezTo>
                      <a:pt x="15996" y="19337"/>
                      <a:pt x="16565" y="19224"/>
                      <a:pt x="17092" y="19020"/>
                    </a:cubicBezTo>
                    <a:cubicBezTo>
                      <a:pt x="17560" y="18837"/>
                      <a:pt x="17900" y="18620"/>
                      <a:pt x="18259" y="18262"/>
                    </a:cubicBezTo>
                    <a:cubicBezTo>
                      <a:pt x="18622" y="17898"/>
                      <a:pt x="18840" y="17560"/>
                      <a:pt x="19019" y="17095"/>
                    </a:cubicBezTo>
                    <a:cubicBezTo>
                      <a:pt x="19224" y="16563"/>
                      <a:pt x="19339" y="15994"/>
                      <a:pt x="19377" y="15151"/>
                    </a:cubicBezTo>
                    <a:cubicBezTo>
                      <a:pt x="19434" y="13959"/>
                      <a:pt x="19440" y="13542"/>
                      <a:pt x="19440" y="10800"/>
                    </a:cubicBezTo>
                    <a:cubicBezTo>
                      <a:pt x="19440" y="8128"/>
                      <a:pt x="19432" y="7692"/>
                      <a:pt x="19377" y="6449"/>
                    </a:cubicBezTo>
                    <a:cubicBezTo>
                      <a:pt x="19337" y="5604"/>
                      <a:pt x="19224" y="5034"/>
                      <a:pt x="19019" y="4507"/>
                    </a:cubicBezTo>
                    <a:cubicBezTo>
                      <a:pt x="18856" y="4066"/>
                      <a:pt x="18597" y="3668"/>
                      <a:pt x="18260" y="3340"/>
                    </a:cubicBezTo>
                    <a:cubicBezTo>
                      <a:pt x="17933" y="3002"/>
                      <a:pt x="17534" y="2742"/>
                      <a:pt x="17093" y="2580"/>
                    </a:cubicBezTo>
                    <a:cubicBezTo>
                      <a:pt x="16564" y="2375"/>
                      <a:pt x="15996" y="2261"/>
                      <a:pt x="15151" y="2223"/>
                    </a:cubicBezTo>
                    <a:cubicBezTo>
                      <a:pt x="13959" y="2166"/>
                      <a:pt x="13542" y="2160"/>
                      <a:pt x="10800" y="2160"/>
                    </a:cubicBezTo>
                    <a:close/>
                    <a:moveTo>
                      <a:pt x="10800" y="0"/>
                    </a:moveTo>
                    <a:cubicBezTo>
                      <a:pt x="13734" y="0"/>
                      <a:pt x="14100" y="11"/>
                      <a:pt x="15252" y="65"/>
                    </a:cubicBezTo>
                    <a:cubicBezTo>
                      <a:pt x="16402" y="119"/>
                      <a:pt x="17185" y="299"/>
                      <a:pt x="17874" y="567"/>
                    </a:cubicBezTo>
                    <a:cubicBezTo>
                      <a:pt x="18587" y="841"/>
                      <a:pt x="19187" y="1213"/>
                      <a:pt x="19788" y="1812"/>
                    </a:cubicBezTo>
                    <a:cubicBezTo>
                      <a:pt x="20337" y="2352"/>
                      <a:pt x="20762" y="3005"/>
                      <a:pt x="21033" y="3726"/>
                    </a:cubicBezTo>
                    <a:cubicBezTo>
                      <a:pt x="21300" y="4414"/>
                      <a:pt x="21481" y="5198"/>
                      <a:pt x="21535" y="6348"/>
                    </a:cubicBezTo>
                    <a:cubicBezTo>
                      <a:pt x="21586" y="7500"/>
                      <a:pt x="21600" y="7866"/>
                      <a:pt x="21600" y="10800"/>
                    </a:cubicBezTo>
                    <a:cubicBezTo>
                      <a:pt x="21600" y="13734"/>
                      <a:pt x="21589" y="14100"/>
                      <a:pt x="21535" y="15252"/>
                    </a:cubicBezTo>
                    <a:cubicBezTo>
                      <a:pt x="21481" y="16402"/>
                      <a:pt x="21300" y="17185"/>
                      <a:pt x="21033" y="17874"/>
                    </a:cubicBezTo>
                    <a:cubicBezTo>
                      <a:pt x="20763" y="18595"/>
                      <a:pt x="20338" y="19248"/>
                      <a:pt x="19788" y="19788"/>
                    </a:cubicBezTo>
                    <a:cubicBezTo>
                      <a:pt x="19248" y="20337"/>
                      <a:pt x="18595" y="20762"/>
                      <a:pt x="17874" y="21033"/>
                    </a:cubicBezTo>
                    <a:cubicBezTo>
                      <a:pt x="17186" y="21300"/>
                      <a:pt x="16402" y="21481"/>
                      <a:pt x="15252" y="21535"/>
                    </a:cubicBezTo>
                    <a:cubicBezTo>
                      <a:pt x="14100" y="21586"/>
                      <a:pt x="13734" y="21600"/>
                      <a:pt x="10800" y="21600"/>
                    </a:cubicBezTo>
                    <a:cubicBezTo>
                      <a:pt x="7866" y="21600"/>
                      <a:pt x="7500" y="21589"/>
                      <a:pt x="6348" y="21535"/>
                    </a:cubicBezTo>
                    <a:cubicBezTo>
                      <a:pt x="5198" y="21481"/>
                      <a:pt x="4415" y="21300"/>
                      <a:pt x="3726" y="21033"/>
                    </a:cubicBezTo>
                    <a:cubicBezTo>
                      <a:pt x="3005" y="20762"/>
                      <a:pt x="2352" y="20337"/>
                      <a:pt x="1812" y="19788"/>
                    </a:cubicBezTo>
                    <a:cubicBezTo>
                      <a:pt x="1263" y="19248"/>
                      <a:pt x="838" y="18595"/>
                      <a:pt x="567" y="17874"/>
                    </a:cubicBezTo>
                    <a:cubicBezTo>
                      <a:pt x="299" y="17186"/>
                      <a:pt x="119" y="16402"/>
                      <a:pt x="65" y="15252"/>
                    </a:cubicBezTo>
                    <a:cubicBezTo>
                      <a:pt x="14" y="14100"/>
                      <a:pt x="0" y="13734"/>
                      <a:pt x="0" y="10800"/>
                    </a:cubicBezTo>
                    <a:cubicBezTo>
                      <a:pt x="0" y="7866"/>
                      <a:pt x="11" y="7500"/>
                      <a:pt x="65" y="6348"/>
                    </a:cubicBezTo>
                    <a:cubicBezTo>
                      <a:pt x="119" y="5197"/>
                      <a:pt x="299" y="4415"/>
                      <a:pt x="567" y="3726"/>
                    </a:cubicBezTo>
                    <a:cubicBezTo>
                      <a:pt x="837" y="3005"/>
                      <a:pt x="1262" y="2352"/>
                      <a:pt x="1812" y="1812"/>
                    </a:cubicBezTo>
                    <a:cubicBezTo>
                      <a:pt x="2352" y="1263"/>
                      <a:pt x="3005" y="838"/>
                      <a:pt x="3726" y="567"/>
                    </a:cubicBezTo>
                    <a:cubicBezTo>
                      <a:pt x="4415" y="299"/>
                      <a:pt x="5197" y="119"/>
                      <a:pt x="6348" y="65"/>
                    </a:cubicBezTo>
                    <a:cubicBezTo>
                      <a:pt x="7500" y="14"/>
                      <a:pt x="7866" y="0"/>
                      <a:pt x="10800" y="0"/>
                    </a:cubicBez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17" name="成组">
              <a:extLst>
                <a:ext uri="{FF2B5EF4-FFF2-40B4-BE49-F238E27FC236}">
                  <a16:creationId xmlns:a16="http://schemas.microsoft.com/office/drawing/2014/main" id="{FC31723D-28CC-4550-B846-02F84D98A140}"/>
                </a:ext>
              </a:extLst>
            </p:cNvPr>
            <p:cNvGrpSpPr/>
            <p:nvPr/>
          </p:nvGrpSpPr>
          <p:grpSpPr>
            <a:xfrm>
              <a:off x="5789464" y="6048085"/>
              <a:ext cx="338555" cy="338555"/>
              <a:chOff x="0" y="0"/>
              <a:chExt cx="457200" cy="457200"/>
            </a:xfrm>
          </p:grpSpPr>
          <p:sp>
            <p:nvSpPr>
              <p:cNvPr id="18" name="任意形状 801">
                <a:extLst>
                  <a:ext uri="{FF2B5EF4-FFF2-40B4-BE49-F238E27FC236}">
                    <a16:creationId xmlns:a16="http://schemas.microsoft.com/office/drawing/2014/main" id="{11DFE674-8B96-4ACE-98B6-587213F72CD8}"/>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9" name="任意形状 802">
                <a:extLst>
                  <a:ext uri="{FF2B5EF4-FFF2-40B4-BE49-F238E27FC236}">
                    <a16:creationId xmlns:a16="http://schemas.microsoft.com/office/drawing/2014/main" id="{76033BCF-7D42-441A-871C-81671DB7C658}"/>
                  </a:ext>
                </a:extLst>
              </p:cNvPr>
              <p:cNvSpPr/>
              <p:nvPr/>
            </p:nvSpPr>
            <p:spPr>
              <a:xfrm>
                <a:off x="56005" y="57130"/>
                <a:ext cx="363095" cy="342921"/>
              </a:xfrm>
              <a:custGeom>
                <a:avLst/>
                <a:gdLst/>
                <a:ahLst/>
                <a:cxnLst>
                  <a:cxn ang="0">
                    <a:pos x="wd2" y="hd2"/>
                  </a:cxn>
                  <a:cxn ang="5400000">
                    <a:pos x="wd2" y="hd2"/>
                  </a:cxn>
                  <a:cxn ang="10800000">
                    <a:pos x="wd2" y="hd2"/>
                  </a:cxn>
                  <a:cxn ang="16200000">
                    <a:pos x="wd2" y="hd2"/>
                  </a:cxn>
                </a:cxnLst>
                <a:rect l="0" t="0" r="r" b="b"/>
                <a:pathLst>
                  <a:path w="21599" h="21599" extrusionOk="0">
                    <a:moveTo>
                      <a:pt x="4533" y="2401"/>
                    </a:moveTo>
                    <a:cubicBezTo>
                      <a:pt x="4532" y="3726"/>
                      <a:pt x="3517" y="4800"/>
                      <a:pt x="2265" y="4799"/>
                    </a:cubicBezTo>
                    <a:cubicBezTo>
                      <a:pt x="1013" y="4799"/>
                      <a:pt x="-1" y="3724"/>
                      <a:pt x="0" y="2398"/>
                    </a:cubicBezTo>
                    <a:cubicBezTo>
                      <a:pt x="0" y="1073"/>
                      <a:pt x="1016" y="-1"/>
                      <a:pt x="2267" y="0"/>
                    </a:cubicBezTo>
                    <a:cubicBezTo>
                      <a:pt x="3519" y="0"/>
                      <a:pt x="4533" y="1075"/>
                      <a:pt x="4533" y="2401"/>
                    </a:cubicBezTo>
                    <a:close/>
                    <a:moveTo>
                      <a:pt x="4601" y="6576"/>
                    </a:moveTo>
                    <a:lnTo>
                      <a:pt x="68" y="6576"/>
                    </a:lnTo>
                    <a:lnTo>
                      <a:pt x="68" y="21599"/>
                    </a:lnTo>
                    <a:lnTo>
                      <a:pt x="4601" y="21599"/>
                    </a:lnTo>
                    <a:lnTo>
                      <a:pt x="4601" y="6576"/>
                    </a:lnTo>
                    <a:close/>
                    <a:moveTo>
                      <a:pt x="11763" y="6576"/>
                    </a:moveTo>
                    <a:lnTo>
                      <a:pt x="7252" y="6576"/>
                    </a:lnTo>
                    <a:lnTo>
                      <a:pt x="7252" y="21599"/>
                    </a:lnTo>
                    <a:lnTo>
                      <a:pt x="11717" y="21599"/>
                    </a:lnTo>
                    <a:lnTo>
                      <a:pt x="11717" y="13716"/>
                    </a:lnTo>
                    <a:cubicBezTo>
                      <a:pt x="11717" y="9324"/>
                      <a:pt x="17123" y="8916"/>
                      <a:pt x="17123" y="13716"/>
                    </a:cubicBezTo>
                    <a:lnTo>
                      <a:pt x="17123" y="21599"/>
                    </a:lnTo>
                    <a:lnTo>
                      <a:pt x="21599" y="21599"/>
                    </a:lnTo>
                    <a:lnTo>
                      <a:pt x="21599" y="12084"/>
                    </a:lnTo>
                    <a:cubicBezTo>
                      <a:pt x="21599" y="4680"/>
                      <a:pt x="13598" y="4956"/>
                      <a:pt x="11717" y="8592"/>
                    </a:cubicBezTo>
                    <a:lnTo>
                      <a:pt x="11763" y="6576"/>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20" name="成组">
              <a:extLst>
                <a:ext uri="{FF2B5EF4-FFF2-40B4-BE49-F238E27FC236}">
                  <a16:creationId xmlns:a16="http://schemas.microsoft.com/office/drawing/2014/main" id="{B63B867D-5FC1-48FB-A286-ECD16B6A7598}"/>
                </a:ext>
              </a:extLst>
            </p:cNvPr>
            <p:cNvGrpSpPr/>
            <p:nvPr/>
          </p:nvGrpSpPr>
          <p:grpSpPr>
            <a:xfrm>
              <a:off x="7636350" y="6054524"/>
              <a:ext cx="338555" cy="338555"/>
              <a:chOff x="0" y="0"/>
              <a:chExt cx="457200" cy="457200"/>
            </a:xfrm>
          </p:grpSpPr>
          <p:sp>
            <p:nvSpPr>
              <p:cNvPr id="21" name="任意形状 948">
                <a:extLst>
                  <a:ext uri="{FF2B5EF4-FFF2-40B4-BE49-F238E27FC236}">
                    <a16:creationId xmlns:a16="http://schemas.microsoft.com/office/drawing/2014/main" id="{1A83EFD6-C859-41C3-9A3F-4905AB36368B}"/>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22" name="任意形状 949">
                <a:extLst>
                  <a:ext uri="{FF2B5EF4-FFF2-40B4-BE49-F238E27FC236}">
                    <a16:creationId xmlns:a16="http://schemas.microsoft.com/office/drawing/2014/main" id="{3D671CC7-A4CA-428D-B847-0BB65DA92B29}"/>
                  </a:ext>
                </a:extLst>
              </p:cNvPr>
              <p:cNvSpPr/>
              <p:nvPr/>
            </p:nvSpPr>
            <p:spPr>
              <a:xfrm>
                <a:off x="38100" y="76200"/>
                <a:ext cx="381000" cy="304800"/>
              </a:xfrm>
              <a:custGeom>
                <a:avLst/>
                <a:gdLst/>
                <a:ahLst/>
                <a:cxnLst>
                  <a:cxn ang="0">
                    <a:pos x="wd2" y="hd2"/>
                  </a:cxn>
                  <a:cxn ang="5400000">
                    <a:pos x="wd2" y="hd2"/>
                  </a:cxn>
                  <a:cxn ang="10800000">
                    <a:pos x="wd2" y="hd2"/>
                  </a:cxn>
                  <a:cxn ang="16200000">
                    <a:pos x="wd2" y="hd2"/>
                  </a:cxn>
                </a:cxnLst>
                <a:rect l="0" t="0" r="r" b="b"/>
                <a:pathLst>
                  <a:path w="21600" h="21600" extrusionOk="0">
                    <a:moveTo>
                      <a:pt x="19014" y="4043"/>
                    </a:moveTo>
                    <a:cubicBezTo>
                      <a:pt x="18932" y="3641"/>
                      <a:pt x="18699" y="3337"/>
                      <a:pt x="18432" y="3244"/>
                    </a:cubicBezTo>
                    <a:cubicBezTo>
                      <a:pt x="17960" y="3078"/>
                      <a:pt x="15660" y="2700"/>
                      <a:pt x="10800" y="2700"/>
                    </a:cubicBezTo>
                    <a:cubicBezTo>
                      <a:pt x="5940" y="2700"/>
                      <a:pt x="3642" y="3078"/>
                      <a:pt x="3166" y="3244"/>
                    </a:cubicBezTo>
                    <a:cubicBezTo>
                      <a:pt x="2902" y="3336"/>
                      <a:pt x="2669" y="3640"/>
                      <a:pt x="2586" y="4043"/>
                    </a:cubicBezTo>
                    <a:cubicBezTo>
                      <a:pt x="2468" y="4616"/>
                      <a:pt x="2160" y="7015"/>
                      <a:pt x="2160" y="10800"/>
                    </a:cubicBezTo>
                    <a:cubicBezTo>
                      <a:pt x="2160" y="14585"/>
                      <a:pt x="2468" y="16983"/>
                      <a:pt x="2586" y="17558"/>
                    </a:cubicBezTo>
                    <a:cubicBezTo>
                      <a:pt x="2668" y="17959"/>
                      <a:pt x="2901" y="18263"/>
                      <a:pt x="3167" y="18355"/>
                    </a:cubicBezTo>
                    <a:cubicBezTo>
                      <a:pt x="3642" y="18522"/>
                      <a:pt x="5940" y="18900"/>
                      <a:pt x="10800" y="18900"/>
                    </a:cubicBezTo>
                    <a:cubicBezTo>
                      <a:pt x="15660" y="18900"/>
                      <a:pt x="17959" y="18522"/>
                      <a:pt x="18434" y="18356"/>
                    </a:cubicBezTo>
                    <a:cubicBezTo>
                      <a:pt x="18698" y="18264"/>
                      <a:pt x="18931" y="17960"/>
                      <a:pt x="19014" y="17557"/>
                    </a:cubicBezTo>
                    <a:cubicBezTo>
                      <a:pt x="19132" y="16984"/>
                      <a:pt x="19440" y="14580"/>
                      <a:pt x="19440" y="10800"/>
                    </a:cubicBezTo>
                    <a:cubicBezTo>
                      <a:pt x="19440" y="7020"/>
                      <a:pt x="19132" y="4617"/>
                      <a:pt x="19014" y="4043"/>
                    </a:cubicBezTo>
                    <a:close/>
                    <a:moveTo>
                      <a:pt x="21106" y="3372"/>
                    </a:moveTo>
                    <a:cubicBezTo>
                      <a:pt x="21600" y="5778"/>
                      <a:pt x="21600" y="10800"/>
                      <a:pt x="21600" y="10800"/>
                    </a:cubicBezTo>
                    <a:cubicBezTo>
                      <a:pt x="21600" y="10800"/>
                      <a:pt x="21600" y="15822"/>
                      <a:pt x="21106" y="18228"/>
                    </a:cubicBezTo>
                    <a:cubicBezTo>
                      <a:pt x="20832" y="19557"/>
                      <a:pt x="20030" y="20604"/>
                      <a:pt x="19013" y="20957"/>
                    </a:cubicBezTo>
                    <a:cubicBezTo>
                      <a:pt x="17168" y="21600"/>
                      <a:pt x="10800" y="21600"/>
                      <a:pt x="10800" y="21600"/>
                    </a:cubicBezTo>
                    <a:cubicBezTo>
                      <a:pt x="10800" y="21600"/>
                      <a:pt x="4436" y="21600"/>
                      <a:pt x="2587" y="20957"/>
                    </a:cubicBezTo>
                    <a:cubicBezTo>
                      <a:pt x="1566" y="20598"/>
                      <a:pt x="765" y="19553"/>
                      <a:pt x="494" y="18228"/>
                    </a:cubicBezTo>
                    <a:cubicBezTo>
                      <a:pt x="0" y="15822"/>
                      <a:pt x="0" y="10800"/>
                      <a:pt x="0" y="10800"/>
                    </a:cubicBezTo>
                    <a:cubicBezTo>
                      <a:pt x="0" y="10800"/>
                      <a:pt x="0" y="5778"/>
                      <a:pt x="494" y="3372"/>
                    </a:cubicBezTo>
                    <a:cubicBezTo>
                      <a:pt x="768" y="2043"/>
                      <a:pt x="1570" y="996"/>
                      <a:pt x="2587" y="643"/>
                    </a:cubicBezTo>
                    <a:cubicBezTo>
                      <a:pt x="4436" y="0"/>
                      <a:pt x="10800" y="0"/>
                      <a:pt x="10800" y="0"/>
                    </a:cubicBezTo>
                    <a:cubicBezTo>
                      <a:pt x="10800" y="0"/>
                      <a:pt x="17168" y="0"/>
                      <a:pt x="19013" y="643"/>
                    </a:cubicBezTo>
                    <a:cubicBezTo>
                      <a:pt x="20034" y="1002"/>
                      <a:pt x="20835" y="2047"/>
                      <a:pt x="21106" y="3372"/>
                    </a:cubicBezTo>
                    <a:close/>
                    <a:moveTo>
                      <a:pt x="8640" y="15525"/>
                    </a:moveTo>
                    <a:lnTo>
                      <a:pt x="8640" y="6075"/>
                    </a:lnTo>
                    <a:lnTo>
                      <a:pt x="15120" y="10800"/>
                    </a:lnTo>
                    <a:lnTo>
                      <a:pt x="8640" y="15525"/>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sp>
          <p:nvSpPr>
            <p:cNvPr id="25" name="Metin kutusu 22">
              <a:extLst>
                <a:ext uri="{FF2B5EF4-FFF2-40B4-BE49-F238E27FC236}">
                  <a16:creationId xmlns:a16="http://schemas.microsoft.com/office/drawing/2014/main" id="{C748A148-B949-4311-A66B-8EC60E011977}"/>
                </a:ext>
              </a:extLst>
            </p:cNvPr>
            <p:cNvSpPr txBox="1"/>
            <p:nvPr/>
          </p:nvSpPr>
          <p:spPr>
            <a:xfrm>
              <a:off x="6597611" y="6044369"/>
              <a:ext cx="1158646" cy="338554"/>
            </a:xfrm>
            <a:prstGeom prst="rect">
              <a:avLst/>
            </a:prstGeom>
            <a:noFill/>
          </p:spPr>
          <p:txBody>
            <a:bodyPr wrap="square" rtlCol="0">
              <a:spAutoFit/>
            </a:bodyPr>
            <a:lstStyle/>
            <a:p>
              <a:r>
                <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t>
              </a:r>
              <a:r>
                <a:rPr lang="tr-TR" sz="1600" dirty="0" err="1">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aselsan</a:t>
              </a:r>
              <a:endPar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endParaRPr>
            </a:p>
          </p:txBody>
        </p:sp>
        <p:sp>
          <p:nvSpPr>
            <p:cNvPr id="26" name="Metin kutusu 22">
              <a:extLst>
                <a:ext uri="{FF2B5EF4-FFF2-40B4-BE49-F238E27FC236}">
                  <a16:creationId xmlns:a16="http://schemas.microsoft.com/office/drawing/2014/main" id="{7BA1B2C0-BDF4-4CE1-B2A8-469125958CF8}"/>
                </a:ext>
              </a:extLst>
            </p:cNvPr>
            <p:cNvSpPr txBox="1"/>
            <p:nvPr/>
          </p:nvSpPr>
          <p:spPr>
            <a:xfrm>
              <a:off x="7935260" y="6044369"/>
              <a:ext cx="1442533" cy="338554"/>
            </a:xfrm>
            <a:prstGeom prst="rect">
              <a:avLst/>
            </a:prstGeom>
            <a:noFill/>
          </p:spPr>
          <p:txBody>
            <a:bodyPr wrap="square" rtlCol="0">
              <a:spAutoFit/>
            </a:bodyPr>
            <a:lstStyle/>
            <a:p>
              <a:r>
                <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t>
              </a:r>
              <a:r>
                <a:rPr lang="tr-TR" sz="1600" dirty="0" err="1">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aselsantv</a:t>
              </a:r>
              <a:endPar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endParaRPr>
            </a:p>
          </p:txBody>
        </p:sp>
      </p:grpSp>
    </p:spTree>
    <p:extLst>
      <p:ext uri="{BB962C8B-B14F-4D97-AF65-F5344CB8AC3E}">
        <p14:creationId xmlns:p14="http://schemas.microsoft.com/office/powerpoint/2010/main" val="16560051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eması">
  <a:themeElements>
    <a:clrScheme name="Custom 3">
      <a:dk1>
        <a:srgbClr val="3F3F3F"/>
      </a:dk1>
      <a:lt1>
        <a:srgbClr val="FFFFFF"/>
      </a:lt1>
      <a:dk2>
        <a:srgbClr val="003087"/>
      </a:dk2>
      <a:lt2>
        <a:srgbClr val="F7931D"/>
      </a:lt2>
      <a:accent1>
        <a:srgbClr val="003087"/>
      </a:accent1>
      <a:accent2>
        <a:srgbClr val="F7931D"/>
      </a:accent2>
      <a:accent3>
        <a:srgbClr val="0088EE"/>
      </a:accent3>
      <a:accent4>
        <a:srgbClr val="0070C0"/>
      </a:accent4>
      <a:accent5>
        <a:srgbClr val="C76F07"/>
      </a:accent5>
      <a:accent6>
        <a:srgbClr val="FABE77"/>
      </a:accent6>
      <a:hlink>
        <a:srgbClr val="003087"/>
      </a:hlink>
      <a:folHlink>
        <a:srgbClr val="F7931D"/>
      </a:folHlink>
    </a:clrScheme>
    <a:fontScheme name="UGES">
      <a:majorFont>
        <a:latin typeface="Posterama"/>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titus xmlns="http://schemas.titus.com/TitusProperties/">
  <TitusGUID xmlns="">d45359ed-079b-4ac9-b049-57dad483a8a6</TitusGUID>
  <TitusMetadata xmlns="">eyJucyI6IkFTRUxTQU4iLCJwcm9wcyI6W3sibiI6IkxBTkdVQUdFIiwidmFscyI6W3sidmFsdWUiOiJUUiJ9XX0seyJuIjoiQ0FURUdPUlkiLCJ2YWxzIjpbeyJ2YWx1ZSI6IkNUMSJ9XX0seyJuIjoiTUlMTElDTEFTU0lGSUNBVElPTiIsInZhbHMiOlt7InZhbHVlIjoiQXMwMm10OVF5In1dfSx7Im4iOiJOQVRPQ0xBU1NJRklDQVRJT04iLCJ2YWxzIjpbXX0seyJuIjoiS1ZLSyIsInZhbHMiOlt7InZhbHVlIjoiQTY1dmVFN0FLIn1dfSx7Im4iOiJMQUJFTElORyIsInZhbHMiOlt7InZhbHVlIjoiTGFiZWxpbmcyIn1dfV19</TitusMetadata>
</titu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4.xml><?xml version="1.0" encoding="utf-8"?>
<p:properties xmlns:p="http://schemas.microsoft.com/office/2006/metadata/properties" xmlns:xsi="http://www.w3.org/2001/XMLSchema-instance" xmlns:pc="http://schemas.microsoft.com/office/infopath/2007/PartnerControls">
  <documentManagement>
    <_dlc_DocId xmlns="51addbf6-cd97-4f3e-bcc7-a2381a20af9f">AKVJQPKRQQH7-344864422-405</_dlc_DocId>
    <_dlc_DocIdUrl xmlns="51addbf6-cd97-4f3e-bcc7-a2381a20af9f">
      <Url>https://ebilgi.aselsan.com.tr/gnysite/fbyon/kim/_layouts/15/DocIdRedir.aspx?ID=AKVJQPKRQQH7-344864422-405</Url>
      <Description>AKVJQPKRQQH7-344864422-405</Description>
    </_dlc_DocIdUrl>
    <PublishingExpirationDate xmlns="http://schemas.microsoft.com/sharepoint/v3" xsi:nil="true"/>
    <PublishingStartDate xmlns="http://schemas.microsoft.com/sharepoint/v3" xsi:nil="true"/>
    <SharedWithUsers xmlns="800cdfac-3bb6-46ea-8cac-b3a86bc27941">
      <UserInfo>
        <DisplayName>Evrim Ayşen ANIL</DisplayName>
        <AccountId>13715</AccountId>
        <AccountType/>
      </UserInfo>
      <UserInfo>
        <DisplayName>Başak NALBANTOĞLU</DisplayName>
        <AccountId>18177</AccountId>
        <AccountType/>
      </UserInfo>
      <UserInfo>
        <DisplayName>Can Onur GERGER</DisplayName>
        <AccountId>917</AccountId>
        <AccountType/>
      </UserInfo>
      <UserInfo>
        <DisplayName>Battal ACAR</DisplayName>
        <AccountId>25627</AccountId>
        <AccountType/>
      </UserInfo>
      <UserInfo>
        <DisplayName>Ali KÜÇÜKÖZKUL</DisplayName>
        <AccountId>19562</AccountId>
        <AccountType/>
      </UserInfo>
      <UserInfo>
        <DisplayName>Yasin DEMİR</DisplayName>
        <AccountId>19432</AccountId>
        <AccountType/>
      </UserInfo>
      <UserInfo>
        <DisplayName>Oğuzhan DAŞTAN</DisplayName>
        <AccountId>29242</AccountId>
        <AccountType/>
      </UserInfo>
      <UserInfo>
        <DisplayName>Ali Serhat YILMAZ</DisplayName>
        <AccountId>20754</AccountId>
        <AccountType/>
      </UserInfo>
      <UserInfo>
        <DisplayName>Esra AYTEPE</DisplayName>
        <AccountId>22559</AccountId>
        <AccountType/>
      </UserInfo>
      <UserInfo>
        <DisplayName>İbrahim Can TEMİZ</DisplayName>
        <AccountId>31643</AccountId>
        <AccountType/>
      </UserInfo>
      <UserInfo>
        <DisplayName>Ulaş ARSLAN</DisplayName>
        <AccountId>3654</AccountId>
        <AccountType/>
      </UserInfo>
      <UserInfo>
        <DisplayName>İsmail YURDAKUL</DisplayName>
        <AccountId>27629</AccountId>
        <AccountType/>
      </UserInfo>
    </SharedWithUsers>
  </documentManagement>
</p:properties>
</file>

<file path=customXml/item5.xml><?xml version="1.0" encoding="utf-8"?>
<ct:contentTypeSchema xmlns:ct="http://schemas.microsoft.com/office/2006/metadata/contentType" xmlns:ma="http://schemas.microsoft.com/office/2006/metadata/properties/metaAttributes" ct:_="" ma:_="" ma:contentTypeName="Document" ma:contentTypeID="0x0101003FBD396816AEB941A00F4DC137BAFD8F" ma:contentTypeVersion="3" ma:contentTypeDescription="Create a new document." ma:contentTypeScope="" ma:versionID="52e952c5ef54db361ac247bb5c84aeac">
  <xsd:schema xmlns:xsd="http://www.w3.org/2001/XMLSchema" xmlns:xs="http://www.w3.org/2001/XMLSchema" xmlns:p="http://schemas.microsoft.com/office/2006/metadata/properties" xmlns:ns1="http://schemas.microsoft.com/sharepoint/v3" xmlns:ns2="51addbf6-cd97-4f3e-bcc7-a2381a20af9f" xmlns:ns3="800cdfac-3bb6-46ea-8cac-b3a86bc27941" targetNamespace="http://schemas.microsoft.com/office/2006/metadata/properties" ma:root="true" ma:fieldsID="3ee15cf3b5c84fd0120f2521fd1ca569" ns1:_="" ns2:_="" ns3:_="">
    <xsd:import namespace="http://schemas.microsoft.com/sharepoint/v3"/>
    <xsd:import namespace="51addbf6-cd97-4f3e-bcc7-a2381a20af9f"/>
    <xsd:import namespace="800cdfac-3bb6-46ea-8cac-b3a86bc27941"/>
    <xsd:element name="properties">
      <xsd:complexType>
        <xsd:sequence>
          <xsd:element name="documentManagement">
            <xsd:complexType>
              <xsd:all>
                <xsd:element ref="ns2:_dlc_DocId" minOccurs="0"/>
                <xsd:element ref="ns2:_dlc_DocIdUrl" minOccurs="0"/>
                <xsd:element ref="ns2:_dlc_DocIdPersistId" minOccurs="0"/>
                <xsd:element ref="ns1:PublishingStartDate" minOccurs="0"/>
                <xsd:element ref="ns1:PublishingExpirationDat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1" nillable="true" ma:displayName="Scheduling Start Date" ma:description="" ma:hidden="true" ma:internalName="PublishingStartDate">
      <xsd:simpleType>
        <xsd:restriction base="dms:Unknown"/>
      </xsd:simpleType>
    </xsd:element>
    <xsd:element name="PublishingExpirationDate" ma:index="12"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1addbf6-cd97-4f3e-bcc7-a2381a20af9f"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00cdfac-3bb6-46ea-8cac-b3a86bc2794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C776708-A014-4D09-84CC-31521924571B}">
  <ds:schemaRefs>
    <ds:schemaRef ds:uri="http://schemas.microsoft.com/sharepoint/v3/contenttype/forms"/>
  </ds:schemaRefs>
</ds:datastoreItem>
</file>

<file path=customXml/itemProps2.xml><?xml version="1.0" encoding="utf-8"?>
<ds:datastoreItem xmlns:ds="http://schemas.openxmlformats.org/officeDocument/2006/customXml" ds:itemID="{874ECE91-D256-41A1-98BD-156FDEEA250B}">
  <ds:schemaRefs>
    <ds:schemaRef ds:uri="http://schemas.titus.com/TitusProperties/"/>
    <ds:schemaRef ds:uri=""/>
  </ds:schemaRefs>
</ds:datastoreItem>
</file>

<file path=customXml/itemProps3.xml><?xml version="1.0" encoding="utf-8"?>
<ds:datastoreItem xmlns:ds="http://schemas.openxmlformats.org/officeDocument/2006/customXml" ds:itemID="{DE7B94FA-DB44-42E5-86CF-1299DE871408}">
  <ds:schemaRefs>
    <ds:schemaRef ds:uri="http://schemas.microsoft.com/sharepoint/events"/>
  </ds:schemaRefs>
</ds:datastoreItem>
</file>

<file path=customXml/itemProps4.xml><?xml version="1.0" encoding="utf-8"?>
<ds:datastoreItem xmlns:ds="http://schemas.openxmlformats.org/officeDocument/2006/customXml" ds:itemID="{C709281E-227A-43E0-BF29-1716AB5499AA}">
  <ds:schemaRefs>
    <ds:schemaRef ds:uri="http://www.w3.org/XML/1998/namespace"/>
    <ds:schemaRef ds:uri="http://schemas.openxmlformats.org/package/2006/metadata/core-properties"/>
    <ds:schemaRef ds:uri="http://schemas.microsoft.com/office/2006/metadata/properties"/>
    <ds:schemaRef ds:uri="http://purl.org/dc/dcmitype/"/>
    <ds:schemaRef ds:uri="51addbf6-cd97-4f3e-bcc7-a2381a20af9f"/>
    <ds:schemaRef ds:uri="http://purl.org/dc/elements/1.1/"/>
    <ds:schemaRef ds:uri="http://schemas.microsoft.com/office/2006/documentManagement/types"/>
    <ds:schemaRef ds:uri="http://purl.org/dc/terms/"/>
    <ds:schemaRef ds:uri="http://schemas.microsoft.com/office/infopath/2007/PartnerControls"/>
    <ds:schemaRef ds:uri="800cdfac-3bb6-46ea-8cac-b3a86bc27941"/>
    <ds:schemaRef ds:uri="http://schemas.microsoft.com/sharepoint/v3"/>
  </ds:schemaRefs>
</ds:datastoreItem>
</file>

<file path=customXml/itemProps5.xml><?xml version="1.0" encoding="utf-8"?>
<ds:datastoreItem xmlns:ds="http://schemas.openxmlformats.org/officeDocument/2006/customXml" ds:itemID="{78E85DD4-F03E-44EB-8DE4-4DD7C8B080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1addbf6-cd97-4f3e-bcc7-a2381a20af9f"/>
    <ds:schemaRef ds:uri="800cdfac-3bb6-46ea-8cac-b3a86bc279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16705</TotalTime>
  <Words>2471</Words>
  <Application>Microsoft Office PowerPoint</Application>
  <PresentationFormat>Widescreen</PresentationFormat>
  <Paragraphs>133</Paragraphs>
  <Slides>17</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Segoe UI Black</vt:lpstr>
      <vt:lpstr>Segoe UI</vt:lpstr>
      <vt:lpstr>Arial</vt:lpstr>
      <vt:lpstr>Segoe UI Semilight</vt:lpstr>
      <vt:lpstr>Calibri</vt:lpstr>
      <vt:lpstr>Source Sans Pro</vt:lpstr>
      <vt:lpstr>Posterama</vt:lpstr>
      <vt:lpstr>Office Teması</vt:lpstr>
      <vt:lpstr>PowerPoint Presentation</vt:lpstr>
      <vt:lpstr>PowerPoint Presentation</vt:lpstr>
      <vt:lpstr>SİnyalİZASYON YÖNTEMLERİ</vt:lpstr>
      <vt:lpstr>Sanal kuplaj nedİR?</vt:lpstr>
      <vt:lpstr>LİTERATÜRDE SANAL KUPLAJ </vt:lpstr>
      <vt:lpstr>ÇALIŞMA</vt:lpstr>
      <vt:lpstr>TEST AĞI</vt:lpstr>
      <vt:lpstr>TREN MODELİ VE DİNAMİĞİ</vt:lpstr>
      <vt:lpstr>KABULLER VE SİMÜLASYON KOŞULLARI </vt:lpstr>
      <vt:lpstr>Fren EĞRİLERİ</vt:lpstr>
      <vt:lpstr>DURAKSIZ (EXPRESS) İŞLETME</vt:lpstr>
      <vt:lpstr>DURAKLAMALI (ALL-STOP) İŞLETME</vt:lpstr>
      <vt:lpstr>BOZUCU ETKİ ALTINDakİ SONUÇLAR</vt:lpstr>
      <vt:lpstr>KONVOY DAVRANIŞI</vt:lpstr>
      <vt:lpstr>BULGULAR</vt:lpstr>
      <vt:lpstr>KAYNAKLAR </vt:lpstr>
      <vt:lpstr>PowerPoint Presentation</vt:lpstr>
    </vt:vector>
  </TitlesOfParts>
  <Manager>ASELSAN</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ASELSAN</dc:title>
  <dc:subject>ASELSAN</dc:subject>
  <dc:creator>Cemil Seyis</dc:creator>
  <cp:keywords/>
  <cp:lastModifiedBy>Recepcan Yetimoğlu</cp:lastModifiedBy>
  <cp:revision>419</cp:revision>
  <cp:lastPrinted>2024-07-04T05:35:52Z</cp:lastPrinted>
  <dcterms:created xsi:type="dcterms:W3CDTF">2022-10-12T20:35:02Z</dcterms:created>
  <dcterms:modified xsi:type="dcterms:W3CDTF">2026-09-10T22:27:21Z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d45359ed-079b-4ac9-b049-57dad483a8a6</vt:lpwstr>
  </property>
  <property fmtid="{D5CDD505-2E9C-101B-9397-08002B2CF9AE}" pid="3" name="LANGUAGE">
    <vt:lpwstr>TR</vt:lpwstr>
  </property>
  <property fmtid="{D5CDD505-2E9C-101B-9397-08002B2CF9AE}" pid="4" name="CATEGORY">
    <vt:lpwstr>CT1</vt:lpwstr>
  </property>
  <property fmtid="{D5CDD505-2E9C-101B-9397-08002B2CF9AE}" pid="5" name="MILLICLASSIFICATION">
    <vt:lpwstr>As02mt9Qy</vt:lpwstr>
  </property>
  <property fmtid="{D5CDD505-2E9C-101B-9397-08002B2CF9AE}" pid="6" name="KVKK">
    <vt:lpwstr>A65veE7AK</vt:lpwstr>
  </property>
  <property fmtid="{D5CDD505-2E9C-101B-9397-08002B2CF9AE}" pid="7" name="LABELING">
    <vt:lpwstr>Labeling2</vt:lpwstr>
  </property>
  <property fmtid="{D5CDD505-2E9C-101B-9397-08002B2CF9AE}" pid="8" name="ContentTypeId">
    <vt:lpwstr>0x0101003FBD396816AEB941A00F4DC137BAFD8F</vt:lpwstr>
  </property>
  <property fmtid="{D5CDD505-2E9C-101B-9397-08002B2CF9AE}" pid="9" name="_dlc_DocIdItemGuid">
    <vt:lpwstr>ff3a9f1a-72b0-465a-878a-5d88f7976d6a</vt:lpwstr>
  </property>
</Properties>
</file>