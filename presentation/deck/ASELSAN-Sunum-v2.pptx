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slides/slide21.xml" ContentType="application/vnd.openxmlformats-officedocument.presentationml.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6"/>
  </p:sldMasterIdLst>
  <p:notesMasterIdLst>
    <p:notesMasterId r:id="rId25"/>
  </p:notesMasterIdLst>
  <p:handoutMasterIdLst>
    <p:handoutMasterId r:id="rId26"/>
  </p:handoutMasterIdLst>
  <p:sldIdLst>
    <p:sldId id="300" r:id="rId7"/>
    <p:sldId id="3481" r:id="rId8"/>
    <p:sldId id="3458" r:id="rId9"/>
    <p:sldId id="3482" r:id="rId10"/>
    <p:sldId id="3483" r:id="rId11"/>
    <p:sldId id="3493" r:id="rId12"/>
    <p:sldId id="3494" r:id="rId13"/>
    <p:sldId id="3484" r:id="rId14"/>
    <p:sldId id="3485" r:id="rId15"/>
    <p:sldId id="3486" r:id="rId16"/>
    <p:sldId id="3496" r:id="rId47"/>
    <p:sldId id="3497" r:id="rId48"/>
    <p:sldId id="3487" r:id="rId17"/>
    <p:sldId id="3488" r:id="rId18"/>
    <p:sldId id="3489" r:id="rId19"/>
    <p:sldId id="3490" r:id="rId20"/>
    <p:sldId id="3491" r:id="rId21"/>
    <p:sldId id="3492" r:id="rId22"/>
    <p:sldId id="3498" r:id="rId49"/>
    <p:sldId id="3495" r:id="rId23"/>
    <p:sldId id="302" r:id="rId24"/>
  </p:sldIdLst>
  <p:sldSz cx="12192000" cy="6858000"/>
  <p:notesSz cx="6797675" cy="9926638"/>
  <p:embeddedFontLst>
    <p:embeddedFont>
      <p:font typeface="Posterama" panose="020B0504020200020000" pitchFamily="34" charset="0"/>
      <p:regular r:id="rId27"/>
      <p:bold r:id="rId28"/>
      <p:italic r:id="rId29"/>
      <p:boldItalic r:id="rId30"/>
    </p:embeddedFont>
    <p:embeddedFont>
      <p:font typeface="Segoe UI" panose="020B0502040204020203" pitchFamily="34" charset="0"/>
      <p:regular r:id="rId31"/>
      <p:bold r:id="rId32"/>
      <p:italic r:id="rId33"/>
      <p:boldItalic r:id="rId34"/>
    </p:embeddedFont>
    <p:embeddedFont>
      <p:font typeface="Segoe UI Black" panose="020B0A02040204020203" pitchFamily="34" charset="0"/>
      <p:bold r:id="rId35"/>
      <p:boldItalic r:id="rId36"/>
    </p:embeddedFont>
    <p:embeddedFont>
      <p:font typeface="Segoe UI Semilight" panose="020B0402040204020203" pitchFamily="34" charset="0"/>
      <p:regular r:id="rId37"/>
      <p:italic r:id="rId38"/>
    </p:embeddedFont>
    <p:embeddedFont>
      <p:font typeface="Source Sans Pro" panose="020B0503030403020204" pitchFamily="34" charset="0"/>
      <p:regular r:id="rId39"/>
      <p:bold r:id="rId40"/>
      <p:italic r:id="rId41"/>
      <p:boldItalic r:id="rId42"/>
    </p:embeddedFont>
  </p:embeddedFont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SELSAN" id="{93DD7066-AEC4-4222-8AF9-CDFEECF47427}">
          <p14:sldIdLst>
            <p14:sldId id="300"/>
            <p14:sldId id="3481"/>
            <p14:sldId id="3458"/>
            <p14:sldId id="3482"/>
            <p14:sldId id="3483"/>
            <p14:sldId id="3493"/>
            <p14:sldId id="3494"/>
            <p14:sldId id="3484"/>
            <p14:sldId id="3485"/>
            <p14:sldId id="3486"/>
            <p14:sldId id="3487"/>
            <p14:sldId id="3488"/>
            <p14:sldId id="3489"/>
            <p14:sldId id="3490"/>
            <p14:sldId id="3491"/>
            <p14:sldId id="3492"/>
            <p14:sldId id="3495"/>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4D4D"/>
    <a:srgbClr val="EF582A"/>
    <a:srgbClr val="F0592B"/>
    <a:srgbClr val="FF6635"/>
    <a:srgbClr val="FF8022"/>
    <a:srgbClr val="EBEBEE"/>
    <a:srgbClr val="FF5620"/>
    <a:srgbClr val="A8CF38"/>
    <a:srgbClr val="003087"/>
    <a:srgbClr val="0025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66" autoAdjust="0"/>
    <p:restoredTop sz="96410" autoAdjust="0"/>
  </p:normalViewPr>
  <p:slideViewPr>
    <p:cSldViewPr snapToGrid="0">
      <p:cViewPr varScale="1">
        <p:scale>
          <a:sx n="75" d="100"/>
          <a:sy n="75" d="100"/>
        </p:scale>
        <p:origin x="984" y="3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customXml" Target="../customXml/item5.xml"/><Relationship Id="rId6"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38" Type="http://schemas.openxmlformats.org/officeDocument/2006/relationships/font" Target="fonts/font12.fntdata"/><Relationship Id="rId39" Type="http://schemas.openxmlformats.org/officeDocument/2006/relationships/font" Target="fonts/font13.fntdata"/><Relationship Id="rId40" Type="http://schemas.openxmlformats.org/officeDocument/2006/relationships/font" Target="fonts/font14.fntdata"/><Relationship Id="rId41" Type="http://schemas.openxmlformats.org/officeDocument/2006/relationships/font" Target="fonts/font15.fntdata"/><Relationship Id="rId42" Type="http://schemas.openxmlformats.org/officeDocument/2006/relationships/font" Target="fonts/font16.fnt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47" Type="http://schemas.openxmlformats.org/officeDocument/2006/relationships/slide" Target="slides/slide11.xml"/><Relationship Id="rId48" Type="http://schemas.openxmlformats.org/officeDocument/2006/relationships/slide" Target="slides/slide12.xml"/><Relationship Id="rId49" Type="http://schemas.openxmlformats.org/officeDocument/2006/relationships/slide" Target="slides/slide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8E6431-A79F-4691-AEA7-6E09E7B1FF0D}"/>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Date Placeholder 2">
            <a:extLst>
              <a:ext uri="{FF2B5EF4-FFF2-40B4-BE49-F238E27FC236}">
                <a16:creationId xmlns:a16="http://schemas.microsoft.com/office/drawing/2014/main" id="{C00843A7-623F-4CBE-BDDF-33813BBAEFE2}"/>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0AB740B6-646D-4A4C-AEDE-E73833C6E508}" type="datetimeFigureOut">
              <a:rPr lang="tr-TR" smtClean="0"/>
              <a:t>10.09.2026</a:t>
            </a:fld>
            <a:endParaRPr lang="tr-TR"/>
          </a:p>
        </p:txBody>
      </p:sp>
      <p:sp>
        <p:nvSpPr>
          <p:cNvPr id="4" name="Footer Placeholder 3">
            <a:extLst>
              <a:ext uri="{FF2B5EF4-FFF2-40B4-BE49-F238E27FC236}">
                <a16:creationId xmlns:a16="http://schemas.microsoft.com/office/drawing/2014/main" id="{5A51A982-76FD-43B3-89D7-8121928D1225}"/>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5" name="Slide Number Placeholder 4">
            <a:extLst>
              <a:ext uri="{FF2B5EF4-FFF2-40B4-BE49-F238E27FC236}">
                <a16:creationId xmlns:a16="http://schemas.microsoft.com/office/drawing/2014/main" id="{56960F27-9299-4461-9481-B66A2F1BF762}"/>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D12C0598-3F49-47EA-A73A-00936C53184B}" type="slidenum">
              <a:rPr lang="tr-TR" smtClean="0"/>
              <a:t>‹#›</a:t>
            </a:fld>
            <a:endParaRPr lang="tr-TR"/>
          </a:p>
        </p:txBody>
      </p:sp>
    </p:spTree>
    <p:extLst>
      <p:ext uri="{BB962C8B-B14F-4D97-AF65-F5344CB8AC3E}">
        <p14:creationId xmlns:p14="http://schemas.microsoft.com/office/powerpoint/2010/main" val="161085023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3D126F64-650B-4185-81A8-0D0989901828}" type="datetimeFigureOut">
              <a:rPr lang="tr-TR" smtClean="0"/>
              <a:t>10.09.2026</a:t>
            </a:fld>
            <a:endParaRPr lang="tr-TR"/>
          </a:p>
        </p:txBody>
      </p:sp>
      <p:sp>
        <p:nvSpPr>
          <p:cNvPr id="4" name="Slayt Resmi Yer Tutucusu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145DDAFB-7AE0-4170-B9CE-C1E67ACBDE43}" type="slidenum">
              <a:rPr lang="tr-TR" smtClean="0"/>
              <a:t>‹#›</a:t>
            </a:fld>
            <a:endParaRPr lang="tr-TR"/>
          </a:p>
        </p:txBody>
      </p:sp>
    </p:spTree>
    <p:extLst>
      <p:ext uri="{BB962C8B-B14F-4D97-AF65-F5344CB8AC3E}">
        <p14:creationId xmlns:p14="http://schemas.microsoft.com/office/powerpoint/2010/main" val="137572283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 bir literatür derlemesi degil. Simulator staj boyunca sifirdan yazildi; icinde tren dinamigi, surucu, sinyalizasyon, kilitleme ve tarife var. Sunumda gordugunuz her sayiyi bir komutla yeniden uretebiliyorum - hangi komut oldugunu depodaki COMMANDS.md yaziyor.</a:t>
            </a:r>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Stajin ilk gunlerinde kapasite artirimi uzerine cok sayida calisma okudum. Bunlarin ikisi digerlerinden ayrildi: biri sanal kuplaji bir tren takip modeli olarak kurup fizigini veriyor, digeri kapasiteyi tek basina degil maliyet ve guvenlikle birlikte tartiyor. Ikisi de benim sordugum soruyu soruyor ama farkli seyleri olcuyor - bu yuzden kiyas noktasi olarak kullandim, dogrulama olarak degil.</a:t>
            </a:r>
          </a:p>
          <a:p>
            <a:r>
              <a:rPr lang="tr-TR" dirty="0"/>
              <a:t>BURAYA GORSEL: iki makalenin kunye/kapak gorseli yan yana.</a:t>
            </a: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Dort isletim durumu: kuplaja hazirlanma, kuplajli seyir, istemsiz ayrilma - mesela dik bir rampada tren ondekine yetisemiyor - ve istemli ayrilma, ayrilan bir kavsakta makas guvenle cevrilebilsin diye trenlerin acilmasi. Kazanc senaryoya gore %13 ile %53 arasinda; en buyugu duraklamali ve farkli rotali trenlerde cikiyor. Benim sayimin daha kucuk cikmasi beklenen: onlarin olctugu anlik mesafe, benimki bir turun tamaminda surdurulebilen aralik.</a:t>
            </a:r>
          </a:p>
          <a:p>
            <a:r>
              <a:rPr lang="tr-TR" dirty="0"/>
              <a:t>BURAYA GORSEL: makalenin Sekil 2'si (dort durumlu durum makinesi). Telif nedeniyle ben eklemedim, kaynak gostererek sen ekle.</a:t>
            </a: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 calismanin sonucu su: guvenlik tek basina kararin %45'i, regulasyon onayi %32'si, kapasite ise sadece %5.6'si. Hareketli blok bugun cok daha olgun bir teknoloji oldugu icin, kapasitede sanal kuplaj daha iyi olmasina ragmen genel skorda hareketli blok one geciyor. Sanal kuplaj ancak ayni guvenlik olgunluguna ulastigi varsayildiginda butun pazar segmentlerinde one geciyor. Bu benim sonuc slaydimin da dayanagi.</a:t>
            </a:r>
          </a:p>
          <a:p>
            <a:r>
              <a:rPr lang="tr-TR" dirty="0"/>
              <a:t>BURAYA GORSEL: makalenin kriter agirliklari sekli (Sekil 7).</a:t>
            </a: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Footer Placeholder 3"/>
          <p:cNvSpPr>
            <a:spLocks noGrp="1"/>
          </p:cNvSpPr>
          <p:nvPr>
            <p:ph type="ftr" sz="quarter" idx="4"/>
          </p:nvPr>
        </p:nvSpPr>
        <p:spPr/>
        <p:txBody>
          <a:bodyPr/>
          <a:lstStyle/>
          <a:p>
            <a:endParaRPr lang="tr-TR"/>
          </a:p>
        </p:txBody>
      </p:sp>
      <p:sp>
        <p:nvSpPr>
          <p:cNvPr id="5" name="Slide Number Placeholder 4"/>
          <p:cNvSpPr>
            <a:spLocks noGrp="1"/>
          </p:cNvSpPr>
          <p:nvPr>
            <p:ph type="sldNum" sz="quarter" idx="5"/>
          </p:nvPr>
        </p:nvSpPr>
        <p:spPr/>
        <p:txBody>
          <a:bodyPr/>
          <a:lstStyle/>
          <a:p>
            <a:fld id="{145DDAFB-7AE0-4170-B9CE-C1E67ACBDE43}" type="slidenum">
              <a:rPr lang="tr-TR" smtClean="0"/>
              <a:t>18</a:t>
            </a:fld>
            <a:endParaRPr lang="tr-TR"/>
          </a:p>
        </p:txBody>
      </p:sp>
    </p:spTree>
    <p:extLst>
      <p:ext uri="{BB962C8B-B14F-4D97-AF65-F5344CB8AC3E}">
        <p14:creationId xmlns:p14="http://schemas.microsoft.com/office/powerpoint/2010/main" val="3065218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Soldaki egri sik yapilan bir hatayi duzeltiyor: bu bir fren mesafesi degil, surucunun ayirdigi toplam yol. Tepki suresi boyunca tren tam hizda gidiyor - 80 km/h'te iki saniye 44 metre. Sonra fren kabarmasi: havanin hareket etmesi gerekiyor, bunun icin 22 metrelik esdeger bir pay ayriliyor. Asil fren egrisi 247 metre. Ustune 25 metre emniyet payi. Toplam 339 metre - fren mesafesi bunun sadece %73'u.</a:t>
            </a:r>
          </a:p>
          <a:p>
            <a:r>
              <a:rPr lang="tr-TR" dirty="0"/>
              <a:t>Dogrulama: surucunun PLANLADIGI sabit oranli egri 338.6 m diyor, jerk sinirli gercek hareketi tik tik integre ettigimde 337.9 m cikiyor. 0.7 metre fark. Kabarma terimi tam olarak jerkin maliyetini karsilamak icin var, ve dogru boyutta.</a:t>
            </a:r>
          </a:p>
          <a:p>
            <a:r>
              <a:rPr lang="tr-TR" dirty="0"/>
              <a:t>Sagdaki kirilma taban hiz: 36 km/h'e kadar sabit kuvvet, ustunde sabit guc. 80 km/h'e 31 saniyede ve 392 metrede cikiyor.</a:t>
            </a:r>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Hattin karakteri sorusu: bu bir metro degil. Metroda istasyon araligi 0.8-1.2 km ve kapidan kapiya hiz 30-35 km/h olur. Burada aralik 3.1 km, kapidan kapiya 53 km/h - bu banliyo profili. Bunu bilerek sectim: sanal kuplajin kazanci hizla buyuyor, yani metro sanal kuplaj icin banliyoden DAHA ZOR bir vaka olurdu, sehirlerarasi ise daha kolay. Banliyo ikisinin arasinda ve dunyada en yaygin olani.</a:t>
            </a:r>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Sabit blok: hat sabit parcalara bolunmus, on tren hangi bloktaysa o blok kapali. Tren nerede oldugundan bagimsiz olarak bir blok boyu kaybediyorsun - burada 900 m.</a:t>
            </a:r>
          </a:p>
          <a:p>
            <a:r>
              <a:rPr lang="tr-TR" dirty="0"/>
              <a:t>Hareketli blok (ETCS L3): blok yok, on trenin gercek arkasi + kendi fren mesafem + 100 m tehlike payi. Buna MUTLAK fren mesafesi denir: ondeki tren duvara carpmis gibi aninda duruyor varsayilir.</a:t>
            </a:r>
          </a:p>
          <a:p>
            <a:r>
              <a:rPr lang="tr-TR" dirty="0"/>
              <a:t>Sanal kuplaj: ondeki trenin de fren yapacagi varsayilir, o yuzden gereken sey iki fren mesafesinin FARKI. NISPI fren mesafesi. Kazancin kaynagi bu, riski de bu: onde giden trenin freni dogrulanamaz, ve raydan cikan bir tren aninda durur. Aoun'un %45 guvenlik agirligi tam olarak bunu olcuyor.</a:t>
            </a:r>
          </a:p>
          <a:p>
            <a:r>
              <a:rPr lang="tr-TR" dirty="0"/>
              <a:t>Gereksinim merdiveni: L2/L3 -&gt; butunluk kontrolu (tren kendi tamamligini bildirmeli) -&gt; V2V telsiz.</a:t>
            </a:r>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Cevrim bilerek secildi. Gidis-donus hatlarda belli bir araligin altinda kisit sinyalizasyon olmaktan cikip terminaldeki sevk sirasi oluyor - duran trenin kalkis suresini hicbir sinyalizasyon sistemi degistirmez, o yuzden karsilastirma duzlesiyor. Cevrimde hicbir tren durmuyor, iki hat da tam calisiyor, beklemenin tek sebebi onunde birinin olmasi. Olculen sey boylece sinyalizasyonun kendisi.</a:t>
            </a:r>
          </a:p>
          <a:p>
            <a:r>
              <a:rPr lang="tr-TR" dirty="0"/>
              <a:t>Istasyonlar bilerek esit araliksiz: gercek bir tarifenin en sikisik yeri vardir, isletmeci bir sistemin orada ise yarayip yaramadigini bilmek ister. Akyurt 1 ile Macunkoy 1 arasindaki 2.5 km burada ilk baglayan yer.</a:t>
            </a:r>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Son satir onemli: bir senaryo dosyasi cok az sey soyluyor - bir aracin uzunlugu ve dort performans degeri. Kutle, guc, Davis katsayilari, ceki egrisinin kirildigi hiz, en dik inisteki fren mesafesi, uzunlukla agirliklandirilmis hat hizi... hepsi turetiliyor. stats.py bunlari yaninda formuluyle birlikte yazdiriyor, boylece hicbir sayi elle girilmis olmuyor.</a:t>
            </a:r>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Egim burada sonradan eklenen bir duzeltme degil, kuvvet dengesinin kendi terimi. Fren tarafinda da ayni: talep edilen fren orani aderans siniriyla (mu*g) kesiliyor ve egim dogrudan orana ekleniyor. Trenin %30'u bir egimde %70'i baskaysa, kuvvet trenin ALTINDAKI egimin uzunlukla agirliklandirilmis ortalamasindan hesaplaniyor - tek bir nokta degil, trenin tamami.</a:t>
            </a:r>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Iki ayri emniyet payi var ve bunlar TOPLANIYOR. Sistemin payi tehlike noktasinin NEREDE oldugunu belirliyor: hareketli blokta ondeki trenin arkasindan 100 m once, sanal kuplajda 50 m, sabit blokta hic - orada tehlike noktasi zaten bosalmis bir blok siniri. Surucunun payi ise ona verilen tehlike noktasindan ne kadar once durdugu: 25 m, ve sinyalizasyondan bagimsiz. Yani hareketli blokta bir tren ondekinin arkasindan 125 m uzakta tutuluyor.</a:t>
            </a:r>
          </a:p>
          <a:p>
            <a:r>
              <a:rPr lang="tr-TR" dirty="0"/>
              <a:t>Surucu 'agresif' anlamda ideal: hicbir metreyi bosa harcamiyor. Bu bilerek boyle - amac sinyalizasyonu olcmek, surucu farkini degil. Gercek bir surucu daha temkinli surer ve butun sistemler ayni oranda kotulesir.</a:t>
            </a:r>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Burasi sanal kuplaj icin en elverisli vaka: hicbir tren durmuyor, herkes hat hizinda. Nispi fren mesafesinin kazanci hizla buyuyor - kabaca v/2 x (1/b - 1/b_acil), yani bu arac icin 0.17v. 80 km/h'te 3.7 saniye. Peronlar aradan cikinca sanal kuplaj hareketli bloga gore 7 saniye kazandiriyor.</a:t>
            </a:r>
          </a:p>
          <a:p>
            <a:r>
              <a:rPr lang="tr-TR" dirty="0"/>
              <a:t>BURAYA GIF/VIDEO: express koşusunun canli semasi (run.py scenarios/ring/scenario-express.yaml). Uc sistemi yan yana gostermek en carpici olani.</a:t>
            </a:r>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Fark 7-8 saniye ve bu fark hem olcutten hem zaman adimindan bagimsiz: dt = 0.5 s ile tekrarlandiginda iki sinir da ikiser saniye artiyor, aradaki fark degismiyor. Yani bir olcum artefakti degil.</a:t>
            </a:r>
          </a:p>
          <a:p>
            <a:r>
              <a:rPr lang="tr-TR" dirty="0"/>
              <a:t>Neden kucuk: her tren her istasyonda duruyor, turun buyuk kismi hat hizinin altinda geciyor, ve nispi frenin kazanci hizla satin aliniyor. Duran bir trende kazanc sifir. Ustelik bu araligin altinda baglayan sey peron: bir peron bir takip mesafesi degildir, onu hicbir sinyalizasyon sistemi kisaltamaz.</a:t>
            </a:r>
          </a:p>
          <a:p>
            <a:r>
              <a:rPr lang="tr-TR" dirty="0"/>
              <a:t>BURAYA GIF/VIDEO: duraklamali kosunun semasi, peron isgalinin baglayici oldugu yer gorulsun.</a:t>
            </a:r>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Sol panel: ikisi de 78 saniyede kosuyor. Bu isletmecinin bugun hareketli blokla kostugu tarife. Sanal kuplaj takarsan hicbir sey yeniden zamanlamadan yayilan gecikme 982'den 829 saniyeye iniyor - %16 az.</a:t>
            </a:r>
          </a:p>
          <a:p>
            <a:r>
              <a:rPr lang="tr-TR" dirty="0"/>
              <a:t>Sag panel kontrol deneyi: her sistem kendi sinirinda. Hareketli blok 78, sanal kuplaj 71. Ikisinde de pay yok. Fark 982'ye karsi 976 - alti saniye, %0.6. Yani ayri bir 'toparlanma davranisi' yok.</a:t>
            </a:r>
          </a:p>
          <a:p>
            <a:r>
              <a:rPr lang="tr-TR" dirty="0"/>
              <a:t>Bulunan sey su: teknoloji sana yedi saniye veriyor, baska bir sey degil. Onu ya trene harcarsin ya dayanikliliga. Ikisine birden degil. Bu 'sanal kuplaj daha iyi toparlaniyor'dan daha dar bir iddia, ama olcumun destekledigi tek iddia bu.</a:t>
            </a:r>
          </a:p>
          <a:p>
            <a:r>
              <a:rPr lang="tr-TR" dirty="0"/>
              <a:t>Hiz kisitlamasi (TSR) deneyi burada yok cunku iki tarife kisitlamanin saatine farkli sayida tren sokuyor - karsilastirma tarifeden kirleniyor, ve bunu ayiramiyorum.</a:t>
            </a:r>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Duraksiz hatta 25 saniyeden 17 saniyeye - %32. Duraklamali hatta 69'dan 63'e - %9. Sebep ayni sebep: birinde baglayan sey trenler arasi mesafe, digerinde peron. Trenleri sikistirmak peron isgalini kisaltmiyor.</a:t>
            </a:r>
          </a:p>
          <a:p>
            <a:r>
              <a:rPr lang="tr-TR" dirty="0"/>
              <a:t>DURUST KAYIT: sinirin kendi maliyeti duraksiz turda 213 saniye; serbest birakma bunun 150 saniyesini geri aliyor, tamamini degil. Ayrica tesvikli satir 70 km/h'e gore planlanip 90 kosabildigi icin toparlanma payi tasiyor - kuralin payi ile planin payi bu kurulumda ayrilamiyor. Bu sayiyi bu cekinceyle vermek gerekiyor.</a:t>
            </a:r>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Sondaki madde onemli: sabit bloktan hareketli bloga gecis 148'den 78 saniyeye - kapasiteyi ikiye katliyor. Hareketli bloktan sanal kuplaja gecis ise 78'den 71'e. Yani buyuk kazanc zaten alinmis durumda; sanal kuplaj o kazancin ustune %9 koyuyor. Bir isletmeci icin bu, yatirim sirasini belirleyen sey.</a:t>
            </a:r>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dirty="0"/>
              <a:t>Kapanis cumlesi: sanal kuplaj bugun kapasitede hareketli bloktan iyi, ama karari kapasite vermiyor - guvenlik ve regulasyon veriyor. Teknoloji olgunlastikca ve maliyeti dustukce hareketli bloga baskin gelmesi bekleniyor; benim olctugum kapasite farki bu beklentinin sayisal tarafini destekliyor.</a:t>
            </a:r>
          </a:p>
          <a:p>
            <a:r>
              <a:rPr lang="tr-TR" dirty="0"/>
              <a:t>SINIRLAMALAR - sorulursa: (1) egim, sinyalizasyon katmaninin yetki hesabinda dikkate alinmiyor, sadece trenin fren mesafesinde. (2) Konvoy satiri planlama payi tasiyor; kural ile pay bu kurulumda ayristirilamiyor. (3) Tek bir arac tipi, tek bir hat geometrisi.</a:t>
            </a: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SELSAN_MAST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C4A3F6-F0EE-4B67-9AE7-538725797B9C}"/>
              </a:ext>
            </a:extLst>
          </p:cNvPr>
          <p:cNvSpPr/>
          <p:nvPr userDrawn="1"/>
        </p:nvSpPr>
        <p:spPr>
          <a:xfrm>
            <a:off x="0" y="1"/>
            <a:ext cx="12192000"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Rectangle 10">
            <a:extLst>
              <a:ext uri="{FF2B5EF4-FFF2-40B4-BE49-F238E27FC236}">
                <a16:creationId xmlns:a16="http://schemas.microsoft.com/office/drawing/2014/main" id="{0F9493B5-CA16-4EBB-A083-B213EF16796C}"/>
              </a:ext>
            </a:extLst>
          </p:cNvPr>
          <p:cNvSpPr/>
          <p:nvPr userDrawn="1"/>
        </p:nvSpPr>
        <p:spPr>
          <a:xfrm>
            <a:off x="0" y="-8805"/>
            <a:ext cx="12192000" cy="6865882"/>
          </a:xfrm>
          <a:prstGeom prst="rect">
            <a:avLst/>
          </a:prstGeom>
          <a:blipFill>
            <a:blip r:embed="rId2" cstate="print">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77" name="Rounded Rectangle 10">
            <a:extLst>
              <a:ext uri="{FF2B5EF4-FFF2-40B4-BE49-F238E27FC236}">
                <a16:creationId xmlns:a16="http://schemas.microsoft.com/office/drawing/2014/main" id="{EF6AA81D-52A3-47E3-A296-08352AF39B88}"/>
              </a:ext>
            </a:extLst>
          </p:cNvPr>
          <p:cNvSpPr/>
          <p:nvPr userDrawn="1"/>
        </p:nvSpPr>
        <p:spPr>
          <a:xfrm>
            <a:off x="4766553" y="291830"/>
            <a:ext cx="7062281" cy="6264613"/>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78" name="Rectangle: Rounded Corners 40">
            <a:extLst>
              <a:ext uri="{FF2B5EF4-FFF2-40B4-BE49-F238E27FC236}">
                <a16:creationId xmlns:a16="http://schemas.microsoft.com/office/drawing/2014/main" id="{4D1EF7EB-55D3-4EE7-A1DA-2327835C2ACD}"/>
              </a:ext>
            </a:extLst>
          </p:cNvPr>
          <p:cNvSpPr/>
          <p:nvPr userDrawn="1"/>
        </p:nvSpPr>
        <p:spPr>
          <a:xfrm>
            <a:off x="5407103" y="4720353"/>
            <a:ext cx="5799161" cy="1306154"/>
          </a:xfrm>
          <a:prstGeom prst="roundRect">
            <a:avLst>
              <a:gd name="adj" fmla="val 10322"/>
            </a:avLst>
          </a:prstGeom>
          <a:solidFill>
            <a:srgbClr val="FF5620"/>
          </a:solidFill>
          <a:ln w="19050">
            <a:noFill/>
          </a:ln>
          <a:effectLst/>
        </p:spPr>
        <p:txBody>
          <a:bodyPr vert="horz" wrap="square" lIns="91440" tIns="45720" rIns="91440" bIns="45720" numCol="1" anchor="t" anchorCtr="0" compatLnSpc="1">
            <a:prstTxWarp prst="textNoShape">
              <a:avLst/>
            </a:prstTxWarp>
          </a:bodyPr>
          <a:lstStyle/>
          <a:p>
            <a:endParaRPr lang="en-ID" kern="0" dirty="0">
              <a:solidFill>
                <a:prstClr val="black"/>
              </a:solidFill>
              <a:latin typeface="Calibri" panose="020F0502020204030204" pitchFamily="34" charset="0"/>
            </a:endParaRPr>
          </a:p>
        </p:txBody>
      </p:sp>
    </p:spTree>
    <p:extLst>
      <p:ext uri="{BB962C8B-B14F-4D97-AF65-F5344CB8AC3E}">
        <p14:creationId xmlns:p14="http://schemas.microsoft.com/office/powerpoint/2010/main" val="1187062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ÜNDEM">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C3444B44-4A70-4031-9D03-BBCBCC73B5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66" y="3806"/>
            <a:ext cx="12178468" cy="6850388"/>
          </a:xfrm>
          <a:prstGeom prst="rect">
            <a:avLst/>
          </a:prstGeom>
          <a:blipFill>
            <a:blip r:embed="rId3"/>
            <a:stretch>
              <a:fillRect/>
            </a:stretch>
          </a:blipFill>
        </p:spPr>
      </p:pic>
      <p:cxnSp>
        <p:nvCxnSpPr>
          <p:cNvPr id="7" name="Straight Connector 6">
            <a:extLst>
              <a:ext uri="{FF2B5EF4-FFF2-40B4-BE49-F238E27FC236}">
                <a16:creationId xmlns:a16="http://schemas.microsoft.com/office/drawing/2014/main" id="{B0189CC1-5D7A-41BE-A905-EC72AF42E5DF}"/>
              </a:ext>
            </a:extLst>
          </p:cNvPr>
          <p:cNvCxnSpPr>
            <a:cxnSpLocks/>
          </p:cNvCxnSpPr>
          <p:nvPr userDrawn="1"/>
        </p:nvCxnSpPr>
        <p:spPr>
          <a:xfrm>
            <a:off x="738504" y="959618"/>
            <a:ext cx="0" cy="5175175"/>
          </a:xfrm>
          <a:prstGeom prst="line">
            <a:avLst/>
          </a:prstGeom>
          <a:ln w="28575">
            <a:solidFill>
              <a:srgbClr val="003087"/>
            </a:solidFill>
          </a:ln>
        </p:spPr>
        <p:style>
          <a:lnRef idx="1">
            <a:schemeClr val="accent1"/>
          </a:lnRef>
          <a:fillRef idx="0">
            <a:schemeClr val="accent1"/>
          </a:fillRef>
          <a:effectRef idx="0">
            <a:schemeClr val="accent1"/>
          </a:effectRef>
          <a:fontRef idx="minor">
            <a:schemeClr val="tx1"/>
          </a:fontRef>
        </p:style>
      </p:cxnSp>
      <p:sp>
        <p:nvSpPr>
          <p:cNvPr id="8" name="Rounded Rectangle 10">
            <a:extLst>
              <a:ext uri="{FF2B5EF4-FFF2-40B4-BE49-F238E27FC236}">
                <a16:creationId xmlns:a16="http://schemas.microsoft.com/office/drawing/2014/main" id="{E69E8E51-13B1-4BE7-A04A-0B29449B4A0C}"/>
              </a:ext>
            </a:extLst>
          </p:cNvPr>
          <p:cNvSpPr/>
          <p:nvPr userDrawn="1"/>
        </p:nvSpPr>
        <p:spPr>
          <a:xfrm>
            <a:off x="0" y="0"/>
            <a:ext cx="12191993" cy="1190649"/>
          </a:xfrm>
          <a:prstGeom prst="roundRect">
            <a:avLst>
              <a:gd name="adj" fmla="val 6457"/>
            </a:avLst>
          </a:prstGeom>
          <a:solidFill>
            <a:srgbClr val="FFFFFF"/>
          </a:solidFill>
          <a:effectLst>
            <a:outerShdw blurRad="381000" dist="50800" dir="3540000" sx="101000" sy="101000" algn="ctr" rotWithShape="0">
              <a:srgbClr val="3F403F">
                <a:alpha val="25000"/>
              </a:srgbClr>
            </a:outerShdw>
          </a:effectLst>
        </p:spPr>
        <p:txBody>
          <a:bodyPr wrap="square" lIns="182880" tIns="0" rIns="18288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&lt;?xml version="1.0" encoding="UTF-8"?&gt;&lt;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svg</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 id="Layer_1" data-name="Layer 1"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xmlns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="http://www.w3.org/2000/svg" </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viewBox</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="0 0 3200 1801.62"&gt;  &lt;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defs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    &lt;style&gt;      .cls-1 {        fill: #c1c1c1;      }    &lt;/style&gt;  &lt;/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defs</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  &lt;path class="cls-1" d="M4309.61,1314.68l664.45-833.19c56.16-70.43,77.2-162.59,57.16-250.41l-237.14-1038.97c-20.04-87.82-78.99-161.73-160.15-200.82l-960.16-462.39c-81.16-39.08-175.7-39.08-256.85,0l-960.16,462.39c-81.16,39.08-140.1,113-160.15,200.82l-237.14,1038.97c-20.04,87.82,.99,179.99,57.16,250.41l664.45,833.19c56.16,70.43,141.34,111.44,231.42,111.44h1065.69c90.08,0,175.25-41.02,231.42-111.45Z"/&gt;&lt;/</a:t>
            </a:r>
            <a:r>
              <a:rPr kumimoji="0" lang="en-US" sz="1400" b="0" i="0" u="none" strike="noStrike" kern="0" cap="none" spc="0" normalizeH="0" baseline="0" noProof="0" dirty="0" err="1">
                <a:ln>
                  <a:noFill/>
                </a:ln>
                <a:solidFill>
                  <a:srgbClr val="FFFFFF"/>
                </a:solidFill>
                <a:effectLst/>
                <a:uLnTx/>
                <a:uFillTx/>
                <a:latin typeface="Calibri" panose="020F0502020204030204" pitchFamily="34" charset="0"/>
                <a:ea typeface="Calibri" panose="020F0502020204030204" pitchFamily="34" charset="0"/>
                <a:cs typeface="Poppins" pitchFamily="2" charset="77"/>
              </a:rPr>
              <a:t>svg</a:t>
            </a:r>
            <a:r>
              <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rPr>
              <a:t>&gt;</a:t>
            </a:r>
          </a:p>
        </p:txBody>
      </p:sp>
      <p:sp>
        <p:nvSpPr>
          <p:cNvPr id="6" name="TextBox 5">
            <a:extLst>
              <a:ext uri="{FF2B5EF4-FFF2-40B4-BE49-F238E27FC236}">
                <a16:creationId xmlns:a16="http://schemas.microsoft.com/office/drawing/2014/main" id="{352D322E-CFAD-4302-98BF-20F17256178F}"/>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4052853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BBE562-3E9B-4289-8444-32FE050C7B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7" name="Title 3">
            <a:extLst>
              <a:ext uri="{FF2B5EF4-FFF2-40B4-BE49-F238E27FC236}">
                <a16:creationId xmlns:a16="http://schemas.microsoft.com/office/drawing/2014/main" id="{D276C3F1-7F8D-4F73-82CE-EB8562DB187C}"/>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latin typeface="Segoe UI Black" panose="020B0A02040204020203" pitchFamily="34" charset="0"/>
                <a:ea typeface="Segoe UI Black" panose="020B0A02040204020203" pitchFamily="34" charset="0"/>
              </a:defRPr>
            </a:lvl1pPr>
          </a:lstStyle>
          <a:p>
            <a:pPr lvl="0"/>
            <a:r>
              <a:rPr lang="en-US" dirty="0"/>
              <a:t>Click to edit Master title style</a:t>
            </a:r>
            <a:endParaRPr lang="tr-TR" dirty="0"/>
          </a:p>
        </p:txBody>
      </p:sp>
      <p:sp>
        <p:nvSpPr>
          <p:cNvPr id="8" name="Text Placeholder 5">
            <a:extLst>
              <a:ext uri="{FF2B5EF4-FFF2-40B4-BE49-F238E27FC236}">
                <a16:creationId xmlns:a16="http://schemas.microsoft.com/office/drawing/2014/main" id="{CB192974-564B-4CB6-8403-B748517647B2}"/>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Calibri" panose="020F0502020204030204" pitchFamily="34" charset="0"/>
                <a:ea typeface="Calibri" panose="020F0502020204030204" pitchFamily="34" charset="0"/>
                <a:cs typeface="Calibri" panose="020F0502020204030204"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2" name="TextBox 11">
            <a:extLst>
              <a:ext uri="{FF2B5EF4-FFF2-40B4-BE49-F238E27FC236}">
                <a16:creationId xmlns:a16="http://schemas.microsoft.com/office/drawing/2014/main" id="{D47051C9-0D3C-4A28-8D21-5619826A7E24}"/>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spTree>
    <p:extLst>
      <p:ext uri="{BB962C8B-B14F-4D97-AF65-F5344CB8AC3E}">
        <p14:creationId xmlns:p14="http://schemas.microsoft.com/office/powerpoint/2010/main" val="1859072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SELSAN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A778907C-1DE9-410A-B218-F36AE6BFA189}"/>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EE6B1F48-14DC-43AB-A8AF-1E381E4EA43D}"/>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1" name="TextBox 10">
            <a:extLst>
              <a:ext uri="{FF2B5EF4-FFF2-40B4-BE49-F238E27FC236}">
                <a16:creationId xmlns:a16="http://schemas.microsoft.com/office/drawing/2014/main" id="{1632DA59-EDF8-4457-8CF3-758EB32ED887}"/>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ASELSAN ÖZEL</a:t>
            </a:r>
          </a:p>
        </p:txBody>
      </p:sp>
      <p:pic>
        <p:nvPicPr>
          <p:cNvPr id="5" name="Picture 4">
            <a:extLst>
              <a:ext uri="{FF2B5EF4-FFF2-40B4-BE49-F238E27FC236}">
                <a16:creationId xmlns:a16="http://schemas.microsoft.com/office/drawing/2014/main" id="{90E4F763-14BC-4DC2-9CBF-B0A3C81DF0F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7211" y="6366320"/>
            <a:ext cx="438546" cy="439017"/>
          </a:xfrm>
          <a:prstGeom prst="rect">
            <a:avLst/>
          </a:prstGeom>
        </p:spPr>
      </p:pic>
    </p:spTree>
    <p:extLst>
      <p:ext uri="{BB962C8B-B14F-4D97-AF65-F5344CB8AC3E}">
        <p14:creationId xmlns:p14="http://schemas.microsoft.com/office/powerpoint/2010/main" val="712765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HİZMETE ÖZEL">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870BEECA-EC1A-4F4C-814A-D962AA4777D1}"/>
              </a:ext>
            </a:extLst>
          </p:cNvPr>
          <p:cNvSpPr>
            <a:spLocks noGrp="1"/>
          </p:cNvSpPr>
          <p:nvPr>
            <p:ph type="title"/>
          </p:nvPr>
        </p:nvSpPr>
        <p:spPr>
          <a:xfrm>
            <a:off x="409163" y="360549"/>
            <a:ext cx="6060218" cy="1110111"/>
          </a:xfrm>
          <a:prstGeom prst="rect">
            <a:avLst/>
          </a:prstGeom>
          <a:noFill/>
        </p:spPr>
        <p:txBody>
          <a:bodyPr wrap="square" rtlCol="0">
            <a:noAutofit/>
          </a:bodyPr>
          <a:lstStyle>
            <a:lvl1pPr>
              <a:lnSpc>
                <a:spcPct val="100000"/>
              </a:lnSpc>
              <a:defRPr lang="tr-TR" cap="all" dirty="0">
                <a:solidFill>
                  <a:srgbClr val="003087"/>
                </a:solidFill>
                <a:ea typeface="+mn-ea"/>
              </a:defRPr>
            </a:lvl1pPr>
          </a:lstStyle>
          <a:p>
            <a:pPr lvl="0"/>
            <a:r>
              <a:rPr lang="en-US" dirty="0"/>
              <a:t>Click to edit Master title style</a:t>
            </a:r>
            <a:endParaRPr lang="tr-TR" dirty="0"/>
          </a:p>
        </p:txBody>
      </p:sp>
      <p:sp>
        <p:nvSpPr>
          <p:cNvPr id="9" name="Text Placeholder 5">
            <a:extLst>
              <a:ext uri="{FF2B5EF4-FFF2-40B4-BE49-F238E27FC236}">
                <a16:creationId xmlns:a16="http://schemas.microsoft.com/office/drawing/2014/main" id="{698A1369-A41B-4771-8ADB-8BC54D35FBCC}"/>
              </a:ext>
            </a:extLst>
          </p:cNvPr>
          <p:cNvSpPr>
            <a:spLocks noGrp="1"/>
          </p:cNvSpPr>
          <p:nvPr>
            <p:ph type="body" sz="quarter" idx="13"/>
          </p:nvPr>
        </p:nvSpPr>
        <p:spPr>
          <a:xfrm>
            <a:off x="409163" y="2163759"/>
            <a:ext cx="6380183" cy="1370632"/>
          </a:xfrm>
          <a:prstGeom prst="rect">
            <a:avLst/>
          </a:prstGeom>
          <a:noFill/>
        </p:spPr>
        <p:txBody>
          <a:bodyPr wrap="square" rtlCol="0">
            <a:spAutoFit/>
          </a:bodyPr>
          <a:lstStyle>
            <a:lvl1pPr marL="228600" indent="-228600">
              <a:buClr>
                <a:schemeClr val="bg2"/>
              </a:buClr>
              <a:buSzPct val="150000"/>
              <a:buFont typeface="Arial" panose="020B0604020202020204" pitchFamily="34" charset="0"/>
              <a:buChar char="•"/>
              <a:defRPr kumimoji="0" lang="en-US" sz="16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1pPr>
            <a:lvl2pPr marL="5143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2pPr>
            <a:lvl3pPr marL="9715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3pPr>
            <a:lvl4pPr marL="1428750" indent="-285750">
              <a:buClr>
                <a:schemeClr val="bg2"/>
              </a:buClr>
              <a:buSzPct val="150000"/>
              <a:buFont typeface="Arial" panose="020B0604020202020204" pitchFamily="34" charset="0"/>
              <a:buChar char="•"/>
              <a:defRPr kumimoji="0" lang="en-US" sz="1400" b="0" i="0" u="none" strike="noStrike" kern="1200" cap="none" spc="0" normalizeH="0" baseline="0" dirty="0" smtClean="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4pPr>
            <a:lvl5pPr marL="1885950" indent="-285750">
              <a:buClr>
                <a:schemeClr val="bg2"/>
              </a:buClr>
              <a:buSzPct val="150000"/>
              <a:buFont typeface="Arial" panose="020B0604020202020204" pitchFamily="34" charset="0"/>
              <a:buChar char="•"/>
              <a:defRPr kumimoji="0" lang="tr-TR" sz="1400" b="0" i="0" u="none" strike="noStrike" kern="1200" cap="none" spc="0" normalizeH="0" baseline="0" dirty="0">
                <a:ln>
                  <a:noFill/>
                </a:ln>
                <a:solidFill>
                  <a:schemeClr val="tx1">
                    <a:lumMod val="75000"/>
                    <a:lumOff val="25000"/>
                  </a:schemeClr>
                </a:solidFill>
                <a:effectLst/>
                <a:uLnTx/>
                <a:uFillTx/>
                <a:latin typeface="Source Sans Pro" panose="020B0503030403020204" pitchFamily="34" charset="0"/>
                <a:ea typeface="Source Sans Pro" panose="020B0503030403020204" pitchFamily="34" charset="0"/>
                <a:cs typeface="Segoe UI" panose="020B0502040204020203" pitchFamily="34" charset="0"/>
              </a:defRPr>
            </a:lvl5pPr>
          </a:lstStyle>
          <a:p>
            <a:pPr marL="0" marR="0" lvl="0" indent="0" fontAlgn="auto">
              <a:lnSpc>
                <a:spcPct val="100000"/>
              </a:lnSpc>
              <a:spcBef>
                <a:spcPts val="0"/>
              </a:spcBef>
              <a:spcAft>
                <a:spcPts val="0"/>
              </a:spcAft>
              <a:buClrTx/>
              <a:buSzTx/>
              <a:buFontTx/>
              <a:buNone/>
              <a:tabLst/>
            </a:pPr>
            <a:r>
              <a:rPr lang="en-US" dirty="0"/>
              <a:t>Edit Master text styles</a:t>
            </a:r>
          </a:p>
          <a:p>
            <a:pPr marL="457200" lvl="1"/>
            <a:r>
              <a:rPr lang="en-US" dirty="0"/>
              <a:t>Second level</a:t>
            </a:r>
          </a:p>
          <a:p>
            <a:pPr marL="914400" lvl="2"/>
            <a:r>
              <a:rPr lang="en-US" dirty="0"/>
              <a:t>Third level</a:t>
            </a:r>
          </a:p>
          <a:p>
            <a:pPr marL="1371600" lvl="3"/>
            <a:r>
              <a:rPr lang="en-US" dirty="0"/>
              <a:t>Fourth level</a:t>
            </a:r>
          </a:p>
          <a:p>
            <a:pPr marL="1828800" lvl="4"/>
            <a:r>
              <a:rPr lang="en-US" dirty="0"/>
              <a:t>Fifth level</a:t>
            </a:r>
            <a:endParaRPr lang="tr-TR" dirty="0"/>
          </a:p>
        </p:txBody>
      </p:sp>
      <p:sp>
        <p:nvSpPr>
          <p:cNvPr id="10" name="TextBox 9">
            <a:extLst>
              <a:ext uri="{FF2B5EF4-FFF2-40B4-BE49-F238E27FC236}">
                <a16:creationId xmlns:a16="http://schemas.microsoft.com/office/drawing/2014/main" id="{F53DA368-FF7B-4E95-A00F-1CD188007566}"/>
              </a:ext>
            </a:extLst>
          </p:cNvPr>
          <p:cNvSpPr txBox="1"/>
          <p:nvPr userDrawn="1"/>
        </p:nvSpPr>
        <p:spPr>
          <a:xfrm>
            <a:off x="7760059" y="6442364"/>
            <a:ext cx="1463635" cy="457200"/>
          </a:xfrm>
          <a:prstGeom prst="rect">
            <a:avLst/>
          </a:prstGeom>
          <a:noFill/>
        </p:spPr>
        <p:txBody>
          <a:bodyPr wrap="none" lIns="0" tIns="0" rIns="0" bIns="0" rtlCol="0" anchor="ctr">
            <a:noAutofit/>
          </a:bodyPr>
          <a:lstStyle/>
          <a:p>
            <a:pPr marL="0" lvl="1" indent="0" algn="ctr" defTabSz="914400" rtl="0" eaLnBrk="1" latinLnBrk="0" hangingPunct="1">
              <a:lnSpc>
                <a:spcPct val="100000"/>
              </a:lnSpc>
              <a:spcBef>
                <a:spcPts val="0"/>
              </a:spcBef>
              <a:buFont typeface="Arial" panose="020B0604020202020204" pitchFamily="34" charset="0"/>
              <a:buNone/>
            </a:pPr>
            <a:r>
              <a:rPr kumimoji="0" lang="tr-TR" sz="1200" b="0" i="0" u="none" strike="noStrike" kern="1200" cap="none" spc="0" normalizeH="0" baseline="0" dirty="0">
                <a:ln>
                  <a:noFill/>
                </a:ln>
                <a:solidFill>
                  <a:schemeClr val="bg1"/>
                </a:solidFill>
                <a:effectLst/>
                <a:uLnTx/>
                <a:uFillTx/>
                <a:latin typeface="Calibri" panose="020F0502020204030204" pitchFamily="34" charset="0"/>
                <a:ea typeface="Source Sans Pro" panose="020B0503030403020204" pitchFamily="34" charset="0"/>
                <a:cs typeface="Calibri" panose="020F0502020204030204" pitchFamily="34" charset="0"/>
              </a:rPr>
              <a:t>TASNİF DIŞI</a:t>
            </a:r>
          </a:p>
        </p:txBody>
      </p:sp>
      <p:pic>
        <p:nvPicPr>
          <p:cNvPr id="5" name="Picture 4">
            <a:extLst>
              <a:ext uri="{FF2B5EF4-FFF2-40B4-BE49-F238E27FC236}">
                <a16:creationId xmlns:a16="http://schemas.microsoft.com/office/drawing/2014/main" id="{B9A11C57-41BE-4318-9598-DDF713763A7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7211" y="6366320"/>
            <a:ext cx="438546" cy="439017"/>
          </a:xfrm>
          <a:prstGeom prst="rect">
            <a:avLst/>
          </a:prstGeom>
        </p:spPr>
      </p:pic>
    </p:spTree>
    <p:extLst>
      <p:ext uri="{BB962C8B-B14F-4D97-AF65-F5344CB8AC3E}">
        <p14:creationId xmlns:p14="http://schemas.microsoft.com/office/powerpoint/2010/main" val="301517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3" name="Picture 2">
            <a:extLst>
              <a:ext uri="{FF2B5EF4-FFF2-40B4-BE49-F238E27FC236}">
                <a16:creationId xmlns:a16="http://schemas.microsoft.com/office/drawing/2014/main" id="{FF60B213-FE2D-41FD-9B4A-8C2A887299F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02154" y="4567830"/>
            <a:ext cx="4387693" cy="1638751"/>
          </a:xfrm>
          <a:prstGeom prst="rect">
            <a:avLst/>
          </a:prstGeom>
        </p:spPr>
      </p:pic>
    </p:spTree>
    <p:extLst>
      <p:ext uri="{BB962C8B-B14F-4D97-AF65-F5344CB8AC3E}">
        <p14:creationId xmlns:p14="http://schemas.microsoft.com/office/powerpoint/2010/main" val="714990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con se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F9493B5-CA16-4EBB-A083-B213EF16796C}"/>
              </a:ext>
            </a:extLst>
          </p:cNvPr>
          <p:cNvSpPr/>
          <p:nvPr userDrawn="1"/>
        </p:nvSpPr>
        <p:spPr>
          <a:xfrm>
            <a:off x="0" y="14067"/>
            <a:ext cx="12192000" cy="68439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5049781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E764F9-DD66-45F3-8B8C-B3E3FD9829BD}"/>
              </a:ext>
            </a:extLst>
          </p:cNvPr>
          <p:cNvPicPr>
            <a:picLocks noChangeAspect="1"/>
          </p:cNvPicPr>
          <p:nvPr userDrawn="1"/>
        </p:nvPicPr>
        <p:blipFill>
          <a:blip r:embed="rId9" cstate="print">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34DAA0DA-4370-4950-932B-0F797D019F1F}"/>
              </a:ext>
            </a:extLst>
          </p:cNvPr>
          <p:cNvSpPr/>
          <p:nvPr userDrawn="1"/>
        </p:nvSpPr>
        <p:spPr>
          <a:xfrm>
            <a:off x="10603788" y="6460258"/>
            <a:ext cx="665567" cy="307777"/>
          </a:xfrm>
          <a:prstGeom prst="rect">
            <a:avLst/>
          </a:prstGeom>
        </p:spPr>
        <p:txBody>
          <a:bodyPr wrap="none">
            <a:spAutoFit/>
          </a:bodyPr>
          <a:lstStyle/>
          <a:p>
            <a:pPr algn="ctr"/>
            <a:fld id="{98D512E5-7CAC-4FDD-81A1-D37F136070B3}" type="slidenum">
              <a:rPr lang="tr-TR" sz="1400" smtClean="0">
                <a:solidFill>
                  <a:schemeClr val="bg1"/>
                </a:solidFill>
                <a:latin typeface="Segoe UI" panose="020B0502040204020203" pitchFamily="34" charset="0"/>
                <a:cs typeface="Segoe UI" panose="020B0502040204020203" pitchFamily="34" charset="0"/>
              </a:rPr>
              <a:t>‹#›</a:t>
            </a:fld>
            <a:r>
              <a:rPr lang="tr-TR" sz="1400" dirty="0">
                <a:solidFill>
                  <a:schemeClr val="bg1"/>
                </a:solidFill>
                <a:latin typeface="Segoe UI" panose="020B0502040204020203" pitchFamily="34" charset="0"/>
                <a:cs typeface="Segoe UI" panose="020B0502040204020203" pitchFamily="34" charset="0"/>
              </a:rPr>
              <a:t>/22</a:t>
            </a:r>
          </a:p>
        </p:txBody>
      </p:sp>
    </p:spTree>
    <p:extLst>
      <p:ext uri="{BB962C8B-B14F-4D97-AF65-F5344CB8AC3E}">
        <p14:creationId xmlns:p14="http://schemas.microsoft.com/office/powerpoint/2010/main" val="1031558323"/>
      </p:ext>
    </p:extLst>
  </p:cSld>
  <p:clrMap bg1="lt1" tx1="dk1" bg2="lt2" tx2="dk2" accent1="accent1" accent2="accent2" accent3="accent3" accent4="accent4" accent5="accent5" accent6="accent6" hlink="hlink" folHlink="folHlink"/>
  <p:sldLayoutIdLst>
    <p:sldLayoutId id="2147483653" r:id="rId1"/>
    <p:sldLayoutId id="2147483651" r:id="rId2"/>
    <p:sldLayoutId id="2147483650" r:id="rId3"/>
    <p:sldLayoutId id="2147483654" r:id="rId4"/>
    <p:sldLayoutId id="2147483657" r:id="rId5"/>
    <p:sldLayoutId id="2147483652" r:id="rId6"/>
    <p:sldLayoutId id="2147483656" r:id="rId7"/>
  </p:sldLayoutIdLst>
  <p:hf hdr="0" ftr="0" dt="0"/>
  <p:txStyles>
    <p:titleStyle>
      <a:lvl1pPr marL="0" marR="0" indent="0" algn="l" defTabSz="914400" rtl="0" eaLnBrk="1" fontAlgn="auto" latinLnBrk="0" hangingPunct="1">
        <a:lnSpc>
          <a:spcPts val="4500"/>
        </a:lnSpc>
        <a:spcBef>
          <a:spcPts val="0"/>
        </a:spcBef>
        <a:spcAft>
          <a:spcPts val="0"/>
        </a:spcAft>
        <a:buClrTx/>
        <a:buSzTx/>
        <a:buFontTx/>
        <a:buNone/>
        <a:tabLst/>
        <a:defRPr kumimoji="0" lang="tr-TR" sz="3200" b="1" i="0" u="none" strike="noStrike" kern="1200" cap="none" spc="0" normalizeH="0" baseline="0" noProof="0">
          <a:ln>
            <a:noFill/>
          </a:ln>
          <a:noFill/>
          <a:effectLst/>
          <a:uLnTx/>
          <a:uFillTx/>
          <a:latin typeface="Posterama" panose="020B0504020200020000" pitchFamily="34" charset="0"/>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gif"/><Relationship Id="rId3" Type="http://schemas.openxmlformats.org/officeDocument/2006/relationships/image" Target="../media/image9.gif"/><Relationship Id="rId4" Type="http://schemas.openxmlformats.org/officeDocument/2006/relationships/image" Target="../media/image10.gif"/><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image" Target="../media/image23.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Dikdörtgen 10">
            <a:extLst>
              <a:ext uri="{FF2B5EF4-FFF2-40B4-BE49-F238E27FC236}">
                <a16:creationId xmlns:a16="http://schemas.microsoft.com/office/drawing/2014/main" id="{1519FEA3-A5AA-106D-D2D9-896F74EDD4D6}"/>
              </a:ext>
            </a:extLst>
          </p:cNvPr>
          <p:cNvSpPr txBox="1"/>
          <p:nvPr/>
        </p:nvSpPr>
        <p:spPr>
          <a:xfrm>
            <a:off x="5161227" y="1792844"/>
            <a:ext cx="6277050" cy="2716623"/>
          </a:xfrm>
          <a:prstGeom prst="rect">
            <a:avLst/>
          </a:prstGeom>
          <a:noFill/>
        </p:spPr>
        <p:txBody>
          <a:bodyPr wrap="square" lIns="360000" rtlCol="0" anchor="ctr" anchorCtr="0">
            <a:noAutofit/>
          </a:bodyPr>
          <a:lstStyle/>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SANAL KUPLAJ</a:t>
            </a:r>
          </a:p>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HAT KAPASİTESİNİ</a:t>
            </a:r>
          </a:p>
          <a:p>
            <a:r>
              <a:rPr lang="tr-TR" sz="4400" cap="all" dirty="0">
                <a:solidFill>
                  <a:srgbClr val="003087"/>
                </a:solidFill>
                <a:latin typeface="Segoe UI Black" panose="020B0A02040204020203" pitchFamily="34" charset="0"/>
                <a:ea typeface="Segoe UI Black" panose="020B0A02040204020203" pitchFamily="34" charset="0"/>
                <a:cs typeface="Calibri" panose="020F0502020204030204" pitchFamily="34" charset="0"/>
              </a:rPr>
              <a:t>NE KADAR ARTIRIR?</a:t>
            </a:r>
          </a:p>
        </p:txBody>
      </p:sp>
      <p:sp>
        <p:nvSpPr>
          <p:cNvPr id="3" name="TextBox 41">
            <a:extLst>
              <a:ext uri="{FF2B5EF4-FFF2-40B4-BE49-F238E27FC236}">
                <a16:creationId xmlns:a16="http://schemas.microsoft.com/office/drawing/2014/main" id="{F819A479-EF03-CC12-7CB1-18256212A344}"/>
              </a:ext>
            </a:extLst>
          </p:cNvPr>
          <p:cNvSpPr txBox="1"/>
          <p:nvPr/>
        </p:nvSpPr>
        <p:spPr>
          <a:xfrm>
            <a:off x="5627566" y="4720353"/>
            <a:ext cx="3648513" cy="1306154"/>
          </a:xfrm>
          <a:prstGeom prst="rect">
            <a:avLst/>
          </a:prstGeom>
          <a:noFill/>
        </p:spPr>
        <p:txBody>
          <a:bodyPr wrap="square" lIns="180000" tIns="72000" rIns="180000" bIns="72000" rtlCol="0" anchor="ctr" anchorCtr="0">
            <a:noAutofit/>
          </a:bodyPr>
          <a:lstStyle/>
          <a:p>
            <a:r>
              <a:rPr lang="en-US" sz="2400" b="1" dirty="0">
                <a:solidFill>
                  <a:schemeClr val="bg1"/>
                </a:solidFill>
                <a:latin typeface="Calibri" panose="020F0502020204030204" pitchFamily="34" charset="0"/>
                <a:cs typeface="Calibri" panose="020F0502020204030204" pitchFamily="34" charset="0"/>
              </a:rPr>
              <a:t>Recepcan YETİMOĞLU </a:t>
            </a:r>
            <a:r>
              <a:rPr lang="tr-TR" dirty="0">
                <a:solidFill>
                  <a:schemeClr val="bg1"/>
                </a:solidFill>
                <a:latin typeface="Calibri" panose="020F0502020204030204" pitchFamily="34" charset="0"/>
                <a:cs typeface="Calibri" panose="020F0502020204030204" pitchFamily="34" charset="0"/>
              </a:rPr>
              <a:t>Unvan: </a:t>
            </a:r>
            <a:r>
              <a:rPr lang="en-US" dirty="0" err="1">
                <a:solidFill>
                  <a:schemeClr val="bg1"/>
                </a:solidFill>
                <a:latin typeface="Calibri" panose="020F0502020204030204" pitchFamily="34" charset="0"/>
                <a:cs typeface="Calibri" panose="020F0502020204030204" pitchFamily="34" charset="0"/>
              </a:rPr>
              <a:t>Elektrik</a:t>
            </a:r>
            <a:r>
              <a:rPr lang="en-US" dirty="0">
                <a:solidFill>
                  <a:schemeClr val="bg1"/>
                </a:solidFill>
                <a:latin typeface="Calibri" panose="020F0502020204030204" pitchFamily="34" charset="0"/>
                <a:cs typeface="Calibri" panose="020F0502020204030204" pitchFamily="34" charset="0"/>
              </a:rPr>
              <a:t> Elektronik</a:t>
            </a:r>
            <a:r>
              <a:rPr lang="tr-TR" dirty="0">
                <a:solidFill>
                  <a:schemeClr val="bg1"/>
                </a:solidFill>
                <a:latin typeface="Calibri" panose="020F0502020204030204" pitchFamily="34" charset="0"/>
                <a:cs typeface="Calibri" panose="020F0502020204030204" pitchFamily="34" charset="0"/>
              </a:rPr>
              <a:t> Mühendisi Öğrencisi</a:t>
            </a:r>
            <a:endParaRPr lang="en-US" dirty="0">
              <a:solidFill>
                <a:schemeClr val="bg1"/>
              </a:solidFill>
              <a:latin typeface="Calibri" panose="020F0502020204030204" pitchFamily="34" charset="0"/>
              <a:cs typeface="Calibri" panose="020F0502020204030204" pitchFamily="34" charset="0"/>
            </a:endParaRPr>
          </a:p>
        </p:txBody>
      </p:sp>
      <p:sp>
        <p:nvSpPr>
          <p:cNvPr id="4" name="TextBox 42">
            <a:extLst>
              <a:ext uri="{FF2B5EF4-FFF2-40B4-BE49-F238E27FC236}">
                <a16:creationId xmlns:a16="http://schemas.microsoft.com/office/drawing/2014/main" id="{97E5BD68-5B2C-B276-DAE5-D3D15A63E50B}"/>
              </a:ext>
            </a:extLst>
          </p:cNvPr>
          <p:cNvSpPr txBox="1"/>
          <p:nvPr/>
        </p:nvSpPr>
        <p:spPr>
          <a:xfrm>
            <a:off x="8998226" y="5136579"/>
            <a:ext cx="2273279" cy="517944"/>
          </a:xfrm>
          <a:prstGeom prst="rect">
            <a:avLst/>
          </a:prstGeom>
          <a:noFill/>
        </p:spPr>
        <p:txBody>
          <a:bodyPr wrap="square" lIns="180000" tIns="72000" rIns="180000" bIns="72000" rtlCol="0">
            <a:spAutoFit/>
          </a:bodyPr>
          <a:lstStyle/>
          <a:p>
            <a:pPr algn="r">
              <a:lnSpc>
                <a:spcPct val="150000"/>
              </a:lnSpc>
            </a:pPr>
            <a:r>
              <a:rPr lang="tr-TR" dirty="0">
                <a:solidFill>
                  <a:schemeClr val="bg1"/>
                </a:solidFill>
                <a:latin typeface="Calibri" panose="020F0502020204030204" pitchFamily="34" charset="0"/>
                <a:cs typeface="Calibri" panose="020F0502020204030204" pitchFamily="34" charset="0"/>
              </a:rPr>
              <a:t> </a:t>
            </a:r>
            <a:r>
              <a:rPr lang="en-US" dirty="0">
                <a:solidFill>
                  <a:schemeClr val="bg1"/>
                </a:solidFill>
                <a:latin typeface="Calibri" panose="020F0502020204030204" pitchFamily="34" charset="0"/>
                <a:cs typeface="Calibri" panose="020F0502020204030204" pitchFamily="34" charset="0"/>
              </a:rPr>
              <a:t>Eylül</a:t>
            </a:r>
            <a:r>
              <a:rPr lang="tr-TR" dirty="0">
                <a:solidFill>
                  <a:schemeClr val="bg1"/>
                </a:solidFill>
                <a:latin typeface="Calibri" panose="020F0502020204030204" pitchFamily="34" charset="0"/>
                <a:cs typeface="Calibri" panose="020F0502020204030204" pitchFamily="34" charset="0"/>
              </a:rPr>
              <a:t> 2026</a:t>
            </a:r>
            <a:endParaRPr lang="en-US" dirty="0">
              <a:solidFill>
                <a:schemeClr val="bg1"/>
              </a:solidFill>
              <a:latin typeface="Calibri" panose="020F0502020204030204" pitchFamily="34" charset="0"/>
              <a:cs typeface="Calibri" panose="020F0502020204030204" pitchFamily="34" charset="0"/>
            </a:endParaRPr>
          </a:p>
        </p:txBody>
      </p:sp>
      <p:sp>
        <p:nvSpPr>
          <p:cNvPr id="35" name="Oval 34">
            <a:extLst>
              <a:ext uri="{FF2B5EF4-FFF2-40B4-BE49-F238E27FC236}">
                <a16:creationId xmlns:a16="http://schemas.microsoft.com/office/drawing/2014/main" id="{2DEF3F28-48E5-46B0-87AD-4AD173E306E9}"/>
              </a:ext>
            </a:extLst>
          </p:cNvPr>
          <p:cNvSpPr/>
          <p:nvPr/>
        </p:nvSpPr>
        <p:spPr>
          <a:xfrm rot="19210176">
            <a:off x="8320880" y="5780054"/>
            <a:ext cx="485022" cy="485022"/>
          </a:xfrm>
          <a:prstGeom prst="ellipse">
            <a:avLst/>
          </a:prstGeom>
          <a:solidFill>
            <a:srgbClr val="FFFFFF"/>
          </a:solidFill>
          <a:ln w="12700" cap="flat" cmpd="sng" algn="ctr">
            <a:noFill/>
            <a:prstDash val="solid"/>
            <a:miter lim="800000"/>
          </a:ln>
          <a:effectLst>
            <a:outerShdw blurRad="393700" dist="50800" dir="5400000" algn="ctr" rotWithShape="0">
              <a:srgbClr val="000000">
                <a:alpha val="2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dirty="0">
              <a:ln>
                <a:noFill/>
              </a:ln>
              <a:solidFill>
                <a:prstClr val="white"/>
              </a:solidFill>
              <a:effectLst/>
              <a:uLnTx/>
              <a:uFillTx/>
              <a:latin typeface="Calibri" panose="020F0502020204030204" pitchFamily="34" charset="0"/>
              <a:ea typeface="+mn-ea"/>
              <a:cs typeface="+mn-cs"/>
            </a:endParaRPr>
          </a:p>
        </p:txBody>
      </p:sp>
      <p:sp>
        <p:nvSpPr>
          <p:cNvPr id="37" name="Freeform: Shape 36">
            <a:extLst>
              <a:ext uri="{FF2B5EF4-FFF2-40B4-BE49-F238E27FC236}">
                <a16:creationId xmlns:a16="http://schemas.microsoft.com/office/drawing/2014/main" id="{62320595-D2BA-4114-BB14-C7D615578289}"/>
              </a:ext>
            </a:extLst>
          </p:cNvPr>
          <p:cNvSpPr/>
          <p:nvPr/>
        </p:nvSpPr>
        <p:spPr>
          <a:xfrm rot="2700000">
            <a:off x="8454007" y="5917124"/>
            <a:ext cx="218766" cy="218766"/>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endParaRPr lang="tr-TR" kern="0" dirty="0">
              <a:solidFill>
                <a:prstClr val="black"/>
              </a:solidFill>
              <a:latin typeface="Calibri" panose="020F0502020204030204" pitchFamily="34" charset="0"/>
            </a:endParaRPr>
          </a:p>
        </p:txBody>
      </p:sp>
      <p:sp>
        <p:nvSpPr>
          <p:cNvPr id="2" name="TextBox 1">
            <a:extLst>
              <a:ext uri="{FF2B5EF4-FFF2-40B4-BE49-F238E27FC236}">
                <a16:creationId xmlns:a16="http://schemas.microsoft.com/office/drawing/2014/main" id="{8269E67F-5369-4BA0-9224-10A574D3CEAA}"/>
              </a:ext>
            </a:extLst>
          </p:cNvPr>
          <p:cNvSpPr txBox="1"/>
          <p:nvPr/>
        </p:nvSpPr>
        <p:spPr>
          <a:xfrm>
            <a:off x="753723" y="2903998"/>
            <a:ext cx="3702271" cy="738664"/>
          </a:xfrm>
          <a:prstGeom prst="rect">
            <a:avLst/>
          </a:prstGeom>
          <a:noFill/>
        </p:spPr>
        <p:txBody>
          <a:bodyPr wrap="square" rtlCol="0">
            <a:spAutoFit/>
          </a:bodyPr>
          <a:lstStyle/>
          <a:p>
            <a:r>
              <a:rPr lang="tr-TR" sz="1400" i="1" dirty="0">
                <a:solidFill>
                  <a:schemeClr val="bg1">
                    <a:lumMod val="65000"/>
                  </a:schemeClr>
                </a:solidFill>
                <a:latin typeface="Segoe UI" panose="020B0502040204020203" pitchFamily="34" charset="0"/>
                <a:cs typeface="Segoe UI" panose="020B0502040204020203" pitchFamily="34" charset="0"/>
              </a:rPr>
              <a:t>Alanımızda </a:t>
            </a:r>
            <a:r>
              <a:rPr lang="tr-TR" sz="1400" b="1" i="1" dirty="0">
                <a:solidFill>
                  <a:schemeClr val="bg1">
                    <a:lumMod val="65000"/>
                  </a:schemeClr>
                </a:solidFill>
                <a:latin typeface="Segoe UI" panose="020B0502040204020203" pitchFamily="34" charset="0"/>
                <a:cs typeface="Segoe UI" panose="020B0502040204020203" pitchFamily="34" charset="0"/>
              </a:rPr>
              <a:t>en iyileri </a:t>
            </a:r>
            <a:r>
              <a:rPr lang="tr-TR" sz="1400" i="1" dirty="0">
                <a:solidFill>
                  <a:schemeClr val="bg1">
                    <a:lumMod val="65000"/>
                  </a:schemeClr>
                </a:solidFill>
                <a:latin typeface="Segoe UI" panose="020B0502040204020203" pitchFamily="34" charset="0"/>
                <a:cs typeface="Segoe UI" panose="020B0502040204020203" pitchFamily="34" charset="0"/>
              </a:rPr>
              <a:t>üretmek,</a:t>
            </a:r>
          </a:p>
          <a:p>
            <a:r>
              <a:rPr lang="tr-TR" sz="1400" b="1" i="1" dirty="0">
                <a:solidFill>
                  <a:schemeClr val="bg1">
                    <a:lumMod val="65000"/>
                  </a:schemeClr>
                </a:solidFill>
                <a:latin typeface="Segoe UI" panose="020B0502040204020203" pitchFamily="34" charset="0"/>
                <a:cs typeface="Segoe UI" panose="020B0502040204020203" pitchFamily="34" charset="0"/>
              </a:rPr>
              <a:t>Oyun değiştirici </a:t>
            </a:r>
            <a:r>
              <a:rPr lang="tr-TR" sz="1400" i="1" dirty="0">
                <a:solidFill>
                  <a:schemeClr val="bg1">
                    <a:lumMod val="65000"/>
                  </a:schemeClr>
                </a:solidFill>
                <a:latin typeface="Segoe UI" panose="020B0502040204020203" pitchFamily="34" charset="0"/>
                <a:cs typeface="Segoe UI" panose="020B0502040204020203" pitchFamily="34" charset="0"/>
              </a:rPr>
              <a:t>teknolojileri geliştirmek,</a:t>
            </a:r>
          </a:p>
          <a:p>
            <a:r>
              <a:rPr lang="tr-TR" sz="1400" b="1" i="1" dirty="0">
                <a:solidFill>
                  <a:schemeClr val="bg1">
                    <a:lumMod val="65000"/>
                  </a:schemeClr>
                </a:solidFill>
                <a:latin typeface="Segoe UI" panose="020B0502040204020203" pitchFamily="34" charset="0"/>
                <a:cs typeface="Segoe UI" panose="020B0502040204020203" pitchFamily="34" charset="0"/>
              </a:rPr>
              <a:t>İhracat</a:t>
            </a:r>
            <a:r>
              <a:rPr lang="tr-TR" sz="1400" i="1" dirty="0">
                <a:solidFill>
                  <a:schemeClr val="bg1">
                    <a:lumMod val="65000"/>
                  </a:schemeClr>
                </a:solidFill>
                <a:latin typeface="Segoe UI" panose="020B0502040204020203" pitchFamily="34" charset="0"/>
                <a:cs typeface="Segoe UI" panose="020B0502040204020203" pitchFamily="34" charset="0"/>
              </a:rPr>
              <a:t> odaklı büyümek.</a:t>
            </a:r>
          </a:p>
        </p:txBody>
      </p:sp>
    </p:spTree>
    <p:extLst>
      <p:ext uri="{BB962C8B-B14F-4D97-AF65-F5344CB8AC3E}">
        <p14:creationId xmlns:p14="http://schemas.microsoft.com/office/powerpoint/2010/main" val="2779230412"/>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ounded Rectangle 10">
            <a:extLst>
              <a:ext uri="{FF2B5EF4-FFF2-40B4-BE49-F238E27FC236}">
                <a16:creationId xmlns:a16="http://schemas.microsoft.com/office/drawing/2014/main" id="{330D9965-5D15-4933-8352-854ED52F0291}"/>
              </a:ext>
            </a:extLst>
          </p:cNvPr>
          <p:cNvSpPr/>
          <p:nvPr/>
        </p:nvSpPr>
        <p:spPr>
          <a:xfrm>
            <a:off x="546084" y="2475709"/>
            <a:ext cx="10934290" cy="3246324"/>
          </a:xfrm>
          <a:prstGeom prst="roundRect">
            <a:avLst>
              <a:gd name="adj" fmla="val 6457"/>
            </a:avLst>
          </a:prstGeom>
          <a:solidFill>
            <a:srgbClr val="FFFFFF"/>
          </a:solidFill>
          <a:effectLst>
            <a:outerShdw blurRad="1087927" dist="50800" dir="3540000" sx="101000" sy="101000" algn="ctr" rotWithShape="0">
              <a:srgbClr val="3F403F">
                <a:alpha val="25000"/>
              </a:srgbClr>
            </a:outerShdw>
          </a:effectLst>
        </p:spPr>
        <p:txBody>
          <a:bodyPr wrap="square" lIns="182880" tIns="0" rIns="18288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Poppins" pitchFamily="2" charset="77"/>
            </a:endParaRPr>
          </a:p>
        </p:txBody>
      </p:sp>
      <p:sp>
        <p:nvSpPr>
          <p:cNvPr id="30" name="Freeform: Shape 36">
            <a:extLst>
              <a:ext uri="{FF2B5EF4-FFF2-40B4-BE49-F238E27FC236}">
                <a16:creationId xmlns:a16="http://schemas.microsoft.com/office/drawing/2014/main" id="{9AEB066B-F71E-4A51-9759-DC1D7ABE5C23}"/>
              </a:ext>
            </a:extLst>
          </p:cNvPr>
          <p:cNvSpPr/>
          <p:nvPr/>
        </p:nvSpPr>
        <p:spPr>
          <a:xfrm rot="18883588">
            <a:off x="7472122" y="2447406"/>
            <a:ext cx="3416798" cy="3416798"/>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noFill/>
          <a:ln w="6350">
            <a:solidFill>
              <a:schemeClr val="bg1">
                <a:lumMod val="95000"/>
              </a:schemeClr>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13" name="Title 9">
            <a:extLst>
              <a:ext uri="{FF2B5EF4-FFF2-40B4-BE49-F238E27FC236}">
                <a16:creationId xmlns:a16="http://schemas.microsoft.com/office/drawing/2014/main" id="{3B5455EA-DF9A-4BBF-BF42-4980D73BBC15}"/>
              </a:ext>
            </a:extLst>
          </p:cNvPr>
          <p:cNvSpPr>
            <a:spLocks noGrp="1"/>
          </p:cNvSpPr>
          <p:nvPr>
            <p:ph type="title"/>
          </p:nvPr>
        </p:nvSpPr>
        <p:spPr>
          <a:xfrm>
            <a:off x="409713" y="360534"/>
            <a:ext cx="5128938" cy="1208921"/>
          </a:xfrm>
          <a:prstGeom prst="rect">
            <a:avLst/>
          </a:prstGeom>
        </p:spPr>
        <p:txBody>
          <a:bodyPr/>
          <a:lstStyle/>
          <a:p>
            <a:r>
              <a:rPr lang="tr-TR" b="0" dirty="0">
                <a:latin typeface="Segoe UI Black" panose="020B0A02040204020203" pitchFamily="34" charset="0"/>
                <a:ea typeface="Segoe UI Black" panose="020B0A02040204020203" pitchFamily="34" charset="0"/>
              </a:rPr>
              <a:t>BU ÇALIŞMA NE</a:t>
            </a:r>
          </a:p>
        </p:txBody>
      </p:sp>
      <p:sp>
        <p:nvSpPr>
          <p:cNvPr id="14" name="Freeform: Shape 36">
            <a:extLst>
              <a:ext uri="{FF2B5EF4-FFF2-40B4-BE49-F238E27FC236}">
                <a16:creationId xmlns:a16="http://schemas.microsoft.com/office/drawing/2014/main" id="{EB9EC7C3-69EA-49A9-91F7-8C3EDE2E7506}"/>
              </a:ext>
            </a:extLst>
          </p:cNvPr>
          <p:cNvSpPr/>
          <p:nvPr/>
        </p:nvSpPr>
        <p:spPr>
          <a:xfrm rot="18883588">
            <a:off x="891144" y="3722395"/>
            <a:ext cx="866822" cy="866822"/>
          </a:xfrm>
          <a:custGeom>
            <a:avLst/>
            <a:gdLst>
              <a:gd name="connsiteX0" fmla="*/ 1063636 w 1327482"/>
              <a:gd name="connsiteY0" fmla="*/ 0 h 1327482"/>
              <a:gd name="connsiteX1" fmla="*/ 1086849 w 1327482"/>
              <a:gd name="connsiteY1" fmla="*/ 0 h 1327482"/>
              <a:gd name="connsiteX2" fmla="*/ 1327482 w 1327482"/>
              <a:gd name="connsiteY2" fmla="*/ 240633 h 1327482"/>
              <a:gd name="connsiteX3" fmla="*/ 1327482 w 1327482"/>
              <a:gd name="connsiteY3" fmla="*/ 1086849 h 1327482"/>
              <a:gd name="connsiteX4" fmla="*/ 1086849 w 1327482"/>
              <a:gd name="connsiteY4" fmla="*/ 1327482 h 1327482"/>
              <a:gd name="connsiteX5" fmla="*/ 240633 w 1327482"/>
              <a:gd name="connsiteY5" fmla="*/ 1327482 h 1327482"/>
              <a:gd name="connsiteX6" fmla="*/ 0 w 1327482"/>
              <a:gd name="connsiteY6" fmla="*/ 1086849 h 1327482"/>
              <a:gd name="connsiteX7" fmla="*/ 0 w 1327482"/>
              <a:gd name="connsiteY7" fmla="*/ 1065660 h 1327482"/>
              <a:gd name="connsiteX8" fmla="*/ 890953 w 1327482"/>
              <a:gd name="connsiteY8" fmla="*/ 1065662 h 1327482"/>
              <a:gd name="connsiteX9" fmla="*/ 7859 w 1327482"/>
              <a:gd name="connsiteY9" fmla="*/ 182568 h 1327482"/>
              <a:gd name="connsiteX10" fmla="*/ 18910 w 1327482"/>
              <a:gd name="connsiteY10" fmla="*/ 146968 h 1327482"/>
              <a:gd name="connsiteX11" fmla="*/ 192137 w 1327482"/>
              <a:gd name="connsiteY11" fmla="*/ 4889 h 1327482"/>
              <a:gd name="connsiteX12" fmla="*/ 202609 w 1327482"/>
              <a:gd name="connsiteY12" fmla="*/ 3833 h 1327482"/>
              <a:gd name="connsiteX13" fmla="*/ 1063636 w 1327482"/>
              <a:gd name="connsiteY13" fmla="*/ 864860 h 1327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27482" h="1327482">
                <a:moveTo>
                  <a:pt x="1063636" y="0"/>
                </a:moveTo>
                <a:lnTo>
                  <a:pt x="1086849" y="0"/>
                </a:lnTo>
                <a:cubicBezTo>
                  <a:pt x="1219747" y="0"/>
                  <a:pt x="1327482" y="107735"/>
                  <a:pt x="1327482" y="240633"/>
                </a:cubicBezTo>
                <a:lnTo>
                  <a:pt x="1327482" y="1086849"/>
                </a:lnTo>
                <a:cubicBezTo>
                  <a:pt x="1327482" y="1219747"/>
                  <a:pt x="1219747" y="1327482"/>
                  <a:pt x="1086849" y="1327482"/>
                </a:cubicBezTo>
                <a:lnTo>
                  <a:pt x="240633" y="1327482"/>
                </a:lnTo>
                <a:cubicBezTo>
                  <a:pt x="107735" y="1327482"/>
                  <a:pt x="0" y="1219747"/>
                  <a:pt x="0" y="1086849"/>
                </a:cubicBezTo>
                <a:lnTo>
                  <a:pt x="0" y="1065660"/>
                </a:lnTo>
                <a:lnTo>
                  <a:pt x="890953" y="1065662"/>
                </a:lnTo>
                <a:lnTo>
                  <a:pt x="7859" y="182568"/>
                </a:lnTo>
                <a:lnTo>
                  <a:pt x="18910" y="146968"/>
                </a:lnTo>
                <a:cubicBezTo>
                  <a:pt x="49352" y="74995"/>
                  <a:pt x="113814" y="20916"/>
                  <a:pt x="192137" y="4889"/>
                </a:cubicBezTo>
                <a:lnTo>
                  <a:pt x="202609" y="3833"/>
                </a:lnTo>
                <a:lnTo>
                  <a:pt x="1063636" y="864860"/>
                </a:lnTo>
                <a:close/>
              </a:path>
            </a:pathLst>
          </a:custGeom>
          <a:solidFill>
            <a:srgbClr val="FF562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tr-TR" sz="1800" b="0" i="0" u="none" strike="noStrike" kern="0" cap="none" spc="0" normalizeH="0" baseline="0" noProof="0" dirty="0">
              <a:ln>
                <a:noFill/>
              </a:ln>
              <a:solidFill>
                <a:prstClr val="black"/>
              </a:solidFill>
              <a:effectLst/>
              <a:uLnTx/>
              <a:uFillTx/>
              <a:latin typeface="Calibri" panose="020F0502020204030204" pitchFamily="34" charset="0"/>
              <a:ea typeface="+mn-ea"/>
              <a:cs typeface="+mn-cs"/>
            </a:endParaRPr>
          </a:p>
        </p:txBody>
      </p:sp>
      <p:sp>
        <p:nvSpPr>
          <p:cNvPr id="2" name="Rectangle 1">
            <a:extLst>
              <a:ext uri="{FF2B5EF4-FFF2-40B4-BE49-F238E27FC236}">
                <a16:creationId xmlns:a16="http://schemas.microsoft.com/office/drawing/2014/main" id="{D47F25F7-396C-4CA9-B73D-7E5DE0B7D628}"/>
              </a:ext>
            </a:extLst>
          </p:cNvPr>
          <p:cNvSpPr/>
          <p:nvPr/>
        </p:nvSpPr>
        <p:spPr>
          <a:xfrm>
            <a:off x="10610850" y="6457951"/>
            <a:ext cx="742950" cy="257175"/>
          </a:xfrm>
          <a:prstGeom prst="rect">
            <a:avLst/>
          </a:prstGeom>
          <a:solidFill>
            <a:srgbClr val="F0592B"/>
          </a:solidFill>
          <a:ln>
            <a:solidFill>
              <a:srgbClr val="EF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Rectangle 8">
            <a:extLst>
              <a:ext uri="{FF2B5EF4-FFF2-40B4-BE49-F238E27FC236}">
                <a16:creationId xmlns:a16="http://schemas.microsoft.com/office/drawing/2014/main" id="{371BD727-1CC7-44B3-8D58-13A54724542A}"/>
              </a:ext>
            </a:extLst>
          </p:cNvPr>
          <p:cNvSpPr/>
          <p:nvPr/>
        </p:nvSpPr>
        <p:spPr>
          <a:xfrm>
            <a:off x="10610850" y="6431947"/>
            <a:ext cx="359394" cy="338554"/>
          </a:xfrm>
          <a:prstGeom prst="rect">
            <a:avLst/>
          </a:prstGeom>
        </p:spPr>
        <p:txBody>
          <a:bodyPr wrap="none">
            <a:spAutoFit/>
          </a:bodyPr>
          <a:lstStyle/>
          <a:p>
            <a:r>
              <a:rPr lang="tr-TR" sz="1600" dirty="0">
                <a:solidFill>
                  <a:schemeClr val="bg1"/>
                </a:solidFill>
              </a:rPr>
              <a:t>2/</a:t>
            </a:r>
          </a:p>
        </p:txBody>
      </p:sp>
      <p:sp>
        <p:nvSpPr>
          <p:cNvPr id="90" name="Icerik Metni"/>
          <p:cNvSpPr txBox="1"/>
          <p:nvPr/>
        </p:nvSpPr>
        <p:spPr>
          <a:xfrm>
            <a:off x="2103120" y="2606040"/>
            <a:ext cx="8138160" cy="2971800"/>
          </a:xfrm>
          <a:prstGeom prst="rect">
            <a:avLst/>
          </a:prstGeom>
          <a:noFill/>
        </p:spPr>
        <p:txBody>
          <a:bodyPr wrap="square" lIns="0" tIns="0" rIns="0" bIns="0" anchor="ctr">
            <a:normAutofit/>
          </a:bodyPr>
          <a:lstStyle/>
          <a:p>
            <a:pPr marL="228600" indent="-228600">
              <a:spcBef>
                <a:spcPts val="900"/>
              </a:spcBef>
              <a:buClr>
                <a:srgbClr val="E8541F"/>
              </a:buClr>
              <a:buFont typeface="Arial" pitchFamily="34" charset="0"/>
              <a:buChar char="•"/>
            </a:pPr>
            <a:r>
              <a:rPr lang="tr-TR" sz="1600" dirty="0">
                <a:solidFill>
                  <a:srgbClr val="1D2A4D"/>
                </a:solidFill>
                <a:latin typeface="Calibri" pitchFamily="34" charset="0"/>
              </a:rPr>
              <a:t>Sinyalizasyon sisteminin hat kapasitesine etkisini ölçen, sıfırdan yazılmış mikroskobik bir demiryolu simülatörü.</a:t>
            </a:r>
          </a:p>
          <a:p>
            <a:pPr marL="228600" indent="-228600">
              <a:spcBef>
                <a:spcPts val="900"/>
              </a:spcBef>
              <a:buClr>
                <a:srgbClr val="E8541F"/>
              </a:buClr>
              <a:buFont typeface="Arial" pitchFamily="34" charset="0"/>
              <a:buChar char="•"/>
            </a:pPr>
            <a:r>
              <a:rPr lang="tr-TR" sz="1600" dirty="0">
                <a:solidFill>
                  <a:srgbClr val="1D2A4D"/>
                </a:solidFill>
                <a:latin typeface="Calibri" pitchFamily="34" charset="0"/>
              </a:rPr>
              <a:t>3 sinyalizasyon sistemi   ·   70 km çevrim   ·   12 tren   ·   22 duruş/tur</a:t>
            </a:r>
          </a:p>
          <a:p>
            <a:pPr marL="228600" indent="-228600">
              <a:spcBef>
                <a:spcPts val="900"/>
              </a:spcBef>
              <a:buClr>
                <a:srgbClr val="E8541F"/>
              </a:buClr>
              <a:buFont typeface="Arial" pitchFamily="34" charset="0"/>
              <a:buChar char="•"/>
            </a:pPr>
            <a:r>
              <a:rPr lang="tr-TR" sz="1600" dirty="0">
                <a:solidFill>
                  <a:srgbClr val="1D2A4D"/>
                </a:solidFill>
                <a:latin typeface="Calibri" pitchFamily="34" charset="0"/>
              </a:rPr>
              <a:t>Ölçüt tek: hattın gecikmeden taşıyabildiği en kısa tren aralığı, saniye.</a:t>
            </a:r>
          </a:p>
          <a:p>
            <a:pPr marL="228600" indent="-228600">
              <a:spcBef>
                <a:spcPts val="900"/>
              </a:spcBef>
              <a:buClr>
                <a:srgbClr val="E8541F"/>
              </a:buClr>
              <a:buFont typeface="Arial" pitchFamily="34" charset="0"/>
              <a:buChar char="•"/>
            </a:pPr>
            <a:r>
              <a:rPr lang="tr-TR" sz="1600" dirty="0">
                <a:solidFill>
                  <a:srgbClr val="1D2A4D"/>
                </a:solidFill>
                <a:latin typeface="Calibri" pitchFamily="34" charset="0"/>
              </a:rPr>
              <a:t>Sunulan her sayı bir koşunun çıktısı — literatürden alınmış tek bir performans değeri yok.</a:t>
            </a:r>
          </a:p>
        </p:txBody>
      </p:sp>
    </p:spTree>
    <p:extLst>
      <p:ext uri="{BB962C8B-B14F-4D97-AF65-F5344CB8AC3E}">
        <p14:creationId xmlns:p14="http://schemas.microsoft.com/office/powerpoint/2010/main" val="58944032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Metin kutusu 41">
            <a:extLst>
              <a:ext uri="{FF2B5EF4-FFF2-40B4-BE49-F238E27FC236}">
                <a16:creationId xmlns:a16="http://schemas.microsoft.com/office/drawing/2014/main" id="{3ADF1C07-BE85-46EF-8364-B1AB60C7522E}"/>
              </a:ext>
            </a:extLst>
          </p:cNvPr>
          <p:cNvSpPr txBox="1"/>
          <p:nvPr/>
        </p:nvSpPr>
        <p:spPr>
          <a:xfrm>
            <a:off x="1080015" y="2225518"/>
            <a:ext cx="7206129" cy="3385542"/>
          </a:xfrm>
          <a:prstGeom prst="rect">
            <a:avLst/>
          </a:prstGeom>
          <a:noFill/>
        </p:spPr>
        <p:txBody>
          <a:bodyPr wrap="square" rtlCol="0">
            <a:spAutoFit/>
          </a:bodyPr>
          <a:lstStyle/>
          <a:p>
            <a:pPr>
              <a:spcBef>
                <a:spcPts val="1200"/>
              </a:spcBef>
            </a:pPr>
            <a:r>
              <a:rPr lang="tr-TR" b="1" cap="all" dirty="0">
                <a:solidFill>
                  <a:srgbClr val="003087"/>
                </a:solidFill>
                <a:latin typeface="Segoe UI" panose="020B0502040204020203" pitchFamily="34" charset="0"/>
                <a:cs typeface="Segoe UI" panose="020B0502040204020203" pitchFamily="34" charset="0"/>
              </a:rPr>
              <a:t>Problem ve Amaç</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Literatür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Sinyalizasyon Sistemleri</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Demiryolu Modeli</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Tren Modeli</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Simülasyon Ortamı</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Deneyler ve Bulgular</a:t>
            </a:r>
          </a:p>
          <a:p>
            <a:pPr>
              <a:spcBef>
                <a:spcPts val="1200"/>
              </a:spcBef>
            </a:pPr>
            <a:r>
              <a:rPr lang="tr-TR" b="1" cap="all" dirty="0">
                <a:solidFill>
                  <a:srgbClr val="003087"/>
                </a:solidFill>
                <a:latin typeface="Segoe UI" panose="020B0502040204020203" pitchFamily="34" charset="0"/>
                <a:cs typeface="Segoe UI" panose="020B0502040204020203" pitchFamily="34" charset="0"/>
              </a:rPr>
              <a:t>Değerlendirme</a:t>
            </a:r>
          </a:p>
        </p:txBody>
      </p:sp>
      <p:sp>
        <p:nvSpPr>
          <p:cNvPr id="7" name="Oval 6">
            <a:extLst>
              <a:ext uri="{FF2B5EF4-FFF2-40B4-BE49-F238E27FC236}">
                <a16:creationId xmlns:a16="http://schemas.microsoft.com/office/drawing/2014/main" id="{421DA2A1-2B82-4049-8037-E629E1FF3431}"/>
              </a:ext>
            </a:extLst>
          </p:cNvPr>
          <p:cNvSpPr/>
          <p:nvPr/>
        </p:nvSpPr>
        <p:spPr>
          <a:xfrm>
            <a:off x="621287" y="2225518"/>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47" name="Oval 46">
            <a:extLst>
              <a:ext uri="{FF2B5EF4-FFF2-40B4-BE49-F238E27FC236}">
                <a16:creationId xmlns:a16="http://schemas.microsoft.com/office/drawing/2014/main" id="{1C2EE151-3BDE-41E5-A6CA-F331054FF6ED}"/>
              </a:ext>
            </a:extLst>
          </p:cNvPr>
          <p:cNvSpPr/>
          <p:nvPr/>
        </p:nvSpPr>
        <p:spPr>
          <a:xfrm>
            <a:off x="621287" y="265452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dirty="0"/>
          </a:p>
        </p:txBody>
      </p:sp>
      <p:sp>
        <p:nvSpPr>
          <p:cNvPr id="8" name="Oval 7">
            <a:extLst>
              <a:ext uri="{FF2B5EF4-FFF2-40B4-BE49-F238E27FC236}">
                <a16:creationId xmlns:a16="http://schemas.microsoft.com/office/drawing/2014/main" id="{BB502744-EDCA-4768-A3B5-B3401F023670}"/>
              </a:ext>
            </a:extLst>
          </p:cNvPr>
          <p:cNvSpPr/>
          <p:nvPr/>
        </p:nvSpPr>
        <p:spPr>
          <a:xfrm>
            <a:off x="621287" y="3077691"/>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2" name="Oval 11">
            <a:extLst>
              <a:ext uri="{FF2B5EF4-FFF2-40B4-BE49-F238E27FC236}">
                <a16:creationId xmlns:a16="http://schemas.microsoft.com/office/drawing/2014/main" id="{B367841E-60BF-44EA-A0AE-B3B973DAAF3D}"/>
              </a:ext>
            </a:extLst>
          </p:cNvPr>
          <p:cNvSpPr/>
          <p:nvPr/>
        </p:nvSpPr>
        <p:spPr>
          <a:xfrm>
            <a:off x="621287" y="3890333"/>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3" name="Oval 12">
            <a:extLst>
              <a:ext uri="{FF2B5EF4-FFF2-40B4-BE49-F238E27FC236}">
                <a16:creationId xmlns:a16="http://schemas.microsoft.com/office/drawing/2014/main" id="{13E71E64-10DC-4DA4-BCBD-64E14C2F1B62}"/>
              </a:ext>
            </a:extLst>
          </p:cNvPr>
          <p:cNvSpPr/>
          <p:nvPr/>
        </p:nvSpPr>
        <p:spPr>
          <a:xfrm>
            <a:off x="621287" y="3484012"/>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6" name="Title 9">
            <a:extLst>
              <a:ext uri="{FF2B5EF4-FFF2-40B4-BE49-F238E27FC236}">
                <a16:creationId xmlns:a16="http://schemas.microsoft.com/office/drawing/2014/main" id="{18A96956-405B-4837-AAD0-9AA1CC5CE7FC}"/>
              </a:ext>
            </a:extLst>
          </p:cNvPr>
          <p:cNvSpPr txBox="1">
            <a:spLocks/>
          </p:cNvSpPr>
          <p:nvPr/>
        </p:nvSpPr>
        <p:spPr>
          <a:xfrm>
            <a:off x="421520" y="374078"/>
            <a:ext cx="5946550" cy="595928"/>
          </a:xfrm>
          <a:prstGeom prst="rect">
            <a:avLst/>
          </a:prstGeom>
          <a:noFill/>
        </p:spPr>
        <p:txBody>
          <a:bodyPr wrap="square" rtlCol="0">
            <a:noAutofit/>
          </a:bodyPr>
          <a:lstStyle>
            <a:lvl1pPr marL="0" marR="0" indent="0" algn="l" defTabSz="914400" rtl="0" eaLnBrk="1" fontAlgn="auto" latinLnBrk="0" hangingPunct="1">
              <a:lnSpc>
                <a:spcPct val="100000"/>
              </a:lnSpc>
              <a:spcBef>
                <a:spcPts val="0"/>
              </a:spcBef>
              <a:spcAft>
                <a:spcPts val="0"/>
              </a:spcAft>
              <a:buClrTx/>
              <a:buSzTx/>
              <a:buFontTx/>
              <a:buNone/>
              <a:tabLst/>
              <a:defRPr kumimoji="0" lang="tr-TR" sz="3200" b="1" i="0" u="none" strike="noStrike" kern="1200" cap="all" spc="0" normalizeH="0" baseline="0" noProof="0" dirty="0">
                <a:ln>
                  <a:noFill/>
                </a:ln>
                <a:solidFill>
                  <a:srgbClr val="003087"/>
                </a:solidFill>
                <a:effectLst/>
                <a:uLnTx/>
                <a:uFillTx/>
                <a:latin typeface="Posterama" panose="020B0504020200020000" pitchFamily="34" charset="0"/>
                <a:ea typeface="+mn-ea"/>
                <a:cs typeface="Posterama" panose="020B0504020200020000" pitchFamily="34" charset="0"/>
              </a:defRPr>
            </a:lvl1pPr>
          </a:lstStyle>
          <a:p>
            <a:r>
              <a:rPr lang="tr-TR" dirty="0">
                <a:latin typeface="Segoe UI Black" panose="020B0A02040204020203" pitchFamily="34" charset="0"/>
                <a:ea typeface="Segoe UI Black" panose="020B0A02040204020203" pitchFamily="34" charset="0"/>
              </a:rPr>
              <a:t>İÇERİK</a:t>
            </a:r>
            <a:endParaRPr lang="tr-TR" sz="2400" b="0" dirty="0">
              <a:solidFill>
                <a:srgbClr val="F7931D"/>
              </a:solidFill>
              <a:latin typeface="Segoe UI Black" panose="020B0A02040204020203" pitchFamily="34" charset="0"/>
              <a:ea typeface="Segoe UI Black" panose="020B0A02040204020203" pitchFamily="34" charset="0"/>
            </a:endParaRPr>
          </a:p>
        </p:txBody>
      </p:sp>
      <p:sp>
        <p:nvSpPr>
          <p:cNvPr id="10" name="Oval 9">
            <a:extLst>
              <a:ext uri="{FF2B5EF4-FFF2-40B4-BE49-F238E27FC236}">
                <a16:creationId xmlns:a16="http://schemas.microsoft.com/office/drawing/2014/main" id="{96763803-F06A-4F8C-91C3-B6080C8BF0A4}"/>
              </a:ext>
            </a:extLst>
          </p:cNvPr>
          <p:cNvSpPr/>
          <p:nvPr/>
        </p:nvSpPr>
        <p:spPr>
          <a:xfrm>
            <a:off x="621287" y="432498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1" name="Oval 10">
            <a:extLst>
              <a:ext uri="{FF2B5EF4-FFF2-40B4-BE49-F238E27FC236}">
                <a16:creationId xmlns:a16="http://schemas.microsoft.com/office/drawing/2014/main" id="{7D009DDF-A7A9-42F9-9A58-F313227F5D2A}"/>
              </a:ext>
            </a:extLst>
          </p:cNvPr>
          <p:cNvSpPr/>
          <p:nvPr/>
        </p:nvSpPr>
        <p:spPr>
          <a:xfrm>
            <a:off x="621287" y="4759640"/>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4" name="Oval 13">
            <a:extLst>
              <a:ext uri="{FF2B5EF4-FFF2-40B4-BE49-F238E27FC236}">
                <a16:creationId xmlns:a16="http://schemas.microsoft.com/office/drawing/2014/main" id="{B8EF4556-5E02-4084-B247-3C1A50FE3201}"/>
              </a:ext>
            </a:extLst>
          </p:cNvPr>
          <p:cNvSpPr/>
          <p:nvPr/>
        </p:nvSpPr>
        <p:spPr>
          <a:xfrm>
            <a:off x="621287" y="5169458"/>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5" name="Oval 14">
            <a:extLst>
              <a:ext uri="{FF2B5EF4-FFF2-40B4-BE49-F238E27FC236}">
                <a16:creationId xmlns:a16="http://schemas.microsoft.com/office/drawing/2014/main" id="{0251A7EC-FFD9-4E04-8DAC-EB886D1891E8}"/>
              </a:ext>
            </a:extLst>
          </p:cNvPr>
          <p:cNvSpPr/>
          <p:nvPr/>
        </p:nvSpPr>
        <p:spPr>
          <a:xfrm>
            <a:off x="621287" y="5579276"/>
            <a:ext cx="234431" cy="234431"/>
          </a:xfrm>
          <a:prstGeom prst="ellipse">
            <a:avLst/>
          </a:prstGeom>
          <a:solidFill>
            <a:srgbClr val="EBEBEE"/>
          </a:solidFill>
          <a:ln w="28575">
            <a:solidFill>
              <a:srgbClr val="003087"/>
            </a:solidFill>
          </a:ln>
          <a:effectLst>
            <a:outerShdw blurRad="1397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1200"/>
          </a:p>
        </p:txBody>
      </p:sp>
      <p:sp>
        <p:nvSpPr>
          <p:cNvPr id="17" name="Rectangle 16">
            <a:extLst>
              <a:ext uri="{FF2B5EF4-FFF2-40B4-BE49-F238E27FC236}">
                <a16:creationId xmlns:a16="http://schemas.microsoft.com/office/drawing/2014/main" id="{EBE28D82-48A2-45B8-ACA3-958630194D66}"/>
              </a:ext>
            </a:extLst>
          </p:cNvPr>
          <p:cNvSpPr/>
          <p:nvPr/>
        </p:nvSpPr>
        <p:spPr>
          <a:xfrm>
            <a:off x="10610850" y="6467476"/>
            <a:ext cx="742950" cy="257175"/>
          </a:xfrm>
          <a:prstGeom prst="rect">
            <a:avLst/>
          </a:prstGeom>
          <a:solidFill>
            <a:srgbClr val="F0592B"/>
          </a:solidFill>
          <a:ln>
            <a:solidFill>
              <a:srgbClr val="EF58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Rectangle 18">
            <a:extLst>
              <a:ext uri="{FF2B5EF4-FFF2-40B4-BE49-F238E27FC236}">
                <a16:creationId xmlns:a16="http://schemas.microsoft.com/office/drawing/2014/main" id="{27935050-2192-482F-8BFE-C3950B99E396}"/>
              </a:ext>
            </a:extLst>
          </p:cNvPr>
          <p:cNvSpPr/>
          <p:nvPr/>
        </p:nvSpPr>
        <p:spPr>
          <a:xfrm>
            <a:off x="10620375" y="6431947"/>
            <a:ext cx="359394" cy="338554"/>
          </a:xfrm>
          <a:prstGeom prst="rect">
            <a:avLst/>
          </a:prstGeom>
        </p:spPr>
        <p:txBody>
          <a:bodyPr wrap="none">
            <a:spAutoFit/>
          </a:bodyPr>
          <a:lstStyle/>
          <a:p>
            <a:r>
              <a:rPr lang="tr-TR" sz="1600" dirty="0">
                <a:solidFill>
                  <a:schemeClr val="bg1"/>
                </a:solidFill>
              </a:rPr>
              <a:t>3/</a:t>
            </a:r>
          </a:p>
        </p:txBody>
      </p:sp>
    </p:spTree>
    <p:extLst>
      <p:ext uri="{BB962C8B-B14F-4D97-AF65-F5344CB8AC3E}">
        <p14:creationId xmlns:p14="http://schemas.microsoft.com/office/powerpoint/2010/main" val="1177313339"/>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8D91C-5325-D4BD-A6E1-B697BFD42478}"/>
              </a:ext>
            </a:extLst>
          </p:cNvPr>
          <p:cNvSpPr>
            <a:spLocks noGrp="1"/>
          </p:cNvSpPr>
          <p:nvPr>
            <p:ph type="title"/>
          </p:nvPr>
        </p:nvSpPr>
        <p:spPr/>
        <p:txBody>
          <a:bodyPr/>
          <a:lstStyle/>
          <a:p>
            <a:r>
              <a:rPr lang="en-US" dirty="0"/>
              <a:t>PROBLEM VE AMAÇ</a:t>
            </a:r>
            <a:endParaRPr lang="en-US" dirty="0"/>
          </a:p>
        </p:txBody>
      </p:sp>
      <p:sp>
        <p:nvSpPr>
          <p:cNvPr id="3" name="Text Placeholder 2">
            <a:extLst>
              <a:ext uri="{FF2B5EF4-FFF2-40B4-BE49-F238E27FC236}">
                <a16:creationId xmlns:a16="http://schemas.microsoft.com/office/drawing/2014/main" id="{B0229680-CECB-846E-0EBF-9F852B8A6E7F}"/>
              </a:ext>
            </a:extLst>
          </p:cNvPr>
          <p:cNvSpPr>
            <a:spLocks noGrp="1"/>
          </p:cNvSpPr>
          <p:nvPr>
            <p:ph type="body" sz="quarter" idx="13"/>
          </p:nvPr>
        </p:nvSpPr>
        <p:spPr>
          <a:xfrm>
            <a:off x="409163" y="2163759"/>
            <a:ext cx="6380183" cy="2028248"/>
          </a:xfrm>
        </p:spPr>
        <p:txBody>
          <a:bodyPr/>
          <a:lstStyle/>
          <a:p>
            <a:endParaRPr lang="en-US" dirty="0"/>
            <a:r>
              <a:rPr lang="tr-TR" dirty="0"/>
              <a:t>Problem — Talep artıyor, yeni hat pahalı. Mevcut altyapıdan daha fazla tren geçirilebilir mi?</a:t>
            </a:r>
          </a:p>
          <a:p>
            <a:endParaRPr lang="en-US" dirty="0"/>
            <a:r>
              <a:rPr lang="tr-TR" dirty="0"/>
              <a:t>Amaç — Kapasiteyi belirleyen asıl etkenin sinyalizasyon olduğu savını ölçmek: hangi sistem ne kadar aralık kazandırıyor?</a:t>
            </a:r>
          </a:p>
          <a:p>
            <a:endParaRPr lang="en-US" dirty="0"/>
            <a:r>
              <a:rPr lang="tr-TR" dirty="0"/>
              <a:t>Yöntem — Aynı hat, aynı filo, aynı ölçüt. Sadece sinyalizasyon değişiyor.</a:t>
            </a:r>
          </a:p>
          <a:p>
            <a:endParaRPr lang="en-US" dirty="0"/>
            <a:r>
              <a:rPr lang="tr-TR" dirty="0"/>
              <a:t>Test hattı — banliyö tipi: 3.1 km istasyon aralığı, 80 km/h, 30 s bekleme.</a:t>
            </a:r>
          </a:p>
        </p:txBody>
      </p:sp>
    </p:spTree>
    <p:extLst>
      <p:ext uri="{BB962C8B-B14F-4D97-AF65-F5344CB8AC3E}">
        <p14:creationId xmlns:p14="http://schemas.microsoft.com/office/powerpoint/2010/main" val="4198574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2CAF-3293-D8EF-F148-7E38DAEB627B}"/>
              </a:ext>
            </a:extLst>
          </p:cNvPr>
          <p:cNvSpPr>
            <a:spLocks noGrp="1"/>
          </p:cNvSpPr>
          <p:nvPr>
            <p:ph type="title"/>
          </p:nvPr>
        </p:nvSpPr>
        <p:spPr/>
        <p:txBody>
          <a:bodyPr/>
          <a:lstStyle/>
          <a:p>
            <a:r>
              <a:rPr lang="en-US" b="0" dirty="0"/>
              <a:t>LİTERATÜR</a:t>
            </a:r>
            <a:br>
              <a:rPr lang="en-US" dirty="0"/>
            </a:br>
            <a:endParaRPr lang="en-US" dirty="0"/>
          </a:p>
        </p:txBody>
      </p:sp>
      <p:sp>
        <p:nvSpPr>
          <p:cNvPr id="3" name="Text Placeholder 2">
            <a:extLst>
              <a:ext uri="{FF2B5EF4-FFF2-40B4-BE49-F238E27FC236}">
                <a16:creationId xmlns:a16="http://schemas.microsoft.com/office/drawing/2014/main" id="{9D65E0A4-E215-4B12-17B1-EEC3373CE389}"/>
              </a:ext>
            </a:extLst>
          </p:cNvPr>
          <p:cNvSpPr>
            <a:spLocks noGrp="1"/>
          </p:cNvSpPr>
          <p:nvPr>
            <p:ph type="body" sz="quarter" idx="13"/>
          </p:nvPr>
        </p:nvSpPr>
        <p:spPr>
          <a:xfrm>
            <a:off x="411480" y="1463040"/>
            <a:ext cx="11338560" cy="548640"/>
          </a:xfrm>
        </p:spPr>
        <p:txBody>
          <a:bodyPr/>
          <a:lstStyle/>
          <a:p>
            <a:r>
              <a:rPr lang="tr-TR" dirty="0"/>
              <a:t>Sanal kuplajın kapasiteye etkisini doğrudan ölçen iki çalışma — kendi sonucumu bunlarla karşılaştırdım.</a:t>
            </a:r>
          </a:p>
        </p:txBody>
      </p:sp>
      <p:sp>
        <p:nvSpPr>
          <p:cNvPr id="204" name="Not 204"/>
          <p:cNvSpPr txBox="1"/>
          <p:nvPr/>
        </p:nvSpPr>
        <p:spPr>
          <a:xfrm>
            <a:off x="411480" y="3050000"/>
            <a:ext cx="11338560" cy="822960"/>
          </a:xfrm>
          <a:prstGeom prst="rect">
            <a:avLst/>
          </a:prstGeom>
          <a:noFill/>
        </p:spPr>
        <p:txBody>
          <a:bodyPr wrap="square" lIns="0" tIns="0" rIns="0" bIns="0">
            <a:normAutofit/>
          </a:bodyPr>
          <a:lstStyle/>
          <a:p>
            <a:r>
              <a:rPr lang="tr-TR" sz="1400" i="1" dirty="0">
                <a:solidFill>
                  <a:srgbClr val="5B6478"/>
                </a:solidFill>
                <a:latin typeface="Calibri"/>
              </a:rPr>
              <a:t>İkisi de sanal kuplajı ETCS hareketli bloğa karşı ölçüyor. Ölçtükleri şey farklı; sayıların birebir tutması beklenmiyor.</a:t>
            </a:r>
          </a:p>
        </p:txBody>
      </p:sp>
    </p:spTree>
    <p:extLst>
      <p:ext uri="{BB962C8B-B14F-4D97-AF65-F5344CB8AC3E}">
        <p14:creationId xmlns:p14="http://schemas.microsoft.com/office/powerpoint/2010/main" val="1711816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2CAF-3293-D8EF-F148-7E38DAEB627B}"/>
              </a:ext>
            </a:extLst>
          </p:cNvPr>
          <p:cNvSpPr>
            <a:spLocks noGrp="1"/>
          </p:cNvSpPr>
          <p:nvPr>
            <p:ph type="title"/>
          </p:nvPr>
        </p:nvSpPr>
        <p:spPr/>
        <p:txBody>
          <a:bodyPr/>
          <a:lstStyle/>
          <a:p>
            <a:r>
              <a:rPr lang="en-US" b="0" dirty="0"/>
              <a:t>QUAGLIETTA vd. (2020)</a:t>
            </a:r>
            <a:br>
              <a:rPr lang="en-US" dirty="0"/>
            </a:br>
            <a:endParaRPr lang="en-US" dirty="0"/>
          </a:p>
        </p:txBody>
      </p:sp>
      <p:sp>
        <p:nvSpPr>
          <p:cNvPr id="3" name="Text Placeholder 2">
            <a:extLst>
              <a:ext uri="{FF2B5EF4-FFF2-40B4-BE49-F238E27FC236}">
                <a16:creationId xmlns:a16="http://schemas.microsoft.com/office/drawing/2014/main" id="{9D65E0A4-E215-4B12-17B1-EEC3373CE389}"/>
              </a:ext>
            </a:extLst>
          </p:cNvPr>
          <p:cNvSpPr>
            <a:spLocks noGrp="1"/>
          </p:cNvSpPr>
          <p:nvPr>
            <p:ph type="body" sz="quarter" idx="13"/>
          </p:nvPr>
        </p:nvSpPr>
        <p:spPr>
          <a:xfrm>
            <a:off x="411480" y="1600200"/>
            <a:ext cx="6492240" cy="4206240"/>
          </a:xfrm>
        </p:spPr>
        <p:txBody>
          <a:bodyPr/>
          <a:lstStyle/>
          <a:p>
            <a:r>
              <a:rPr lang="tr-TR" dirty="0"/>
              <a:t>Sanal kuplajı dört işletim durumu olan bir tren takip modeli olarak kuruyorlar.</a:t>
            </a:r>
          </a:p>
          <a:p>
            <a:r>
              <a:rPr lang="tr-TR" dirty="0"/>
              <a:t>20 km hat   ·   2 tren   ·   South West Main Line, İngiltere</a:t>
            </a:r>
          </a:p>
          <a:p>
            <a:r>
              <a:rPr lang="tr-TR" dirty="0"/>
              <a:t>Bulgu:  ETCS L3'e göre headway %13 – %53 daha kısa</a:t>
            </a:r>
          </a:p>
          <a:p>
            <a:r>
              <a:rPr lang="tr-TR" dirty="0"/>
              <a:t>Fark: onlar iki trenin bir noktada ne kadar yaklaşabildiğini ölçüyor, ben on iki trenin bir turu hangi aralıkla sürdürebildiğini.</a:t>
            </a:r>
          </a:p>
        </p:txBody>
      </p:sp>
      <p:sp>
        <p:nvSpPr>
          <p:cNvPr id="210" name="Kunye 210"/>
          <p:cNvSpPr txBox="1"/>
          <p:nvPr/>
        </p:nvSpPr>
        <p:spPr>
          <a:xfrm>
            <a:off x="411480" y="5806440"/>
            <a:ext cx="6492240" cy="548640"/>
          </a:xfrm>
          <a:prstGeom prst="rect">
            <a:avLst/>
          </a:prstGeom>
          <a:noFill/>
        </p:spPr>
        <p:txBody>
          <a:bodyPr wrap="square" lIns="0" tIns="0" rIns="0" bIns="0">
            <a:normAutofit/>
          </a:bodyPr>
          <a:lstStyle/>
          <a:p>
            <a:r>
              <a:rPr lang="tr-TR" sz="1000" dirty="0">
                <a:solidFill>
                  <a:srgbClr val="5B6478"/>
                </a:solidFill>
                <a:latin typeface="Calibri"/>
              </a:rPr>
              <a:t>Quaglietta, Wang &amp; Goverde (2020) — J. Rail Transport Planning &amp; Management   [1]</a:t>
            </a:r>
          </a:p>
        </p:txBody>
      </p:sp>
    </p:spTree>
    <p:extLst>
      <p:ext uri="{BB962C8B-B14F-4D97-AF65-F5344CB8AC3E}">
        <p14:creationId xmlns:p14="http://schemas.microsoft.com/office/powerpoint/2010/main" val="1711816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2CAF-3293-D8EF-F148-7E38DAEB627B}"/>
              </a:ext>
            </a:extLst>
          </p:cNvPr>
          <p:cNvSpPr>
            <a:spLocks noGrp="1"/>
          </p:cNvSpPr>
          <p:nvPr>
            <p:ph type="title"/>
          </p:nvPr>
        </p:nvSpPr>
        <p:spPr/>
        <p:txBody>
          <a:bodyPr/>
          <a:lstStyle/>
          <a:p>
            <a:r>
              <a:rPr lang="en-US" b="0" dirty="0"/>
              <a:t>AOUN vd. (2021)</a:t>
            </a:r>
            <a:br>
              <a:rPr lang="en-US" dirty="0"/>
            </a:br>
            <a:endParaRPr lang="en-US" dirty="0"/>
          </a:p>
        </p:txBody>
      </p:sp>
      <p:sp>
        <p:nvSpPr>
          <p:cNvPr id="3" name="Text Placeholder 2">
            <a:extLst>
              <a:ext uri="{FF2B5EF4-FFF2-40B4-BE49-F238E27FC236}">
                <a16:creationId xmlns:a16="http://schemas.microsoft.com/office/drawing/2014/main" id="{9D65E0A4-E215-4B12-17B1-EEC3373CE389}"/>
              </a:ext>
            </a:extLst>
          </p:cNvPr>
          <p:cNvSpPr>
            <a:spLocks noGrp="1"/>
          </p:cNvSpPr>
          <p:nvPr>
            <p:ph type="body" sz="quarter" idx="13"/>
          </p:nvPr>
        </p:nvSpPr>
        <p:spPr>
          <a:xfrm>
            <a:off x="411480" y="1600200"/>
            <a:ext cx="6492240" cy="4206240"/>
          </a:xfrm>
        </p:spPr>
        <p:txBody>
          <a:bodyPr/>
          <a:lstStyle/>
          <a:p>
            <a:r>
              <a:rPr lang="tr-TR" dirty="0"/>
              <a:t>Kapasitenin ötesine bakıyorlar: maliyet, enerji, güvenlik, regülasyon onayı. Delphi-AHP çok ölçütlü karar analizi.</a:t>
            </a:r>
          </a:p>
          <a:p>
            <a:r>
              <a:rPr lang="tr-TR" dirty="0"/>
              <a:t>15 uzman   ·   5 pazar segmenti   ·   66 senaryo</a:t>
            </a:r>
          </a:p>
          <a:p>
            <a:r>
              <a:rPr lang="tr-TR" dirty="0"/>
              <a:t>Bulgu:  kapasite kazancı %1.8 – %14; duraklamalı işletmede %2'ye, ayrılan kavşakta sıfıra iniyor</a:t>
            </a:r>
          </a:p>
          <a:p>
            <a:r>
              <a:rPr lang="tr-TR" dirty="0"/>
              <a:t>Kriter ağırlıkları:  güvenlik %45   ·   regülasyon %32   ·   kapasite %5.6</a:t>
            </a:r>
          </a:p>
          <a:p>
            <a:r>
              <a:rPr lang="tr-TR" dirty="0"/>
              <a:t>Fark: ben duraklamalı hatta %9 buldum — bandın içinde, ve kazancın duraklamalı işletmede erimesi bende de aynı şekilde çıktı.</a:t>
            </a:r>
          </a:p>
        </p:txBody>
      </p:sp>
      <p:sp>
        <p:nvSpPr>
          <p:cNvPr id="211" name="Kunye 211"/>
          <p:cNvSpPr txBox="1"/>
          <p:nvPr/>
        </p:nvSpPr>
        <p:spPr>
          <a:xfrm>
            <a:off x="411480" y="5806440"/>
            <a:ext cx="6492240" cy="548640"/>
          </a:xfrm>
          <a:prstGeom prst="rect">
            <a:avLst/>
          </a:prstGeom>
          <a:noFill/>
        </p:spPr>
        <p:txBody>
          <a:bodyPr wrap="square" lIns="0" tIns="0" rIns="0" bIns="0">
            <a:normAutofit/>
          </a:bodyPr>
          <a:lstStyle/>
          <a:p>
            <a:r>
              <a:rPr lang="tr-TR" sz="1000" dirty="0">
                <a:solidFill>
                  <a:srgbClr val="5B6478"/>
                </a:solidFill>
                <a:latin typeface="Calibri"/>
              </a:rPr>
              <a:t>Aoun vd. (2021) — Transportation Research Part C   [2]</a:t>
            </a:r>
          </a:p>
        </p:txBody>
      </p:sp>
    </p:spTree>
    <p:extLst>
      <p:ext uri="{BB962C8B-B14F-4D97-AF65-F5344CB8AC3E}">
        <p14:creationId xmlns:p14="http://schemas.microsoft.com/office/powerpoint/2010/main" val="1711816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E81D1-2F2D-8256-4D80-DEC31C90E1B2}"/>
              </a:ext>
            </a:extLst>
          </p:cNvPr>
          <p:cNvSpPr>
            <a:spLocks noGrp="1"/>
          </p:cNvSpPr>
          <p:nvPr>
            <p:ph type="title"/>
          </p:nvPr>
        </p:nvSpPr>
        <p:spPr/>
        <p:txBody>
          <a:bodyPr/>
          <a:lstStyle/>
          <a:p>
            <a:r>
              <a:rPr lang="en-US" b="0" dirty="0"/>
              <a:t>SİNYALİZASYON SİSTEMLERİ</a:t>
            </a:r>
            <a:br>
              <a:rPr lang="en-US" dirty="0"/>
            </a:br>
            <a:endParaRPr lang="en-US" dirty="0"/>
          </a:p>
        </p:txBody>
      </p:sp>
      <p:pic>
        <p:nvPicPr>
          <p:cNvPr id="5" name="Picture 4">
            <a:extLst>
              <a:ext uri="{FF2B5EF4-FFF2-40B4-BE49-F238E27FC236}">
                <a16:creationId xmlns:a16="http://schemas.microsoft.com/office/drawing/2014/main" id="{DDAF46C7-C4CD-1586-3DE9-FD7598AEAE37}"/>
              </a:ext>
            </a:extLst>
          </p:cNvPr>
          <p:cNvPicPr>
            <a:picLocks noChangeAspect="1"/>
          </p:cNvPicPr>
          <p:nvPr/>
        </p:nvPicPr>
        <p:blipFill>
          <a:blip r:embed="rId2">
            <a:extLst>
              <a:ext uri="{28A0092B-C50C-407E-A947-70E740481C1C}">
                <a14:useLocalDpi xmlns:a14="http://schemas.microsoft.com/office/drawing/2010/main" val="0"/>
              </a:ext>
            </a:extLst>
          </a:blip>
          <a:srcRect l="3173" r="22684"/>
          <a:stretch>
            <a:fillRect/>
          </a:stretch>
        </p:blipFill>
        <p:spPr>
          <a:xfrm>
            <a:off x="4342673" y="2377440"/>
            <a:ext cx="3444604" cy="1564571"/>
          </a:xfrm>
          <a:prstGeom prst="rect">
            <a:avLst/>
          </a:prstGeom>
        </p:spPr>
      </p:pic>
      <p:pic>
        <p:nvPicPr>
          <p:cNvPr id="7" name="Picture 6">
            <a:extLst>
              <a:ext uri="{FF2B5EF4-FFF2-40B4-BE49-F238E27FC236}">
                <a16:creationId xmlns:a16="http://schemas.microsoft.com/office/drawing/2014/main" id="{CDAB5D02-52EB-3D36-A481-E69B3A395E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 y="2377443"/>
            <a:ext cx="3423556" cy="1564571"/>
          </a:xfrm>
          <a:prstGeom prst="rect">
            <a:avLst/>
          </a:prstGeom>
        </p:spPr>
      </p:pic>
      <p:sp>
        <p:nvSpPr>
          <p:cNvPr id="10" name="TextBox 9">
            <a:extLst>
              <a:ext uri="{FF2B5EF4-FFF2-40B4-BE49-F238E27FC236}">
                <a16:creationId xmlns:a16="http://schemas.microsoft.com/office/drawing/2014/main" id="{16342827-F4D4-D28D-CDAD-62740C457E12}"/>
              </a:ext>
            </a:extLst>
          </p:cNvPr>
          <p:cNvSpPr txBox="1"/>
          <p:nvPr/>
        </p:nvSpPr>
        <p:spPr>
          <a:xfrm>
            <a:off x="1569283" y="4066506"/>
            <a:ext cx="1168910" cy="369332"/>
          </a:xfrm>
          <a:prstGeom prst="rect">
            <a:avLst/>
          </a:prstGeom>
          <a:noFill/>
        </p:spPr>
        <p:txBody>
          <a:bodyPr wrap="none" rtlCol="0">
            <a:spAutoFit/>
          </a:bodyPr>
          <a:lstStyle/>
          <a:p>
            <a:r>
              <a:rPr lang="en-US" dirty="0"/>
              <a:t>Sabit Blok</a:t>
            </a:r>
          </a:p>
        </p:txBody>
      </p:sp>
      <p:sp>
        <p:nvSpPr>
          <p:cNvPr id="12" name="TextBox 11">
            <a:extLst>
              <a:ext uri="{FF2B5EF4-FFF2-40B4-BE49-F238E27FC236}">
                <a16:creationId xmlns:a16="http://schemas.microsoft.com/office/drawing/2014/main" id="{D410C1E8-2862-8013-E88E-E91A01672C1F}"/>
              </a:ext>
            </a:extLst>
          </p:cNvPr>
          <p:cNvSpPr txBox="1"/>
          <p:nvPr/>
        </p:nvSpPr>
        <p:spPr>
          <a:xfrm>
            <a:off x="5321589" y="4066506"/>
            <a:ext cx="1548822" cy="369332"/>
          </a:xfrm>
          <a:prstGeom prst="rect">
            <a:avLst/>
          </a:prstGeom>
          <a:noFill/>
        </p:spPr>
        <p:txBody>
          <a:bodyPr wrap="none" rtlCol="0">
            <a:spAutoFit/>
          </a:bodyPr>
          <a:lstStyle/>
          <a:p>
            <a:r>
              <a:rPr lang="en-US" dirty="0" err="1"/>
              <a:t>Hareketli</a:t>
            </a:r>
            <a:r>
              <a:rPr lang="en-US" dirty="0"/>
              <a:t> Blok</a:t>
            </a:r>
          </a:p>
        </p:txBody>
      </p:sp>
      <p:sp>
        <p:nvSpPr>
          <p:cNvPr id="14" name="TextBox 13">
            <a:extLst>
              <a:ext uri="{FF2B5EF4-FFF2-40B4-BE49-F238E27FC236}">
                <a16:creationId xmlns:a16="http://schemas.microsoft.com/office/drawing/2014/main" id="{3A780AED-1829-9F0F-CF17-E4A44588736B}"/>
              </a:ext>
            </a:extLst>
          </p:cNvPr>
          <p:cNvSpPr txBox="1"/>
          <p:nvPr/>
        </p:nvSpPr>
        <p:spPr>
          <a:xfrm>
            <a:off x="9289269" y="4066506"/>
            <a:ext cx="1394934" cy="369332"/>
          </a:xfrm>
          <a:prstGeom prst="rect">
            <a:avLst/>
          </a:prstGeom>
          <a:noFill/>
        </p:spPr>
        <p:txBody>
          <a:bodyPr wrap="none" rtlCol="0">
            <a:spAutoFit/>
          </a:bodyPr>
          <a:lstStyle/>
          <a:p>
            <a:r>
              <a:rPr lang="en-US" dirty="0"/>
              <a:t>Sanal </a:t>
            </a:r>
            <a:r>
              <a:rPr lang="en-US" dirty="0" err="1"/>
              <a:t>Kuplaj</a:t>
            </a:r>
            <a:endParaRPr lang="en-US" dirty="0"/>
          </a:p>
        </p:txBody>
      </p:sp>
      <p:pic>
        <p:nvPicPr>
          <p:cNvPr id="16" name="Picture 15">
            <a:extLst>
              <a:ext uri="{FF2B5EF4-FFF2-40B4-BE49-F238E27FC236}">
                <a16:creationId xmlns:a16="http://schemas.microsoft.com/office/drawing/2014/main" id="{B176362D-1533-DAB3-4826-62AAA6EC478E}"/>
              </a:ext>
            </a:extLst>
          </p:cNvPr>
          <p:cNvPicPr>
            <a:picLocks noChangeAspect="1"/>
          </p:cNvPicPr>
          <p:nvPr/>
        </p:nvPicPr>
        <p:blipFill>
          <a:blip r:embed="rId4">
            <a:extLst>
              <a:ext uri="{28A0092B-C50C-407E-A947-70E740481C1C}">
                <a14:useLocalDpi xmlns:a14="http://schemas.microsoft.com/office/drawing/2010/main" val="0"/>
              </a:ext>
            </a:extLst>
          </a:blip>
          <a:srcRect l="9260" t="-325" r="20371" b="325"/>
          <a:stretch>
            <a:fillRect/>
          </a:stretch>
        </p:blipFill>
        <p:spPr>
          <a:xfrm>
            <a:off x="8264434" y="2377440"/>
            <a:ext cx="3444604" cy="1574661"/>
          </a:xfrm>
          <a:prstGeom prst="rect">
            <a:avLst/>
          </a:prstGeom>
        </p:spPr>
      </p:pic>
      <p:sp>
        <p:nvSpPr>
          <p:cNvPr id="17" name="TextBox 16">
            <a:extLst>
              <a:ext uri="{FF2B5EF4-FFF2-40B4-BE49-F238E27FC236}">
                <a16:creationId xmlns:a16="http://schemas.microsoft.com/office/drawing/2014/main" id="{1A18D5D7-8C8F-3A48-F12D-D0A5A58E0D8D}"/>
              </a:ext>
            </a:extLst>
          </p:cNvPr>
          <p:cNvSpPr txBox="1"/>
          <p:nvPr/>
        </p:nvSpPr>
        <p:spPr>
          <a:xfrm>
            <a:off x="9011920" y="4622800"/>
            <a:ext cx="1954381" cy="1200329"/>
          </a:xfrm>
          <a:prstGeom prst="rect">
            <a:avLst/>
          </a:prstGeom>
          <a:noFill/>
        </p:spPr>
        <p:txBody>
          <a:bodyPr wrap="none" rtlCol="0">
            <a:spAutoFit/>
          </a:bodyPr>
          <a:lstStyle/>
          <a:p>
            <a:r>
              <a:rPr lang="en-US" dirty="0" err="1"/>
              <a:t>Gereksinimler</a:t>
            </a:r>
            <a:br>
              <a:rPr lang="en-US" dirty="0"/>
            </a:br>
            <a:r>
              <a:rPr lang="en-US" dirty="0" err="1"/>
              <a:t>Bütünlük</a:t>
            </a:r>
            <a:r>
              <a:rPr lang="en-US" dirty="0"/>
              <a:t> </a:t>
            </a:r>
            <a:r>
              <a:rPr lang="en-US" dirty="0" err="1"/>
              <a:t>kontrolü</a:t>
            </a:r>
            <a:br>
              <a:rPr lang="en-US" dirty="0"/>
            </a:br>
            <a:r>
              <a:rPr lang="en-US" dirty="0"/>
              <a:t>V2v </a:t>
            </a:r>
            <a:r>
              <a:rPr lang="en-US" dirty="0" err="1"/>
              <a:t>iletişim</a:t>
            </a:r>
            <a:endParaRPr lang="en-US" dirty="0"/>
          </a:p>
          <a:p>
            <a:r>
              <a:rPr lang="en-US" dirty="0"/>
              <a:t>L3</a:t>
            </a:r>
          </a:p>
        </p:txBody>
      </p:sp>
      <p:sp>
        <p:nvSpPr>
          <p:cNvPr id="19" name="TextBox 18">
            <a:extLst>
              <a:ext uri="{FF2B5EF4-FFF2-40B4-BE49-F238E27FC236}">
                <a16:creationId xmlns:a16="http://schemas.microsoft.com/office/drawing/2014/main" id="{BD2C52BC-BB24-F135-1DA7-0A5513234F5C}"/>
              </a:ext>
            </a:extLst>
          </p:cNvPr>
          <p:cNvSpPr txBox="1"/>
          <p:nvPr/>
        </p:nvSpPr>
        <p:spPr>
          <a:xfrm>
            <a:off x="5118809" y="4622800"/>
            <a:ext cx="1954381" cy="923330"/>
          </a:xfrm>
          <a:prstGeom prst="rect">
            <a:avLst/>
          </a:prstGeom>
          <a:noFill/>
        </p:spPr>
        <p:txBody>
          <a:bodyPr wrap="none" rtlCol="0">
            <a:spAutoFit/>
          </a:bodyPr>
          <a:lstStyle/>
          <a:p>
            <a:r>
              <a:rPr lang="en-US" dirty="0" err="1"/>
              <a:t>Gereksinimler</a:t>
            </a:r>
            <a:br>
              <a:rPr lang="en-US" dirty="0"/>
            </a:br>
            <a:r>
              <a:rPr lang="en-US" dirty="0" err="1"/>
              <a:t>Bütünlük</a:t>
            </a:r>
            <a:r>
              <a:rPr lang="en-US" dirty="0"/>
              <a:t> </a:t>
            </a:r>
            <a:r>
              <a:rPr lang="en-US" dirty="0" err="1"/>
              <a:t>kontrolü</a:t>
            </a:r>
            <a:endParaRPr lang="en-US" dirty="0"/>
          </a:p>
          <a:p>
            <a:r>
              <a:rPr lang="en-US" dirty="0"/>
              <a:t>L3</a:t>
            </a:r>
          </a:p>
        </p:txBody>
      </p:sp>
      <p:sp>
        <p:nvSpPr>
          <p:cNvPr id="21" name="Text Placeholder 20">
            <a:extLst>
              <a:ext uri="{FF2B5EF4-FFF2-40B4-BE49-F238E27FC236}">
                <a16:creationId xmlns:a16="http://schemas.microsoft.com/office/drawing/2014/main" id="{B829300A-3A55-49BD-B886-E727EF2BC3BD}"/>
              </a:ext>
            </a:extLst>
          </p:cNvPr>
          <p:cNvSpPr>
            <a:spLocks noGrp="1"/>
          </p:cNvSpPr>
          <p:nvPr>
            <p:ph type="body" sz="quarter" idx="13"/>
          </p:nvPr>
        </p:nvSpPr>
        <p:spPr>
          <a:xfrm>
            <a:off x="411480" y="1500000"/>
            <a:ext cx="11338560" cy="820000"/>
          </a:xfrm>
        </p:spPr>
        <p:txBody>
          <a:bodyPr/>
          <a:lstStyle/>
          <a:p>
            <a:endParaRPr lang="en-US" dirty="0"/>
            <a:r>
              <a:rPr lang="tr-TR" dirty="0"/>
              <a:t>Üçünün farkı tek soruda: ön trenle aramızdaki mesafeyi ne belirliyor?</a:t>
            </a:r>
          </a:p>
          <a:p>
            <a:endParaRPr lang="en-US" dirty="0"/>
            <a:r>
              <a:rPr lang="tr-TR" dirty="0"/>
              <a:t>Blok sınırı (900 m'lik adımlar)   →   fren mesafesi + 100 m   →   iki fren mesafesinin FARKI + 50 m.   Son adım öndeki trenin de fren yapabileceğini varsayar; bu doğrulanamayan bir güvenlik kabulüdür.   [3][5]</a:t>
            </a:r>
          </a:p>
        </p:txBody>
      </p:sp>
    </p:spTree>
    <p:extLst>
      <p:ext uri="{BB962C8B-B14F-4D97-AF65-F5344CB8AC3E}">
        <p14:creationId xmlns:p14="http://schemas.microsoft.com/office/powerpoint/2010/main" val="425683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B7A9-F84B-37B2-F6A2-ECBDD11357CB}"/>
              </a:ext>
            </a:extLst>
          </p:cNvPr>
          <p:cNvSpPr>
            <a:spLocks noGrp="1"/>
          </p:cNvSpPr>
          <p:nvPr>
            <p:ph type="title"/>
          </p:nvPr>
        </p:nvSpPr>
        <p:spPr/>
        <p:txBody>
          <a:bodyPr/>
          <a:lstStyle/>
          <a:p>
            <a:r>
              <a:rPr lang="en-US" dirty="0" err="1"/>
              <a:t>DEMİRYOLU MODELİ</a:t>
            </a:r>
            <a:endParaRPr lang="en-US" dirty="0"/>
          </a:p>
        </p:txBody>
      </p:sp>
      <p:sp>
        <p:nvSpPr>
          <p:cNvPr id="3" name="Text Placeholder 2">
            <a:extLst>
              <a:ext uri="{FF2B5EF4-FFF2-40B4-BE49-F238E27FC236}">
                <a16:creationId xmlns:a16="http://schemas.microsoft.com/office/drawing/2014/main" id="{6FFFACB4-1568-DFBA-A64F-45D0F9665F13}"/>
              </a:ext>
            </a:extLst>
          </p:cNvPr>
          <p:cNvSpPr>
            <a:spLocks noGrp="1"/>
          </p:cNvSpPr>
          <p:nvPr>
            <p:ph type="body" sz="quarter" idx="13"/>
          </p:nvPr>
        </p:nvSpPr>
        <p:spPr>
          <a:xfrm>
            <a:off x="444277" y="915604"/>
            <a:ext cx="11338560" cy="1713290"/>
          </a:xfrm>
        </p:spPr>
        <p:txBody>
          <a:bodyPr/>
          <a:lstStyle/>
          <a:p>
            <a:r>
              <a:rPr lang="tr-TR" dirty="0"/>
              <a:t>70 km kapalı çevrim   ·   çift hat   ·   11 istasyon   ·   22 duruş/tur</a:t>
            </a:r>
          </a:p>
          <a:p>
            <a:r>
              <a:rPr lang="tr-TR" dirty="0"/>
              <a:t>3.1 km ortalama istasyon aralığı   ·   900 m blok   ·   30 s bekleme</a:t>
            </a:r>
          </a:p>
          <a:p>
            <a:r>
              <a:rPr lang="tr-TR" dirty="0"/>
              <a:t>80 km/h hat hızı (uzunlukla ağırlıklı ortalama 71) — her segment kendi hız, eğim ve blok bilgisini taşır</a:t>
            </a:r>
          </a:p>
          <a:p>
            <a:r>
              <a:rPr lang="tr-TR" dirty="0"/>
              <a:t>Boş turda 79:09 — koşarken 61 km/h, kapıdan kapıya 53 km/h   [4][6]</a:t>
            </a:r>
          </a:p>
        </p:txBody>
      </p:sp>
      <p:pic>
        <p:nvPicPr>
          <p:cNvPr id="5" name="Picture 4">
            <a:extLst>
              <a:ext uri="{FF2B5EF4-FFF2-40B4-BE49-F238E27FC236}">
                <a16:creationId xmlns:a16="http://schemas.microsoft.com/office/drawing/2014/main" id="{9A2CEE2B-1696-52C2-B75B-160B564246F2}"/>
              </a:ext>
            </a:extLst>
          </p:cNvPr>
          <p:cNvPicPr>
            <a:picLocks noChangeAspect="1"/>
          </p:cNvPicPr>
          <p:nvPr/>
        </p:nvPicPr>
        <p:blipFill>
          <a:blip r:embed="rId2"/>
          <a:stretch>
            <a:fillRect/>
          </a:stretch>
        </p:blipFill>
        <p:spPr>
          <a:xfrm>
            <a:off x="-76200" y="2650828"/>
            <a:ext cx="12192000" cy="3846623"/>
          </a:xfrm>
          <a:prstGeom prst="rect">
            <a:avLst/>
          </a:prstGeom>
        </p:spPr>
      </p:pic>
    </p:spTree>
    <p:extLst>
      <p:ext uri="{BB962C8B-B14F-4D97-AF65-F5344CB8AC3E}">
        <p14:creationId xmlns:p14="http://schemas.microsoft.com/office/powerpoint/2010/main" val="1755325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3DD44-FA6C-335B-7369-91F938446FA7}"/>
              </a:ext>
            </a:extLst>
          </p:cNvPr>
          <p:cNvSpPr>
            <a:spLocks noGrp="1"/>
          </p:cNvSpPr>
          <p:nvPr>
            <p:ph type="title"/>
          </p:nvPr>
        </p:nvSpPr>
        <p:spPr/>
        <p:txBody>
          <a:bodyPr/>
          <a:lstStyle/>
          <a:p>
            <a:r>
              <a:rPr lang="en-US" dirty="0"/>
              <a:t>TREN MODELİ — REFERANS ARAÇ</a:t>
            </a:r>
            <a:endParaRPr lang="en-US" dirty="0"/>
          </a:p>
        </p:txBody>
      </p:sp>
      <p:sp>
        <p:nvSpPr>
          <p:cNvPr id="3" name="Text Placeholder 2">
            <a:extLst>
              <a:ext uri="{FF2B5EF4-FFF2-40B4-BE49-F238E27FC236}">
                <a16:creationId xmlns:a16="http://schemas.microsoft.com/office/drawing/2014/main" id="{790FDF56-82D5-917C-286D-10C7115D4598}"/>
              </a:ext>
            </a:extLst>
          </p:cNvPr>
          <p:cNvSpPr>
            <a:spLocks noGrp="1"/>
          </p:cNvSpPr>
          <p:nvPr>
            <p:ph type="body" sz="quarter" idx="13"/>
          </p:nvPr>
        </p:nvSpPr>
        <p:spPr>
          <a:xfrm>
            <a:off x="411480" y="1554480"/>
            <a:ext cx="11338560" cy="4480560"/>
          </a:xfrm>
        </p:spPr>
        <p:txBody>
          <a:bodyPr/>
          <a:lstStyle/>
          <a:p>
            <a:r>
              <a:rPr lang="tr-TR" dirty="0"/>
              <a:t>120 m   ·   216 t   ·   90 km/h   ·   2333 kW  (10.8 kW/t)</a:t>
            </a:r>
          </a:p>
          <a:p>
            <a:r>
              <a:rPr lang="tr-TR" dirty="0"/>
              <a:t>Kalkış 1.0 m/s²   ·   servis freni 1.0 m/s²   ·   acil fren 1.5 m/s²</a:t>
            </a:r>
          </a:p>
          <a:p>
            <a:r>
              <a:rPr lang="tr-TR" dirty="0"/>
              <a:t>Taban hız 36 km/h — altında sabit kuvvet, üstünde sabit güç (P/v)</a:t>
            </a:r>
          </a:p>
          <a:p>
            <a:r>
              <a:rPr lang="tr-TR" dirty="0"/>
              <a:t>Etkin kütle 233 t — dönen parçalar için %8 fazla</a:t>
            </a:r>
          </a:p>
          <a:p>
            <a:r>
              <a:rPr lang="tr-TR" dirty="0"/>
              <a:t>Davis:   R(v) = 1404 + 28.1·v + 3.74·v²      [N,  v m/s]</a:t>
            </a:r>
          </a:p>
          <a:p>
            <a:r>
              <a:rPr lang="tr-TR" dirty="0"/>
              <a:t>Senaryo dosyası bunların hiçbirini yazmıyor: uzunluk ve dört performans değerinden türetiliyor.</a:t>
            </a:r>
          </a:p>
        </p:txBody>
      </p:sp>
    </p:spTree>
    <p:extLst>
      <p:ext uri="{BB962C8B-B14F-4D97-AF65-F5344CB8AC3E}">
        <p14:creationId xmlns:p14="http://schemas.microsoft.com/office/powerpoint/2010/main" val="3825991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BBA49-041E-4086-8375-602C250F98C3}"/>
              </a:ext>
            </a:extLst>
          </p:cNvPr>
          <p:cNvSpPr>
            <a:spLocks noGrp="1"/>
          </p:cNvSpPr>
          <p:nvPr>
            <p:ph type="title"/>
          </p:nvPr>
        </p:nvSpPr>
        <p:spPr/>
        <p:txBody>
          <a:bodyPr/>
          <a:lstStyle/>
          <a:p>
            <a:r>
              <a:rPr lang="en-US" b="0" dirty="0"/>
              <a:t>HAREKET DENKLEMLERİ</a:t>
            </a:r>
            <a:br>
              <a:rPr lang="en-US" dirty="0"/>
            </a:br>
            <a:endParaRPr lang="en-US" dirty="0"/>
          </a:p>
        </p:txBody>
      </p:sp>
      <p:sp>
        <p:nvSpPr>
          <p:cNvPr id="3" name="Text Placeholder 2">
            <a:extLst>
              <a:ext uri="{FF2B5EF4-FFF2-40B4-BE49-F238E27FC236}">
                <a16:creationId xmlns:a16="http://schemas.microsoft.com/office/drawing/2014/main" id="{F7D2BFF2-56A7-E1E3-DBB1-4BAC2BFBC3FB}"/>
              </a:ext>
            </a:extLst>
          </p:cNvPr>
          <p:cNvSpPr>
            <a:spLocks noGrp="1"/>
          </p:cNvSpPr>
          <p:nvPr>
            <p:ph type="body" sz="quarter" idx="13"/>
          </p:nvPr>
        </p:nvSpPr>
        <p:spPr>
          <a:xfrm>
            <a:off x="411480" y="1554480"/>
            <a:ext cx="11338560" cy="4480560"/>
          </a:xfrm>
        </p:spPr>
        <p:txBody>
          <a:bodyPr/>
          <a:lstStyle/>
          <a:p>
            <a:r>
              <a:rPr lang="tr-TR" b="1" dirty="0"/>
              <a:t>HAREKET DENKLEMİ</a:t>
            </a:r>
          </a:p>
          <a:p>
            <a:pPr lvl="1"/>
            <a:r>
              <a:rPr lang="tr-TR" dirty="0"/>
              <a:t>m_eff · a  =  F(v)  −  R(v)  −  m · g · sin(θ)</a:t>
            </a:r>
          </a:p>
          <a:p>
            <a:pPr lvl="1"/>
            <a:r>
              <a:rPr lang="tr-TR" dirty="0"/>
              <a:t>m_eff : etkin kütle. Dönen parçalar da hızlandırılmak zorunda — tekerlek, dişli, rotor. m · 1.08</a:t>
            </a:r>
          </a:p>
          <a:p>
            <a:pPr lvl="1"/>
            <a:r>
              <a:rPr lang="tr-TR" dirty="0"/>
              <a:t>F(v) : çeki kuvveti. Taban hıza kadar sabit, üstünde P/v ile düşer.</a:t>
            </a:r>
          </a:p>
          <a:p>
            <a:pPr lvl="1"/>
            <a:r>
              <a:rPr lang="tr-TR" dirty="0"/>
              <a:t>R(v) : yuvarlanma direnci.        m·g·sin(θ) : eğim bileşeni.</a:t>
            </a:r>
          </a:p>
          <a:p>
            <a:r>
              <a:rPr lang="tr-TR" b="1" dirty="0"/>
              <a:t>DİRENÇ — DAVIS DENKLEMİ</a:t>
            </a:r>
          </a:p>
          <a:p>
            <a:pPr lvl="1"/>
            <a:r>
              <a:rPr lang="tr-TR" dirty="0"/>
              <a:t>R(v)  =  A  +  B·v  +  C·v²          [N,  v m/s cinsinden]</a:t>
            </a:r>
          </a:p>
          <a:p>
            <a:pPr lvl="1"/>
            <a:r>
              <a:rPr lang="tr-TR" dirty="0"/>
              <a:t>A : yatak ve yuvarlanma direnci, hızdan neredeyse bağımsız — kütleyle ölçeklenir.</a:t>
            </a:r>
          </a:p>
          <a:p>
            <a:pPr lvl="1"/>
            <a:r>
              <a:rPr lang="tr-TR" dirty="0"/>
              <a:t>B : flanş ve ray teması, hızla doğrusal — kütleyle ölçeklenir.</a:t>
            </a:r>
          </a:p>
          <a:p>
            <a:pPr lvl="1"/>
            <a:r>
              <a:rPr lang="tr-TR" dirty="0"/>
              <a:t>C : aerodinamik direnç — kütleyle değil, trenin uzunluğuyla ölçeklenir.</a:t>
            </a:r>
          </a:p>
        </p:txBody>
      </p:sp>
    </p:spTree>
    <p:extLst>
      <p:ext uri="{BB962C8B-B14F-4D97-AF65-F5344CB8AC3E}">
        <p14:creationId xmlns:p14="http://schemas.microsoft.com/office/powerpoint/2010/main" val="605574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0B7A9-F84B-37B2-F6A2-ECBDD11357CB}"/>
              </a:ext>
            </a:extLst>
          </p:cNvPr>
          <p:cNvSpPr>
            <a:spLocks noGrp="1"/>
          </p:cNvSpPr>
          <p:nvPr>
            <p:ph type="title"/>
          </p:nvPr>
        </p:nvSpPr>
        <p:spPr/>
        <p:txBody>
          <a:bodyPr/>
          <a:lstStyle/>
          <a:p>
            <a:r>
              <a:rPr lang="en-US" dirty="0" err="1"/>
              <a:t>HAREKET EĞRİLERİ</a:t>
            </a:r>
            <a:endParaRPr lang="en-US" dirty="0"/>
          </a:p>
        </p:txBody>
      </p:sp>
      <p:sp>
        <p:nvSpPr>
          <p:cNvPr id="3" name="Text Placeholder 2">
            <a:extLst>
              <a:ext uri="{FF2B5EF4-FFF2-40B4-BE49-F238E27FC236}">
                <a16:creationId xmlns:a16="http://schemas.microsoft.com/office/drawing/2014/main" id="{6FFFACB4-1568-DFBA-A64F-45D0F9665F13}"/>
              </a:ext>
            </a:extLst>
          </p:cNvPr>
          <p:cNvSpPr>
            <a:spLocks noGrp="1"/>
          </p:cNvSpPr>
          <p:nvPr>
            <p:ph type="body" sz="quarter" idx="13"/>
          </p:nvPr>
        </p:nvSpPr>
        <p:spPr>
          <a:xfrm>
            <a:off x="444277" y="915604"/>
            <a:ext cx="11338560" cy="1713290"/>
          </a:xfrm>
        </p:spPr>
        <p:txBody>
          <a:bodyPr/>
          <a:lstStyle/>
          <a:p>
            <a:r>
              <a:rPr lang="tr-TR" dirty="0"/>
              <a:t>Sol eğri bir fren mesafesi değil: 80 km/h'te   44 + 22 + 247 + 25 = 339 m.</a:t>
            </a:r>
          </a:p>
          <a:p>
            <a:r>
              <a:rPr lang="tr-TR" dirty="0"/>
              <a:t>Her nokta simülatörün kendi fonksiyonundan, jerk sınırı dahil — sert köşe yok, çünkü gerçek trende de yok.</a:t>
            </a:r>
          </a:p>
        </p:txBody>
      </p:sp>
      <p:pic>
        <p:nvPicPr>
          <p:cNvPr id="5" name="Picture 4">
            <a:extLst>
              <a:ext uri="{FF2B5EF4-FFF2-40B4-BE49-F238E27FC236}">
                <a16:creationId xmlns:a16="http://schemas.microsoft.com/office/drawing/2014/main" id="{9A2CEE2B-1696-52C2-B75B-160B564246F2}"/>
              </a:ext>
            </a:extLst>
          </p:cNvPr>
          <p:cNvPicPr>
            <a:picLocks noChangeAspect="1"/>
          </p:cNvPicPr>
          <p:nvPr/>
        </p:nvPicPr>
        <p:blipFill>
          <a:blip r:embed="rId2"/>
          <a:stretch>
            <a:fillRect/>
          </a:stretch>
        </p:blipFill>
        <p:spPr>
          <a:xfrm>
            <a:off x="473569" y="2718330"/>
            <a:ext cx="11214381" cy="3313339"/>
          </a:xfrm>
          <a:prstGeom prst="rect">
            <a:avLst/>
          </a:prstGeom>
        </p:spPr>
      </p:pic>
    </p:spTree>
    <p:extLst>
      <p:ext uri="{BB962C8B-B14F-4D97-AF65-F5344CB8AC3E}">
        <p14:creationId xmlns:p14="http://schemas.microsoft.com/office/powerpoint/2010/main" val="1755325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BBA49-041E-4086-8375-602C250F98C3}"/>
              </a:ext>
            </a:extLst>
          </p:cNvPr>
          <p:cNvSpPr>
            <a:spLocks noGrp="1"/>
          </p:cNvSpPr>
          <p:nvPr>
            <p:ph type="title"/>
          </p:nvPr>
        </p:nvSpPr>
        <p:spPr/>
        <p:txBody>
          <a:bodyPr/>
          <a:lstStyle/>
          <a:p>
            <a:r>
              <a:rPr lang="en-US" b="0" dirty="0"/>
              <a:t>KABULLER VE SİMÜLASYON KOŞULLARI</a:t>
            </a:r>
            <a:br>
              <a:rPr lang="en-US" dirty="0"/>
            </a:br>
            <a:endParaRPr lang="en-US" dirty="0"/>
          </a:p>
        </p:txBody>
      </p:sp>
      <p:sp>
        <p:nvSpPr>
          <p:cNvPr id="3" name="Text Placeholder 2">
            <a:extLst>
              <a:ext uri="{FF2B5EF4-FFF2-40B4-BE49-F238E27FC236}">
                <a16:creationId xmlns:a16="http://schemas.microsoft.com/office/drawing/2014/main" id="{F7D2BFF2-56A7-E1E3-DBB1-4BAC2BFBC3FB}"/>
              </a:ext>
            </a:extLst>
          </p:cNvPr>
          <p:cNvSpPr>
            <a:spLocks noGrp="1"/>
          </p:cNvSpPr>
          <p:nvPr>
            <p:ph type="body" sz="quarter" idx="13"/>
          </p:nvPr>
        </p:nvSpPr>
        <p:spPr>
          <a:xfrm>
            <a:off x="411480" y="1554480"/>
            <a:ext cx="11338560" cy="4480560"/>
          </a:xfrm>
        </p:spPr>
        <p:txBody>
          <a:bodyPr/>
          <a:lstStyle/>
          <a:p>
            <a:r>
              <a:rPr lang="tr-TR" b="1" dirty="0"/>
              <a:t>MODEL</a:t>
            </a:r>
          </a:p>
          <a:p>
            <a:pPr lvl="1"/>
            <a:r>
              <a:rPr lang="tr-TR" dirty="0"/>
              <a:t>Tek boyutlu hareket — konum tek bir skaler, geri kalan her şey ondan türer</a:t>
            </a:r>
          </a:p>
          <a:p>
            <a:pPr lvl="1"/>
            <a:r>
              <a:rPr lang="tr-TR" dirty="0"/>
              <a:t>Fren eğrisi Davis direncini saymaz — hata emniyetli yönde</a:t>
            </a:r>
          </a:p>
          <a:p>
            <a:pPr lvl="1"/>
            <a:r>
              <a:rPr lang="tr-TR" dirty="0"/>
              <a:t>Jerk sınırı 0.5 m/s² başına saniye — ne çeki ne fren anında oluşur</a:t>
            </a:r>
          </a:p>
          <a:p>
            <a:r>
              <a:rPr lang="tr-TR" b="1" dirty="0"/>
              <a:t>SÜRÜCÜ</a:t>
            </a:r>
          </a:p>
          <a:p>
            <a:pPr lvl="1"/>
            <a:r>
              <a:rPr lang="tr-TR" dirty="0"/>
              <a:t>İzin verilen her metreyi kullanır, hız sınırını aşmaz, geciktiğinde telafi etmeye çalışır</a:t>
            </a:r>
          </a:p>
          <a:p>
            <a:pPr lvl="1"/>
            <a:r>
              <a:rPr lang="tr-TR" dirty="0"/>
              <a:t>Tepki süresi: hat kenarı sinyalde 2.0 s, kabin sinyalizasyonunda 0 s</a:t>
            </a:r>
          </a:p>
          <a:p>
            <a:pPr lvl="1"/>
            <a:r>
              <a:rPr lang="tr-TR" dirty="0"/>
              <a:t>Tehlike noktasından 25 m önce durur — sistemin kendi payına ek olarak</a:t>
            </a:r>
          </a:p>
          <a:p>
            <a:r>
              <a:rPr lang="tr-TR" b="1" dirty="0"/>
              <a:t>KOŞULLAR</a:t>
            </a:r>
          </a:p>
          <a:p>
            <a:pPr lvl="1"/>
            <a:r>
              <a:rPr lang="tr-TR" dirty="0"/>
              <a:t>dt = 1.0 s — bütün sonuçlar dt = 0.5 s ile tekrar koşularak doğrulandı</a:t>
            </a:r>
          </a:p>
          <a:p>
            <a:pPr lvl="1"/>
            <a:r>
              <a:rPr lang="tr-TR" dirty="0"/>
              <a:t>12 servis   ·   22 duruş/tur   ·   30 s bekleme</a:t>
            </a:r>
          </a:p>
        </p:txBody>
      </p:sp>
    </p:spTree>
    <p:extLst>
      <p:ext uri="{BB962C8B-B14F-4D97-AF65-F5344CB8AC3E}">
        <p14:creationId xmlns:p14="http://schemas.microsoft.com/office/powerpoint/2010/main" val="6055742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DA32-9D7C-48E0-B063-CC1A4B8D2A66}"/>
              </a:ext>
            </a:extLst>
          </p:cNvPr>
          <p:cNvSpPr>
            <a:spLocks noGrp="1"/>
          </p:cNvSpPr>
          <p:nvPr>
            <p:ph type="title"/>
          </p:nvPr>
        </p:nvSpPr>
        <p:spPr/>
        <p:txBody>
          <a:bodyPr/>
          <a:lstStyle/>
          <a:p>
            <a:r>
              <a:rPr lang="en-US" dirty="0"/>
              <a:t>EXPRESS ROTA</a:t>
            </a:r>
          </a:p>
        </p:txBody>
      </p:sp>
      <p:sp>
        <p:nvSpPr>
          <p:cNvPr id="3" name="Text Placeholder 2">
            <a:extLst>
              <a:ext uri="{FF2B5EF4-FFF2-40B4-BE49-F238E27FC236}">
                <a16:creationId xmlns:a16="http://schemas.microsoft.com/office/drawing/2014/main" id="{67366213-77AB-9F47-59BC-88694E73B2B8}"/>
              </a:ext>
            </a:extLst>
          </p:cNvPr>
          <p:cNvSpPr>
            <a:spLocks noGrp="1"/>
          </p:cNvSpPr>
          <p:nvPr>
            <p:ph type="body" sz="quarter" idx="13"/>
          </p:nvPr>
        </p:nvSpPr>
        <p:spPr>
          <a:xfrm>
            <a:off x="411480" y="1463040"/>
            <a:ext cx="11338560" cy="548640"/>
          </a:xfrm>
        </p:spPr>
        <p:txBody>
          <a:bodyPr/>
          <a:lstStyle/>
          <a:p>
            <a:r>
              <a:rPr lang="tr-TR" dirty="0"/>
              <a:t>Duraksız tur — peron kısıtı yok, bağlayıcı olan tek şey trenler arası mesafe.</a:t>
            </a:r>
          </a:p>
        </p:txBody>
      </p:sp>
      <p:sp>
        <p:nvSpPr>
          <p:cNvPr id="202" name="Not 202"/>
          <p:cNvSpPr txBox="1"/>
          <p:nvPr/>
        </p:nvSpPr>
        <p:spPr>
          <a:xfrm>
            <a:off x="411480" y="5250000"/>
            <a:ext cx="11338560" cy="822960"/>
          </a:xfrm>
          <a:prstGeom prst="rect">
            <a:avLst/>
          </a:prstGeom>
          <a:noFill/>
        </p:spPr>
        <p:txBody>
          <a:bodyPr wrap="square" lIns="0" tIns="0" rIns="0" bIns="0">
            <a:normAutofit/>
          </a:bodyPr>
          <a:lstStyle/>
          <a:p>
            <a:r>
              <a:rPr lang="tr-TR" sz="1400" i="1" dirty="0">
                <a:solidFill>
                  <a:srgbClr val="5B6478"/>
                </a:solidFill>
                <a:latin typeface="Calibri"/>
              </a:rPr>
              <a:t>Sabit blok 139 s   →   hareketli blok 39 s   →   sanal kuplaj 32 s.   Aradaki büyük fark blok uzunluğunun kendisi.</a:t>
            </a:r>
          </a:p>
        </p:txBody>
      </p:sp>
      <p:pic>
        <p:nvPicPr>
          <p:cNvPr id="203" name="Grafik"/>
          <p:cNvPicPr>
            <a:picLocks noChangeAspect="1"/>
          </p:cNvPicPr>
          <p:nvPr/>
        </p:nvPicPr>
        <p:blipFill>
          <a:blip r:embed="rId3"/>
          <a:stretch>
            <a:fillRect/>
          </a:stretch>
        </p:blipFill>
        <p:spPr>
          <a:xfrm>
            <a:off x="744525" y="2060000"/>
            <a:ext cx="10672470" cy="3049999"/>
          </a:xfrm>
          <a:prstGeom prst="rect">
            <a:avLst/>
          </a:prstGeom>
        </p:spPr>
      </p:pic>
    </p:spTree>
    <p:extLst>
      <p:ext uri="{BB962C8B-B14F-4D97-AF65-F5344CB8AC3E}">
        <p14:creationId xmlns:p14="http://schemas.microsoft.com/office/powerpoint/2010/main" val="1523495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CB793-14AB-F568-A32F-5645D6ACA969}"/>
              </a:ext>
            </a:extLst>
          </p:cNvPr>
          <p:cNvSpPr>
            <a:spLocks noGrp="1"/>
          </p:cNvSpPr>
          <p:nvPr>
            <p:ph type="title"/>
          </p:nvPr>
        </p:nvSpPr>
        <p:spPr/>
        <p:txBody>
          <a:bodyPr/>
          <a:lstStyle/>
          <a:p>
            <a:r>
              <a:rPr lang="en-US" dirty="0"/>
              <a:t>DURAKLAMALI ROTA</a:t>
            </a:r>
          </a:p>
        </p:txBody>
      </p:sp>
      <p:sp>
        <p:nvSpPr>
          <p:cNvPr id="3" name="Text Placeholder 2">
            <a:extLst>
              <a:ext uri="{FF2B5EF4-FFF2-40B4-BE49-F238E27FC236}">
                <a16:creationId xmlns:a16="http://schemas.microsoft.com/office/drawing/2014/main" id="{9805FF9A-EB0F-494A-8CB2-3A8FEDFF936A}"/>
              </a:ext>
            </a:extLst>
          </p:cNvPr>
          <p:cNvSpPr>
            <a:spLocks noGrp="1"/>
          </p:cNvSpPr>
          <p:nvPr>
            <p:ph type="body" sz="quarter" idx="13"/>
          </p:nvPr>
        </p:nvSpPr>
        <p:spPr>
          <a:xfrm>
            <a:off x="411480" y="1463040"/>
            <a:ext cx="11338560" cy="548640"/>
          </a:xfrm>
        </p:spPr>
        <p:txBody>
          <a:bodyPr/>
          <a:lstStyle/>
          <a:p>
            <a:r>
              <a:rPr lang="tr-TR" dirty="0"/>
              <a:t>22 duruşlu tur — bağlayıcı kısıt artık sinyalizasyon değil, peron işgali.</a:t>
            </a:r>
          </a:p>
        </p:txBody>
      </p:sp>
      <p:sp>
        <p:nvSpPr>
          <p:cNvPr id="203" name="Not 203"/>
          <p:cNvSpPr txBox="1"/>
          <p:nvPr/>
        </p:nvSpPr>
        <p:spPr>
          <a:xfrm>
            <a:off x="411480" y="5250000"/>
            <a:ext cx="11338560" cy="822960"/>
          </a:xfrm>
          <a:prstGeom prst="rect">
            <a:avLst/>
          </a:prstGeom>
          <a:noFill/>
        </p:spPr>
        <p:txBody>
          <a:bodyPr wrap="square" lIns="0" tIns="0" rIns="0" bIns="0">
            <a:normAutofit/>
          </a:bodyPr>
          <a:lstStyle/>
          <a:p>
            <a:r>
              <a:rPr lang="tr-TR" sz="1400" i="1" dirty="0">
                <a:solidFill>
                  <a:srgbClr val="5B6478"/>
                </a:solidFill>
                <a:latin typeface="Calibri"/>
              </a:rPr>
              <a:t>Sabit blok 148 s   →   hareketli blok 78 s   →   sanal kuplaj 71 s.   Fark 7 s, yani %9 — express hattaki %18'in yarısı.</a:t>
            </a:r>
          </a:p>
        </p:txBody>
      </p:sp>
      <p:pic>
        <p:nvPicPr>
          <p:cNvPr id="204" name="Grafik"/>
          <p:cNvPicPr>
            <a:picLocks noChangeAspect="1"/>
          </p:cNvPicPr>
          <p:nvPr/>
        </p:nvPicPr>
        <p:blipFill>
          <a:blip r:embed="rId3"/>
          <a:stretch>
            <a:fillRect/>
          </a:stretch>
        </p:blipFill>
        <p:spPr>
          <a:xfrm>
            <a:off x="744525" y="2060000"/>
            <a:ext cx="10672470" cy="3049999"/>
          </a:xfrm>
          <a:prstGeom prst="rect">
            <a:avLst/>
          </a:prstGeom>
        </p:spPr>
      </p:pic>
    </p:spTree>
    <p:extLst>
      <p:ext uri="{BB962C8B-B14F-4D97-AF65-F5344CB8AC3E}">
        <p14:creationId xmlns:p14="http://schemas.microsoft.com/office/powerpoint/2010/main" val="265175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5F1BA-B50D-4FA0-1E12-C910A798D243}"/>
              </a:ext>
            </a:extLst>
          </p:cNvPr>
          <p:cNvSpPr>
            <a:spLocks noGrp="1"/>
          </p:cNvSpPr>
          <p:nvPr>
            <p:ph type="title"/>
          </p:nvPr>
        </p:nvSpPr>
        <p:spPr/>
        <p:txBody>
          <a:bodyPr/>
          <a:lstStyle/>
          <a:p>
            <a:r>
              <a:rPr lang="en-US" dirty="0"/>
              <a:t>BOZUCU ETKİLERE TEPKİ</a:t>
            </a:r>
          </a:p>
        </p:txBody>
      </p:sp>
      <p:sp>
        <p:nvSpPr>
          <p:cNvPr id="3" name="Text Placeholder 2">
            <a:extLst>
              <a:ext uri="{FF2B5EF4-FFF2-40B4-BE49-F238E27FC236}">
                <a16:creationId xmlns:a16="http://schemas.microsoft.com/office/drawing/2014/main" id="{EAB6E82C-AFE1-FC1E-3B25-E4C8086E1CB8}"/>
              </a:ext>
            </a:extLst>
          </p:cNvPr>
          <p:cNvSpPr>
            <a:spLocks noGrp="1"/>
          </p:cNvSpPr>
          <p:nvPr>
            <p:ph type="body" sz="quarter" idx="13"/>
          </p:nvPr>
        </p:nvSpPr>
        <p:spPr>
          <a:xfrm>
            <a:off x="411480" y="1554480"/>
            <a:ext cx="11338560" cy="4480560"/>
          </a:xfrm>
        </p:spPr>
        <p:txBody>
          <a:bodyPr/>
          <a:lstStyle/>
          <a:p>
            <a:r>
              <a:rPr lang="tr-TR" dirty="0"/>
              <a:t>Aynı kapı arızası, iki farklı okuma: aynı tarifede, ve her sistem kendi tüm-yeşil sınırında.</a:t>
            </a:r>
          </a:p>
          <a:p>
            <a:r>
              <a:rPr lang="tr-TR" dirty="0"/>
              <a:t>Kazanç sistemin kendisinden değil, elinde kalan paydan geliyor.</a:t>
            </a:r>
          </a:p>
        </p:txBody>
      </p:sp>
      <p:pic>
        <p:nvPicPr>
          <p:cNvPr id="4" name="Bozucu etki grafiği"/>
          <p:cNvPicPr>
            <a:picLocks noChangeAspect="1"/>
          </p:cNvPicPr>
          <p:nvPr/>
        </p:nvPicPr>
        <p:blipFill>
          <a:blip r:embed="rId3"/>
          <a:stretch>
            <a:fillRect/>
          </a:stretch>
        </p:blipFill>
        <p:spPr>
          <a:xfrm>
            <a:off x="1224238" y="2380000"/>
            <a:ext cx="9713043" cy="3300000"/>
          </a:xfrm>
          <a:prstGeom prst="rect">
            <a:avLst/>
          </a:prstGeom>
        </p:spPr>
      </p:pic>
    </p:spTree>
    <p:extLst>
      <p:ext uri="{BB962C8B-B14F-4D97-AF65-F5344CB8AC3E}">
        <p14:creationId xmlns:p14="http://schemas.microsoft.com/office/powerpoint/2010/main" val="2821810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1C50-7279-B932-5A8B-B9F31FADBF91}"/>
              </a:ext>
            </a:extLst>
          </p:cNvPr>
          <p:cNvSpPr>
            <a:spLocks noGrp="1"/>
          </p:cNvSpPr>
          <p:nvPr>
            <p:ph type="title"/>
          </p:nvPr>
        </p:nvSpPr>
        <p:spPr/>
        <p:txBody>
          <a:bodyPr/>
          <a:lstStyle/>
          <a:p>
            <a:r>
              <a:rPr lang="en-US" dirty="0"/>
              <a:t>KONVOY TEŞVİKİ</a:t>
            </a:r>
          </a:p>
        </p:txBody>
      </p:sp>
      <p:sp>
        <p:nvSpPr>
          <p:cNvPr id="3" name="Text Placeholder 2">
            <a:extLst>
              <a:ext uri="{FF2B5EF4-FFF2-40B4-BE49-F238E27FC236}">
                <a16:creationId xmlns:a16="http://schemas.microsoft.com/office/drawing/2014/main" id="{546D0D9C-DE6C-DA93-D4B4-5B95C96A783D}"/>
              </a:ext>
            </a:extLst>
          </p:cNvPr>
          <p:cNvSpPr>
            <a:spLocks noGrp="1"/>
          </p:cNvSpPr>
          <p:nvPr>
            <p:ph type="body" sz="quarter" idx="13"/>
          </p:nvPr>
        </p:nvSpPr>
        <p:spPr>
          <a:xfrm>
            <a:off x="411480" y="1920240"/>
            <a:ext cx="11338560" cy="4114800"/>
          </a:xfrm>
        </p:spPr>
        <p:txBody>
          <a:bodyPr/>
          <a:lstStyle/>
          <a:p>
            <a:r>
              <a:rPr lang="tr-TR" dirty="0"/>
              <a:t>Kural: 70 km/h ile sınırlı; yalnızca öndekine yaklaşırken hat hızına serbest bırakılıyor.</a:t>
            </a:r>
          </a:p>
          <a:p>
            <a:r>
              <a:rPr lang="tr-TR" dirty="0"/>
              <a:t>Sinyalizasyonun bağladığı yerde güçlü, peronun bağladığı yerde zayıf.</a:t>
            </a:r>
          </a:p>
        </p:txBody>
      </p:sp>
      <p:pic>
        <p:nvPicPr>
          <p:cNvPr id="4" name="Chart"/>
          <p:cNvPicPr>
            <a:picLocks noChangeAspect="1"/>
          </p:cNvPicPr>
          <p:nvPr/>
        </p:nvPicPr>
        <p:blipFill>
          <a:blip r:embed="rId2"/>
          <a:stretch>
            <a:fillRect/>
          </a:stretch>
        </p:blipFill>
        <p:spPr>
          <a:xfrm>
            <a:off x="1776750" y="2700000"/>
            <a:ext cx="8608020" cy="2980000"/>
          </a:xfrm>
          <a:prstGeom prst="rect">
            <a:avLst/>
          </a:prstGeom>
        </p:spPr>
      </p:pic>
    </p:spTree>
    <p:extLst>
      <p:ext uri="{BB962C8B-B14F-4D97-AF65-F5344CB8AC3E}">
        <p14:creationId xmlns:p14="http://schemas.microsoft.com/office/powerpoint/2010/main" val="2203774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5581A-5EE1-B669-4160-F6E89C531053}"/>
              </a:ext>
            </a:extLst>
          </p:cNvPr>
          <p:cNvSpPr>
            <a:spLocks noGrp="1"/>
          </p:cNvSpPr>
          <p:nvPr>
            <p:ph type="title"/>
          </p:nvPr>
        </p:nvSpPr>
        <p:spPr/>
        <p:txBody>
          <a:bodyPr/>
          <a:lstStyle/>
          <a:p>
            <a:r>
              <a:rPr lang="en-US" dirty="0"/>
              <a:t>SANAL KUPLAJ NEREDE KAZANDIRIR</a:t>
            </a:r>
          </a:p>
        </p:txBody>
      </p:sp>
      <p:sp>
        <p:nvSpPr>
          <p:cNvPr id="3" name="Text Placeholder 2">
            <a:extLst>
              <a:ext uri="{FF2B5EF4-FFF2-40B4-BE49-F238E27FC236}">
                <a16:creationId xmlns:a16="http://schemas.microsoft.com/office/drawing/2014/main" id="{9EEBA305-9B08-AAF7-DDF3-FA4A17F1EB69}"/>
              </a:ext>
            </a:extLst>
          </p:cNvPr>
          <p:cNvSpPr>
            <a:spLocks noGrp="1"/>
          </p:cNvSpPr>
          <p:nvPr>
            <p:ph type="body" sz="quarter" idx="13"/>
          </p:nvPr>
        </p:nvSpPr>
        <p:spPr>
          <a:xfrm>
            <a:off x="411480" y="1920240"/>
            <a:ext cx="11338560" cy="4114800"/>
          </a:xfrm>
        </p:spPr>
        <p:txBody>
          <a:bodyPr/>
          <a:lstStyle/>
          <a:p>
            <a:r>
              <a:rPr lang="tr-TR" dirty="0"/>
              <a:t>KAZANDIRIYOR</a:t>
            </a:r>
          </a:p>
          <a:p>
            <a:pPr lvl="1"/>
            <a:r>
              <a:rPr lang="tr-TR" dirty="0"/>
              <a:t>Duraksız, hızlı işletme:   39 s → 32 s   (%18)</a:t>
            </a:r>
          </a:p>
          <a:p>
            <a:pPr lvl="1"/>
            <a:r>
              <a:rPr lang="tr-TR" dirty="0"/>
              <a:t>Konvoy teşvikiyle birlikte:   25 s → 17 s   (%32)</a:t>
            </a:r>
          </a:p>
          <a:p>
            <a:pPr lvl="1"/>
            <a:r>
              <a:rPr lang="tr-TR" dirty="0"/>
              <a:t>Aynı tarifede bozucu etkiye karşı:   %16 daha az yayılan gecikme</a:t>
            </a:r>
          </a:p>
          <a:p>
            <a:r>
              <a:rPr lang="tr-TR" dirty="0"/>
              <a:t>KAZANDIRMIYOR</a:t>
            </a:r>
          </a:p>
          <a:p>
            <a:pPr lvl="1"/>
            <a:r>
              <a:rPr lang="tr-TR" dirty="0"/>
              <a:t>Duraklamalı işletme:   78 s → 71 s   (%9) — kısıt peron, ve bir peron takip mesafesi değildir</a:t>
            </a:r>
          </a:p>
          <a:p>
            <a:pPr lvl="1"/>
            <a:r>
              <a:rPr lang="tr-TR" dirty="0"/>
              <a:t>Kendi sınırında koşarken bozucu etkiye karşı:   %0.6</a:t>
            </a:r>
          </a:p>
          <a:p>
            <a:pPr lvl="1"/>
            <a:r>
              <a:rPr lang="tr-TR" dirty="0"/>
              <a:t>Sabit bloğa karşı fark devasa (148 s → 71 s), ama bu sanal kuplajın değil hareketli bloğun kazancı</a:t>
            </a:r>
          </a:p>
        </p:txBody>
      </p:sp>
    </p:spTree>
    <p:extLst>
      <p:ext uri="{BB962C8B-B14F-4D97-AF65-F5344CB8AC3E}">
        <p14:creationId xmlns:p14="http://schemas.microsoft.com/office/powerpoint/2010/main" val="468788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2CAF-3293-D8EF-F148-7E38DAEB627B}"/>
              </a:ext>
            </a:extLst>
          </p:cNvPr>
          <p:cNvSpPr>
            <a:spLocks noGrp="1"/>
          </p:cNvSpPr>
          <p:nvPr>
            <p:ph type="title"/>
          </p:nvPr>
        </p:nvSpPr>
        <p:spPr/>
        <p:txBody>
          <a:bodyPr/>
          <a:lstStyle/>
          <a:p>
            <a:r>
              <a:rPr lang="en-US" b="0" dirty="0"/>
              <a:t>KAYNAKLAR</a:t>
            </a:r>
            <a:br>
              <a:rPr lang="en-US" dirty="0"/>
            </a:br>
            <a:endParaRPr lang="en-US" dirty="0"/>
          </a:p>
        </p:txBody>
      </p:sp>
      <p:sp>
        <p:nvSpPr>
          <p:cNvPr id="3" name="Text Placeholder 2">
            <a:extLst>
              <a:ext uri="{FF2B5EF4-FFF2-40B4-BE49-F238E27FC236}">
                <a16:creationId xmlns:a16="http://schemas.microsoft.com/office/drawing/2014/main" id="{9D65E0A4-E215-4B12-17B1-EEC3373CE389}"/>
              </a:ext>
            </a:extLst>
          </p:cNvPr>
          <p:cNvSpPr>
            <a:spLocks noGrp="1"/>
          </p:cNvSpPr>
          <p:nvPr>
            <p:ph type="body" sz="quarter" idx="13"/>
          </p:nvPr>
        </p:nvSpPr>
        <p:spPr>
          <a:xfrm>
            <a:off x="411480" y="1463040"/>
            <a:ext cx="11338560" cy="4663440"/>
          </a:xfrm>
        </p:spPr>
        <p:txBody>
          <a:bodyPr/>
          <a:lstStyle/>
          <a:p>
            <a:pPr marL="342900" indent="-342900">
              <a:spcBef>
                <a:spcPts val="500"/>
              </a:spcBef>
              <a:buNone/>
            </a:pPr>
            <a:r>
              <a:rPr lang="tr-TR" sz="1150" dirty="0">
                <a:solidFill>
                  <a:srgbClr val="1D2A4D"/>
                </a:solidFill>
                <a:latin typeface="Calibri"/>
              </a:rPr>
              <a:t>[1]  Quaglietta, E., Wang, M., Goverde, R.M.P. (2020). A multi-state train-following model for the analysis of virtual coupling railway operations. Journal of Rail Transport Planning &amp; Management, 15, 100195. doi:10.1016/j.jrtpm.2020.100195</a:t>
            </a:r>
          </a:p>
          <a:p>
            <a:pPr marL="342900" indent="-342900">
              <a:spcBef>
                <a:spcPts val="500"/>
              </a:spcBef>
              <a:buNone/>
            </a:pPr>
            <a:r>
              <a:rPr lang="tr-TR" sz="1150" dirty="0">
                <a:solidFill>
                  <a:srgbClr val="1D2A4D"/>
                </a:solidFill>
                <a:latin typeface="Calibri"/>
              </a:rPr>
              <a:t>[2]  Aoun, J., Quaglietta, E., Goverde, R.M.P., Scheidt, M., Blumenfeld, M., Jack, A., Redfern, B. (2021). A hybrid Delphi-AHP multi-criteria analysis of Moving Block and Virtual Coupling railway signalling. Transportation Research Part C, 129, 103250. doi:10.1016/j.trc.2021.103250</a:t>
            </a:r>
          </a:p>
          <a:p>
            <a:pPr marL="342900" indent="-342900">
              <a:spcBef>
                <a:spcPts val="500"/>
              </a:spcBef>
              <a:buNone/>
            </a:pPr>
            <a:r>
              <a:rPr lang="tr-TR" sz="1150" dirty="0">
                <a:solidFill>
                  <a:srgbClr val="1D2A4D"/>
                </a:solidFill>
                <a:latin typeface="Calibri"/>
              </a:rPr>
              <a:t>[3]  UNISIG (2016). ERTMS/ETCS System Requirements Specification, Subset-026, version 3.6.0.</a:t>
            </a:r>
          </a:p>
          <a:p>
            <a:pPr marL="342900" indent="-342900">
              <a:spcBef>
                <a:spcPts val="500"/>
              </a:spcBef>
              <a:buNone/>
            </a:pPr>
            <a:r>
              <a:rPr lang="tr-TR" sz="1150" dirty="0">
                <a:solidFill>
                  <a:srgbClr val="1D2A4D"/>
                </a:solidFill>
                <a:latin typeface="Calibri"/>
              </a:rPr>
              <a:t>[4]  Hansen, I.A., Pachl, J. (Ed.) (2014). Railway Timetabling and Operations. Eurailpress, Hamburg.</a:t>
            </a:r>
          </a:p>
          <a:p>
            <a:pPr marL="342900" indent="-342900">
              <a:spcBef>
                <a:spcPts val="500"/>
              </a:spcBef>
              <a:buNone/>
            </a:pPr>
            <a:r>
              <a:rPr lang="tr-TR" sz="1150" dirty="0">
                <a:solidFill>
                  <a:srgbClr val="1D2A4D"/>
                </a:solidFill>
                <a:latin typeface="Calibri"/>
              </a:rPr>
              <a:t>[5]  Theeg, G., Vlasenko, S. (Ed.) (2009). Railway Signalling and Interlocking: International Compendium. Eurailpress, Hamburg.</a:t>
            </a:r>
          </a:p>
          <a:p>
            <a:pPr marL="342900" indent="-342900">
              <a:spcBef>
                <a:spcPts val="500"/>
              </a:spcBef>
              <a:buNone/>
            </a:pPr>
            <a:r>
              <a:rPr lang="tr-TR" sz="1150" dirty="0">
                <a:solidFill>
                  <a:srgbClr val="1D2A4D"/>
                </a:solidFill>
                <a:latin typeface="Calibri"/>
              </a:rPr>
              <a:t>[6]  UIC (2013). UIC Code 406: Capacity, 2nd edition. International Union of Railways, Paris.</a:t>
            </a:r>
          </a:p>
        </p:txBody>
      </p:sp>
    </p:spTree>
    <p:extLst>
      <p:ext uri="{BB962C8B-B14F-4D97-AF65-F5344CB8AC3E}">
        <p14:creationId xmlns:p14="http://schemas.microsoft.com/office/powerpoint/2010/main" val="1711816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10">
            <a:extLst>
              <a:ext uri="{FF2B5EF4-FFF2-40B4-BE49-F238E27FC236}">
                <a16:creationId xmlns:a16="http://schemas.microsoft.com/office/drawing/2014/main" id="{A60DAAB4-D7C7-4D39-B5C0-C991D9698E89}"/>
              </a:ext>
            </a:extLst>
          </p:cNvPr>
          <p:cNvSpPr txBox="1"/>
          <p:nvPr/>
        </p:nvSpPr>
        <p:spPr>
          <a:xfrm>
            <a:off x="3196311" y="2004552"/>
            <a:ext cx="5799378" cy="2660964"/>
          </a:xfrm>
          <a:prstGeom prst="rect">
            <a:avLst/>
          </a:prstGeom>
          <a:noFill/>
        </p:spPr>
        <p:txBody>
          <a:bodyPr wrap="square" lIns="360000" rtlCol="0" anchor="ctr" anchorCtr="0">
            <a:noAutofit/>
          </a:bodyPr>
          <a:lstStyle/>
          <a:p>
            <a:pPr algn="ctr">
              <a:lnSpc>
                <a:spcPts val="4500"/>
              </a:lnSpc>
            </a:pPr>
            <a:r>
              <a:rPr lang="tr-TR" sz="4400" cap="all" dirty="0">
                <a:solidFill>
                  <a:srgbClr val="003087"/>
                </a:solidFill>
                <a:latin typeface="Segoe UI Black" panose="020B0A02040204020203" pitchFamily="34" charset="0"/>
                <a:ea typeface="Segoe UI Black" panose="020B0A02040204020203" pitchFamily="34" charset="0"/>
                <a:cs typeface="Posterama" panose="020B0504020200020000" pitchFamily="34" charset="0"/>
              </a:rPr>
              <a:t>TEŞEKKÜRLER</a:t>
            </a:r>
          </a:p>
        </p:txBody>
      </p:sp>
      <p:grpSp>
        <p:nvGrpSpPr>
          <p:cNvPr id="28" name="Group 27">
            <a:extLst>
              <a:ext uri="{FF2B5EF4-FFF2-40B4-BE49-F238E27FC236}">
                <a16:creationId xmlns:a16="http://schemas.microsoft.com/office/drawing/2014/main" id="{0DC78FF3-615B-4D31-932C-8ACC1FFDB17F}"/>
              </a:ext>
            </a:extLst>
          </p:cNvPr>
          <p:cNvGrpSpPr/>
          <p:nvPr/>
        </p:nvGrpSpPr>
        <p:grpSpPr>
          <a:xfrm>
            <a:off x="2814206" y="5991497"/>
            <a:ext cx="6563587" cy="496389"/>
            <a:chOff x="2814206" y="5991497"/>
            <a:chExt cx="6563587" cy="496389"/>
          </a:xfrm>
        </p:grpSpPr>
        <p:sp>
          <p:nvSpPr>
            <p:cNvPr id="4" name="Rectangle: Rounded Corners 3">
              <a:extLst>
                <a:ext uri="{FF2B5EF4-FFF2-40B4-BE49-F238E27FC236}">
                  <a16:creationId xmlns:a16="http://schemas.microsoft.com/office/drawing/2014/main" id="{327970B7-7EB9-431D-BEED-59F137A6FE21}"/>
                </a:ext>
              </a:extLst>
            </p:cNvPr>
            <p:cNvSpPr/>
            <p:nvPr/>
          </p:nvSpPr>
          <p:spPr>
            <a:xfrm>
              <a:off x="2814206" y="5991497"/>
              <a:ext cx="6435074" cy="496389"/>
            </a:xfrm>
            <a:prstGeom prst="roundRect">
              <a:avLst/>
            </a:prstGeom>
            <a:solidFill>
              <a:srgbClr val="FF56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22">
              <a:extLst>
                <a:ext uri="{FF2B5EF4-FFF2-40B4-BE49-F238E27FC236}">
                  <a16:creationId xmlns:a16="http://schemas.microsoft.com/office/drawing/2014/main" id="{AD2AC26D-DE1A-4CEB-BCA6-276B701657A5}"/>
                </a:ext>
              </a:extLst>
            </p:cNvPr>
            <p:cNvSpPr txBox="1"/>
            <p:nvPr/>
          </p:nvSpPr>
          <p:spPr>
            <a:xfrm>
              <a:off x="3033864" y="6046316"/>
              <a:ext cx="1780820" cy="338554"/>
            </a:xfrm>
            <a:prstGeom prst="rect">
              <a:avLst/>
            </a:prstGeom>
            <a:noFill/>
          </p:spPr>
          <p:txBody>
            <a:bodyPr wrap="square" rtlCol="0">
              <a:spAutoFit/>
            </a:bodyPr>
            <a:lstStyle/>
            <a:p>
              <a:r>
                <a:rPr lang="tr-TR" sz="1600" b="1"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www.aselsan.com</a:t>
              </a:r>
            </a:p>
          </p:txBody>
        </p:sp>
        <p:cxnSp>
          <p:nvCxnSpPr>
            <p:cNvPr id="10" name="Straight Connector 9">
              <a:extLst>
                <a:ext uri="{FF2B5EF4-FFF2-40B4-BE49-F238E27FC236}">
                  <a16:creationId xmlns:a16="http://schemas.microsoft.com/office/drawing/2014/main" id="{CBEF8130-B0F1-45AB-A075-8ACA270B6FDF}"/>
                </a:ext>
              </a:extLst>
            </p:cNvPr>
            <p:cNvCxnSpPr/>
            <p:nvPr/>
          </p:nvCxnSpPr>
          <p:spPr>
            <a:xfrm>
              <a:off x="4804887" y="6124767"/>
              <a:ext cx="0" cy="216000"/>
            </a:xfrm>
            <a:prstGeom prst="line">
              <a:avLst/>
            </a:prstGeom>
            <a:ln>
              <a:solidFill>
                <a:schemeClr val="bg1"/>
              </a:solidFill>
            </a:ln>
          </p:spPr>
          <p:style>
            <a:lnRef idx="3">
              <a:schemeClr val="accent4"/>
            </a:lnRef>
            <a:fillRef idx="0">
              <a:schemeClr val="accent4"/>
            </a:fillRef>
            <a:effectRef idx="2">
              <a:schemeClr val="accent4"/>
            </a:effectRef>
            <a:fontRef idx="minor">
              <a:schemeClr val="tx1"/>
            </a:fontRef>
          </p:style>
        </p:cxnSp>
        <p:pic>
          <p:nvPicPr>
            <p:cNvPr id="24" name="Picture 23">
              <a:extLst>
                <a:ext uri="{FF2B5EF4-FFF2-40B4-BE49-F238E27FC236}">
                  <a16:creationId xmlns:a16="http://schemas.microsoft.com/office/drawing/2014/main" id="{120ACF76-FC65-4512-B95A-C9800745D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2529" y="6115242"/>
              <a:ext cx="232526" cy="217118"/>
            </a:xfrm>
            <a:prstGeom prst="rect">
              <a:avLst/>
            </a:prstGeom>
          </p:spPr>
        </p:pic>
        <p:grpSp>
          <p:nvGrpSpPr>
            <p:cNvPr id="11" name="成组">
              <a:extLst>
                <a:ext uri="{FF2B5EF4-FFF2-40B4-BE49-F238E27FC236}">
                  <a16:creationId xmlns:a16="http://schemas.microsoft.com/office/drawing/2014/main" id="{60F83EC0-E54C-4939-BB0C-095EB427309F}"/>
                </a:ext>
              </a:extLst>
            </p:cNvPr>
            <p:cNvGrpSpPr/>
            <p:nvPr/>
          </p:nvGrpSpPr>
          <p:grpSpPr>
            <a:xfrm>
              <a:off x="5382375" y="6069216"/>
              <a:ext cx="299769" cy="299769"/>
              <a:chOff x="0" y="0"/>
              <a:chExt cx="457200" cy="457200"/>
            </a:xfrm>
          </p:grpSpPr>
          <p:sp>
            <p:nvSpPr>
              <p:cNvPr id="12" name="任意形状 741">
                <a:extLst>
                  <a:ext uri="{FF2B5EF4-FFF2-40B4-BE49-F238E27FC236}">
                    <a16:creationId xmlns:a16="http://schemas.microsoft.com/office/drawing/2014/main" id="{B588F2B4-ECA2-49BB-A64E-148239F23290}"/>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3" name="任意形状 742">
                <a:extLst>
                  <a:ext uri="{FF2B5EF4-FFF2-40B4-BE49-F238E27FC236}">
                    <a16:creationId xmlns:a16="http://schemas.microsoft.com/office/drawing/2014/main" id="{B7F8CFB0-6DDE-4E85-844B-38E2D5BD183A}"/>
                  </a:ext>
                </a:extLst>
              </p:cNvPr>
              <p:cNvSpPr/>
              <p:nvPr/>
            </p:nvSpPr>
            <p:spPr>
              <a:xfrm>
                <a:off x="133350" y="38100"/>
                <a:ext cx="200027" cy="381000"/>
              </a:xfrm>
              <a:custGeom>
                <a:avLst/>
                <a:gdLst/>
                <a:ahLst/>
                <a:cxnLst>
                  <a:cxn ang="0">
                    <a:pos x="wd2" y="hd2"/>
                  </a:cxn>
                  <a:cxn ang="5400000">
                    <a:pos x="wd2" y="hd2"/>
                  </a:cxn>
                  <a:cxn ang="10800000">
                    <a:pos x="wd2" y="hd2"/>
                  </a:cxn>
                  <a:cxn ang="16200000">
                    <a:pos x="wd2" y="hd2"/>
                  </a:cxn>
                </a:cxnLst>
                <a:rect l="0" t="0" r="r" b="b"/>
                <a:pathLst>
                  <a:path w="21600" h="21600" extrusionOk="0">
                    <a:moveTo>
                      <a:pt x="14400" y="12420"/>
                    </a:moveTo>
                    <a:lnTo>
                      <a:pt x="19543" y="12420"/>
                    </a:lnTo>
                    <a:lnTo>
                      <a:pt x="21600" y="8100"/>
                    </a:lnTo>
                    <a:lnTo>
                      <a:pt x="14400" y="8100"/>
                    </a:lnTo>
                    <a:lnTo>
                      <a:pt x="14400" y="5940"/>
                    </a:lnTo>
                    <a:cubicBezTo>
                      <a:pt x="14400" y="4828"/>
                      <a:pt x="14400" y="3780"/>
                      <a:pt x="18514" y="3780"/>
                    </a:cubicBezTo>
                    <a:lnTo>
                      <a:pt x="21600" y="3780"/>
                    </a:lnTo>
                    <a:lnTo>
                      <a:pt x="21600" y="151"/>
                    </a:lnTo>
                    <a:cubicBezTo>
                      <a:pt x="20929" y="105"/>
                      <a:pt x="18397" y="0"/>
                      <a:pt x="15723" y="0"/>
                    </a:cubicBezTo>
                    <a:cubicBezTo>
                      <a:pt x="10138" y="0"/>
                      <a:pt x="6171" y="1790"/>
                      <a:pt x="6171" y="5076"/>
                    </a:cubicBezTo>
                    <a:lnTo>
                      <a:pt x="6171" y="8100"/>
                    </a:lnTo>
                    <a:lnTo>
                      <a:pt x="0" y="8100"/>
                    </a:lnTo>
                    <a:lnTo>
                      <a:pt x="0" y="12420"/>
                    </a:lnTo>
                    <a:lnTo>
                      <a:pt x="6171" y="12420"/>
                    </a:lnTo>
                    <a:lnTo>
                      <a:pt x="6171" y="21600"/>
                    </a:lnTo>
                    <a:lnTo>
                      <a:pt x="14400" y="21600"/>
                    </a:lnTo>
                    <a:lnTo>
                      <a:pt x="14400" y="12420"/>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14" name="成组">
              <a:extLst>
                <a:ext uri="{FF2B5EF4-FFF2-40B4-BE49-F238E27FC236}">
                  <a16:creationId xmlns:a16="http://schemas.microsoft.com/office/drawing/2014/main" id="{CBEFBE6A-608E-4EFC-A897-55949B18421A}"/>
                </a:ext>
              </a:extLst>
            </p:cNvPr>
            <p:cNvGrpSpPr/>
            <p:nvPr/>
          </p:nvGrpSpPr>
          <p:grpSpPr>
            <a:xfrm>
              <a:off x="6239215" y="6054525"/>
              <a:ext cx="342674" cy="342674"/>
              <a:chOff x="0" y="0"/>
              <a:chExt cx="457200" cy="457200"/>
            </a:xfrm>
          </p:grpSpPr>
          <p:sp>
            <p:nvSpPr>
              <p:cNvPr id="15" name="任意形状 780">
                <a:extLst>
                  <a:ext uri="{FF2B5EF4-FFF2-40B4-BE49-F238E27FC236}">
                    <a16:creationId xmlns:a16="http://schemas.microsoft.com/office/drawing/2014/main" id="{9DE2F884-69BF-4C08-BA37-28627F4C82DC}"/>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6" name="任意形状 781">
                <a:extLst>
                  <a:ext uri="{FF2B5EF4-FFF2-40B4-BE49-F238E27FC236}">
                    <a16:creationId xmlns:a16="http://schemas.microsoft.com/office/drawing/2014/main" id="{6B82C8F1-99D8-46D1-AB19-DFAF42942A4B}"/>
                  </a:ext>
                </a:extLst>
              </p:cNvPr>
              <p:cNvSpPr/>
              <p:nvPr/>
            </p:nvSpPr>
            <p:spPr>
              <a:xfrm>
                <a:off x="38100" y="38100"/>
                <a:ext cx="381000" cy="381000"/>
              </a:xfrm>
              <a:custGeom>
                <a:avLst/>
                <a:gdLst/>
                <a:ahLst/>
                <a:cxnLst>
                  <a:cxn ang="0">
                    <a:pos x="wd2" y="hd2"/>
                  </a:cxn>
                  <a:cxn ang="5400000">
                    <a:pos x="wd2" y="hd2"/>
                  </a:cxn>
                  <a:cxn ang="10800000">
                    <a:pos x="wd2" y="hd2"/>
                  </a:cxn>
                  <a:cxn ang="16200000">
                    <a:pos x="wd2" y="hd2"/>
                  </a:cxn>
                </a:cxnLst>
                <a:rect l="0" t="0" r="r" b="b"/>
                <a:pathLst>
                  <a:path w="21600" h="21600" extrusionOk="0">
                    <a:moveTo>
                      <a:pt x="10800" y="7560"/>
                    </a:moveTo>
                    <a:cubicBezTo>
                      <a:pt x="9011" y="7560"/>
                      <a:pt x="7560" y="9011"/>
                      <a:pt x="7560" y="10800"/>
                    </a:cubicBezTo>
                    <a:cubicBezTo>
                      <a:pt x="7560" y="12589"/>
                      <a:pt x="9011" y="14040"/>
                      <a:pt x="10800" y="14040"/>
                    </a:cubicBezTo>
                    <a:cubicBezTo>
                      <a:pt x="12589" y="14040"/>
                      <a:pt x="14040" y="12589"/>
                      <a:pt x="14040" y="10800"/>
                    </a:cubicBezTo>
                    <a:cubicBezTo>
                      <a:pt x="14040" y="9011"/>
                      <a:pt x="12589" y="7560"/>
                      <a:pt x="10800" y="7560"/>
                    </a:cubicBezTo>
                    <a:close/>
                    <a:moveTo>
                      <a:pt x="10800" y="5400"/>
                    </a:moveTo>
                    <a:cubicBezTo>
                      <a:pt x="13782" y="5400"/>
                      <a:pt x="16200" y="7818"/>
                      <a:pt x="16200" y="10800"/>
                    </a:cubicBezTo>
                    <a:cubicBezTo>
                      <a:pt x="16200" y="13782"/>
                      <a:pt x="13782" y="16200"/>
                      <a:pt x="10800" y="16200"/>
                    </a:cubicBezTo>
                    <a:cubicBezTo>
                      <a:pt x="7818" y="16200"/>
                      <a:pt x="5400" y="13782"/>
                      <a:pt x="5400" y="10800"/>
                    </a:cubicBezTo>
                    <a:cubicBezTo>
                      <a:pt x="5400" y="7818"/>
                      <a:pt x="7818" y="5400"/>
                      <a:pt x="10800" y="5400"/>
                    </a:cubicBezTo>
                    <a:close/>
                    <a:moveTo>
                      <a:pt x="17820" y="5130"/>
                    </a:moveTo>
                    <a:cubicBezTo>
                      <a:pt x="17820" y="5876"/>
                      <a:pt x="17216" y="6480"/>
                      <a:pt x="16470" y="6480"/>
                    </a:cubicBezTo>
                    <a:cubicBezTo>
                      <a:pt x="15724" y="6480"/>
                      <a:pt x="15120" y="5876"/>
                      <a:pt x="15120" y="5130"/>
                    </a:cubicBezTo>
                    <a:cubicBezTo>
                      <a:pt x="15120" y="4384"/>
                      <a:pt x="15724" y="3780"/>
                      <a:pt x="16470" y="3780"/>
                    </a:cubicBezTo>
                    <a:cubicBezTo>
                      <a:pt x="17216" y="3780"/>
                      <a:pt x="17820" y="4384"/>
                      <a:pt x="17820" y="5130"/>
                    </a:cubicBezTo>
                    <a:close/>
                    <a:moveTo>
                      <a:pt x="10800" y="2160"/>
                    </a:moveTo>
                    <a:cubicBezTo>
                      <a:pt x="8128" y="2160"/>
                      <a:pt x="7692" y="2168"/>
                      <a:pt x="6449" y="2223"/>
                    </a:cubicBezTo>
                    <a:cubicBezTo>
                      <a:pt x="5602" y="2263"/>
                      <a:pt x="5034" y="2376"/>
                      <a:pt x="4507" y="2581"/>
                    </a:cubicBezTo>
                    <a:cubicBezTo>
                      <a:pt x="4038" y="2763"/>
                      <a:pt x="3700" y="2980"/>
                      <a:pt x="3340" y="3340"/>
                    </a:cubicBezTo>
                    <a:cubicBezTo>
                      <a:pt x="3002" y="3667"/>
                      <a:pt x="2742" y="4066"/>
                      <a:pt x="2580" y="4507"/>
                    </a:cubicBezTo>
                    <a:cubicBezTo>
                      <a:pt x="2375" y="5036"/>
                      <a:pt x="2261" y="5603"/>
                      <a:pt x="2223" y="6449"/>
                    </a:cubicBezTo>
                    <a:cubicBezTo>
                      <a:pt x="2166" y="7641"/>
                      <a:pt x="2160" y="8058"/>
                      <a:pt x="2160" y="10800"/>
                    </a:cubicBezTo>
                    <a:cubicBezTo>
                      <a:pt x="2160" y="13472"/>
                      <a:pt x="2168" y="13908"/>
                      <a:pt x="2223" y="15151"/>
                    </a:cubicBezTo>
                    <a:cubicBezTo>
                      <a:pt x="2263" y="15997"/>
                      <a:pt x="2376" y="16566"/>
                      <a:pt x="2580" y="17092"/>
                    </a:cubicBezTo>
                    <a:cubicBezTo>
                      <a:pt x="2764" y="17562"/>
                      <a:pt x="2980" y="17900"/>
                      <a:pt x="3338" y="18259"/>
                    </a:cubicBezTo>
                    <a:cubicBezTo>
                      <a:pt x="3702" y="18621"/>
                      <a:pt x="4040" y="18838"/>
                      <a:pt x="4505" y="19018"/>
                    </a:cubicBezTo>
                    <a:cubicBezTo>
                      <a:pt x="5038" y="19224"/>
                      <a:pt x="5606" y="19339"/>
                      <a:pt x="6449" y="19377"/>
                    </a:cubicBezTo>
                    <a:cubicBezTo>
                      <a:pt x="7641" y="19434"/>
                      <a:pt x="8058" y="19440"/>
                      <a:pt x="10800" y="19440"/>
                    </a:cubicBezTo>
                    <a:cubicBezTo>
                      <a:pt x="13472" y="19440"/>
                      <a:pt x="13908" y="19432"/>
                      <a:pt x="15151" y="19377"/>
                    </a:cubicBezTo>
                    <a:cubicBezTo>
                      <a:pt x="15996" y="19337"/>
                      <a:pt x="16565" y="19224"/>
                      <a:pt x="17092" y="19020"/>
                    </a:cubicBezTo>
                    <a:cubicBezTo>
                      <a:pt x="17560" y="18837"/>
                      <a:pt x="17900" y="18620"/>
                      <a:pt x="18259" y="18262"/>
                    </a:cubicBezTo>
                    <a:cubicBezTo>
                      <a:pt x="18622" y="17898"/>
                      <a:pt x="18840" y="17560"/>
                      <a:pt x="19019" y="17095"/>
                    </a:cubicBezTo>
                    <a:cubicBezTo>
                      <a:pt x="19224" y="16563"/>
                      <a:pt x="19339" y="15994"/>
                      <a:pt x="19377" y="15151"/>
                    </a:cubicBezTo>
                    <a:cubicBezTo>
                      <a:pt x="19434" y="13959"/>
                      <a:pt x="19440" y="13542"/>
                      <a:pt x="19440" y="10800"/>
                    </a:cubicBezTo>
                    <a:cubicBezTo>
                      <a:pt x="19440" y="8128"/>
                      <a:pt x="19432" y="7692"/>
                      <a:pt x="19377" y="6449"/>
                    </a:cubicBezTo>
                    <a:cubicBezTo>
                      <a:pt x="19337" y="5604"/>
                      <a:pt x="19224" y="5034"/>
                      <a:pt x="19019" y="4507"/>
                    </a:cubicBezTo>
                    <a:cubicBezTo>
                      <a:pt x="18856" y="4066"/>
                      <a:pt x="18597" y="3668"/>
                      <a:pt x="18260" y="3340"/>
                    </a:cubicBezTo>
                    <a:cubicBezTo>
                      <a:pt x="17933" y="3002"/>
                      <a:pt x="17534" y="2742"/>
                      <a:pt x="17093" y="2580"/>
                    </a:cubicBezTo>
                    <a:cubicBezTo>
                      <a:pt x="16564" y="2375"/>
                      <a:pt x="15996" y="2261"/>
                      <a:pt x="15151" y="2223"/>
                    </a:cubicBezTo>
                    <a:cubicBezTo>
                      <a:pt x="13959" y="2166"/>
                      <a:pt x="13542" y="2160"/>
                      <a:pt x="10800" y="2160"/>
                    </a:cubicBezTo>
                    <a:close/>
                    <a:moveTo>
                      <a:pt x="10800" y="0"/>
                    </a:moveTo>
                    <a:cubicBezTo>
                      <a:pt x="13734" y="0"/>
                      <a:pt x="14100" y="11"/>
                      <a:pt x="15252" y="65"/>
                    </a:cubicBezTo>
                    <a:cubicBezTo>
                      <a:pt x="16402" y="119"/>
                      <a:pt x="17185" y="299"/>
                      <a:pt x="17874" y="567"/>
                    </a:cubicBezTo>
                    <a:cubicBezTo>
                      <a:pt x="18587" y="841"/>
                      <a:pt x="19187" y="1213"/>
                      <a:pt x="19788" y="1812"/>
                    </a:cubicBezTo>
                    <a:cubicBezTo>
                      <a:pt x="20337" y="2352"/>
                      <a:pt x="20762" y="3005"/>
                      <a:pt x="21033" y="3726"/>
                    </a:cubicBezTo>
                    <a:cubicBezTo>
                      <a:pt x="21300" y="4414"/>
                      <a:pt x="21481" y="5198"/>
                      <a:pt x="21535" y="6348"/>
                    </a:cubicBezTo>
                    <a:cubicBezTo>
                      <a:pt x="21586" y="7500"/>
                      <a:pt x="21600" y="7866"/>
                      <a:pt x="21600" y="10800"/>
                    </a:cubicBezTo>
                    <a:cubicBezTo>
                      <a:pt x="21600" y="13734"/>
                      <a:pt x="21589" y="14100"/>
                      <a:pt x="21535" y="15252"/>
                    </a:cubicBezTo>
                    <a:cubicBezTo>
                      <a:pt x="21481" y="16402"/>
                      <a:pt x="21300" y="17185"/>
                      <a:pt x="21033" y="17874"/>
                    </a:cubicBezTo>
                    <a:cubicBezTo>
                      <a:pt x="20763" y="18595"/>
                      <a:pt x="20338" y="19248"/>
                      <a:pt x="19788" y="19788"/>
                    </a:cubicBezTo>
                    <a:cubicBezTo>
                      <a:pt x="19248" y="20337"/>
                      <a:pt x="18595" y="20762"/>
                      <a:pt x="17874" y="21033"/>
                    </a:cubicBezTo>
                    <a:cubicBezTo>
                      <a:pt x="17186" y="21300"/>
                      <a:pt x="16402" y="21481"/>
                      <a:pt x="15252" y="21535"/>
                    </a:cubicBezTo>
                    <a:cubicBezTo>
                      <a:pt x="14100" y="21586"/>
                      <a:pt x="13734" y="21600"/>
                      <a:pt x="10800" y="21600"/>
                    </a:cubicBezTo>
                    <a:cubicBezTo>
                      <a:pt x="7866" y="21600"/>
                      <a:pt x="7500" y="21589"/>
                      <a:pt x="6348" y="21535"/>
                    </a:cubicBezTo>
                    <a:cubicBezTo>
                      <a:pt x="5198" y="21481"/>
                      <a:pt x="4415" y="21300"/>
                      <a:pt x="3726" y="21033"/>
                    </a:cubicBezTo>
                    <a:cubicBezTo>
                      <a:pt x="3005" y="20762"/>
                      <a:pt x="2352" y="20337"/>
                      <a:pt x="1812" y="19788"/>
                    </a:cubicBezTo>
                    <a:cubicBezTo>
                      <a:pt x="1263" y="19248"/>
                      <a:pt x="838" y="18595"/>
                      <a:pt x="567" y="17874"/>
                    </a:cubicBezTo>
                    <a:cubicBezTo>
                      <a:pt x="299" y="17186"/>
                      <a:pt x="119" y="16402"/>
                      <a:pt x="65" y="15252"/>
                    </a:cubicBezTo>
                    <a:cubicBezTo>
                      <a:pt x="14" y="14100"/>
                      <a:pt x="0" y="13734"/>
                      <a:pt x="0" y="10800"/>
                    </a:cubicBezTo>
                    <a:cubicBezTo>
                      <a:pt x="0" y="7866"/>
                      <a:pt x="11" y="7500"/>
                      <a:pt x="65" y="6348"/>
                    </a:cubicBezTo>
                    <a:cubicBezTo>
                      <a:pt x="119" y="5197"/>
                      <a:pt x="299" y="4415"/>
                      <a:pt x="567" y="3726"/>
                    </a:cubicBezTo>
                    <a:cubicBezTo>
                      <a:pt x="837" y="3005"/>
                      <a:pt x="1262" y="2352"/>
                      <a:pt x="1812" y="1812"/>
                    </a:cubicBezTo>
                    <a:cubicBezTo>
                      <a:pt x="2352" y="1263"/>
                      <a:pt x="3005" y="838"/>
                      <a:pt x="3726" y="567"/>
                    </a:cubicBezTo>
                    <a:cubicBezTo>
                      <a:pt x="4415" y="299"/>
                      <a:pt x="5197" y="119"/>
                      <a:pt x="6348" y="65"/>
                    </a:cubicBezTo>
                    <a:cubicBezTo>
                      <a:pt x="7500" y="14"/>
                      <a:pt x="7866" y="0"/>
                      <a:pt x="10800" y="0"/>
                    </a:cubicBez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17" name="成组">
              <a:extLst>
                <a:ext uri="{FF2B5EF4-FFF2-40B4-BE49-F238E27FC236}">
                  <a16:creationId xmlns:a16="http://schemas.microsoft.com/office/drawing/2014/main" id="{FC31723D-28CC-4550-B846-02F84D98A140}"/>
                </a:ext>
              </a:extLst>
            </p:cNvPr>
            <p:cNvGrpSpPr/>
            <p:nvPr/>
          </p:nvGrpSpPr>
          <p:grpSpPr>
            <a:xfrm>
              <a:off x="5789464" y="6048085"/>
              <a:ext cx="338555" cy="338555"/>
              <a:chOff x="0" y="0"/>
              <a:chExt cx="457200" cy="457200"/>
            </a:xfrm>
          </p:grpSpPr>
          <p:sp>
            <p:nvSpPr>
              <p:cNvPr id="18" name="任意形状 801">
                <a:extLst>
                  <a:ext uri="{FF2B5EF4-FFF2-40B4-BE49-F238E27FC236}">
                    <a16:creationId xmlns:a16="http://schemas.microsoft.com/office/drawing/2014/main" id="{11DFE674-8B96-4ACE-98B6-587213F72CD8}"/>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19" name="任意形状 802">
                <a:extLst>
                  <a:ext uri="{FF2B5EF4-FFF2-40B4-BE49-F238E27FC236}">
                    <a16:creationId xmlns:a16="http://schemas.microsoft.com/office/drawing/2014/main" id="{76033BCF-7D42-441A-871C-81671DB7C658}"/>
                  </a:ext>
                </a:extLst>
              </p:cNvPr>
              <p:cNvSpPr/>
              <p:nvPr/>
            </p:nvSpPr>
            <p:spPr>
              <a:xfrm>
                <a:off x="56005" y="57130"/>
                <a:ext cx="363095" cy="342921"/>
              </a:xfrm>
              <a:custGeom>
                <a:avLst/>
                <a:gdLst/>
                <a:ahLst/>
                <a:cxnLst>
                  <a:cxn ang="0">
                    <a:pos x="wd2" y="hd2"/>
                  </a:cxn>
                  <a:cxn ang="5400000">
                    <a:pos x="wd2" y="hd2"/>
                  </a:cxn>
                  <a:cxn ang="10800000">
                    <a:pos x="wd2" y="hd2"/>
                  </a:cxn>
                  <a:cxn ang="16200000">
                    <a:pos x="wd2" y="hd2"/>
                  </a:cxn>
                </a:cxnLst>
                <a:rect l="0" t="0" r="r" b="b"/>
                <a:pathLst>
                  <a:path w="21599" h="21599" extrusionOk="0">
                    <a:moveTo>
                      <a:pt x="4533" y="2401"/>
                    </a:moveTo>
                    <a:cubicBezTo>
                      <a:pt x="4532" y="3726"/>
                      <a:pt x="3517" y="4800"/>
                      <a:pt x="2265" y="4799"/>
                    </a:cubicBezTo>
                    <a:cubicBezTo>
                      <a:pt x="1013" y="4799"/>
                      <a:pt x="-1" y="3724"/>
                      <a:pt x="0" y="2398"/>
                    </a:cubicBezTo>
                    <a:cubicBezTo>
                      <a:pt x="0" y="1073"/>
                      <a:pt x="1016" y="-1"/>
                      <a:pt x="2267" y="0"/>
                    </a:cubicBezTo>
                    <a:cubicBezTo>
                      <a:pt x="3519" y="0"/>
                      <a:pt x="4533" y="1075"/>
                      <a:pt x="4533" y="2401"/>
                    </a:cubicBezTo>
                    <a:close/>
                    <a:moveTo>
                      <a:pt x="4601" y="6576"/>
                    </a:moveTo>
                    <a:lnTo>
                      <a:pt x="68" y="6576"/>
                    </a:lnTo>
                    <a:lnTo>
                      <a:pt x="68" y="21599"/>
                    </a:lnTo>
                    <a:lnTo>
                      <a:pt x="4601" y="21599"/>
                    </a:lnTo>
                    <a:lnTo>
                      <a:pt x="4601" y="6576"/>
                    </a:lnTo>
                    <a:close/>
                    <a:moveTo>
                      <a:pt x="11763" y="6576"/>
                    </a:moveTo>
                    <a:lnTo>
                      <a:pt x="7252" y="6576"/>
                    </a:lnTo>
                    <a:lnTo>
                      <a:pt x="7252" y="21599"/>
                    </a:lnTo>
                    <a:lnTo>
                      <a:pt x="11717" y="21599"/>
                    </a:lnTo>
                    <a:lnTo>
                      <a:pt x="11717" y="13716"/>
                    </a:lnTo>
                    <a:cubicBezTo>
                      <a:pt x="11717" y="9324"/>
                      <a:pt x="17123" y="8916"/>
                      <a:pt x="17123" y="13716"/>
                    </a:cubicBezTo>
                    <a:lnTo>
                      <a:pt x="17123" y="21599"/>
                    </a:lnTo>
                    <a:lnTo>
                      <a:pt x="21599" y="21599"/>
                    </a:lnTo>
                    <a:lnTo>
                      <a:pt x="21599" y="12084"/>
                    </a:lnTo>
                    <a:cubicBezTo>
                      <a:pt x="21599" y="4680"/>
                      <a:pt x="13598" y="4956"/>
                      <a:pt x="11717" y="8592"/>
                    </a:cubicBezTo>
                    <a:lnTo>
                      <a:pt x="11763" y="6576"/>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grpSp>
          <p:nvGrpSpPr>
            <p:cNvPr id="20" name="成组">
              <a:extLst>
                <a:ext uri="{FF2B5EF4-FFF2-40B4-BE49-F238E27FC236}">
                  <a16:creationId xmlns:a16="http://schemas.microsoft.com/office/drawing/2014/main" id="{B63B867D-5FC1-48FB-A286-ECD16B6A7598}"/>
                </a:ext>
              </a:extLst>
            </p:cNvPr>
            <p:cNvGrpSpPr/>
            <p:nvPr/>
          </p:nvGrpSpPr>
          <p:grpSpPr>
            <a:xfrm>
              <a:off x="7636350" y="6054524"/>
              <a:ext cx="338555" cy="338555"/>
              <a:chOff x="0" y="0"/>
              <a:chExt cx="457200" cy="457200"/>
            </a:xfrm>
          </p:grpSpPr>
          <p:sp>
            <p:nvSpPr>
              <p:cNvPr id="21" name="任意形状 948">
                <a:extLst>
                  <a:ext uri="{FF2B5EF4-FFF2-40B4-BE49-F238E27FC236}">
                    <a16:creationId xmlns:a16="http://schemas.microsoft.com/office/drawing/2014/main" id="{1A83EFD6-C859-41C3-9A3F-4905AB36368B}"/>
                  </a:ext>
                </a:extLst>
              </p:cNvPr>
              <p:cNvSpPr/>
              <p:nvPr/>
            </p:nvSpPr>
            <p:spPr>
              <a:xfrm>
                <a:off x="0" y="0"/>
                <a:ext cx="457200" cy="457200"/>
              </a:xfrm>
              <a:prstGeom prst="rect">
                <a:avLst/>
              </a:prstGeom>
              <a:solidFill>
                <a:srgbClr val="FFFFFF">
                  <a:alpha val="0"/>
                </a:srgbClr>
              </a:solidFill>
              <a:ln w="12700" cap="flat">
                <a:noFill/>
                <a:miter lim="400000"/>
              </a:ln>
              <a:effectLst/>
            </p:spPr>
            <p:txBody>
              <a:bodyPr wrap="square" lIns="45719" tIns="45719" rIns="45719" bIns="45719" numCol="1" anchor="ctr">
                <a:noAutofit/>
              </a:bodyPr>
              <a:lstStyle/>
              <a:p>
                <a:endParaRPr>
                  <a:solidFill>
                    <a:schemeClr val="bg1"/>
                  </a:solidFill>
                </a:endParaRPr>
              </a:p>
            </p:txBody>
          </p:sp>
          <p:sp>
            <p:nvSpPr>
              <p:cNvPr id="22" name="任意形状 949">
                <a:extLst>
                  <a:ext uri="{FF2B5EF4-FFF2-40B4-BE49-F238E27FC236}">
                    <a16:creationId xmlns:a16="http://schemas.microsoft.com/office/drawing/2014/main" id="{3D671CC7-A4CA-428D-B847-0BB65DA92B29}"/>
                  </a:ext>
                </a:extLst>
              </p:cNvPr>
              <p:cNvSpPr/>
              <p:nvPr/>
            </p:nvSpPr>
            <p:spPr>
              <a:xfrm>
                <a:off x="38100" y="76200"/>
                <a:ext cx="381000" cy="304800"/>
              </a:xfrm>
              <a:custGeom>
                <a:avLst/>
                <a:gdLst/>
                <a:ahLst/>
                <a:cxnLst>
                  <a:cxn ang="0">
                    <a:pos x="wd2" y="hd2"/>
                  </a:cxn>
                  <a:cxn ang="5400000">
                    <a:pos x="wd2" y="hd2"/>
                  </a:cxn>
                  <a:cxn ang="10800000">
                    <a:pos x="wd2" y="hd2"/>
                  </a:cxn>
                  <a:cxn ang="16200000">
                    <a:pos x="wd2" y="hd2"/>
                  </a:cxn>
                </a:cxnLst>
                <a:rect l="0" t="0" r="r" b="b"/>
                <a:pathLst>
                  <a:path w="21600" h="21600" extrusionOk="0">
                    <a:moveTo>
                      <a:pt x="19014" y="4043"/>
                    </a:moveTo>
                    <a:cubicBezTo>
                      <a:pt x="18932" y="3641"/>
                      <a:pt x="18699" y="3337"/>
                      <a:pt x="18432" y="3244"/>
                    </a:cubicBezTo>
                    <a:cubicBezTo>
                      <a:pt x="17960" y="3078"/>
                      <a:pt x="15660" y="2700"/>
                      <a:pt x="10800" y="2700"/>
                    </a:cubicBezTo>
                    <a:cubicBezTo>
                      <a:pt x="5940" y="2700"/>
                      <a:pt x="3642" y="3078"/>
                      <a:pt x="3166" y="3244"/>
                    </a:cubicBezTo>
                    <a:cubicBezTo>
                      <a:pt x="2902" y="3336"/>
                      <a:pt x="2669" y="3640"/>
                      <a:pt x="2586" y="4043"/>
                    </a:cubicBezTo>
                    <a:cubicBezTo>
                      <a:pt x="2468" y="4616"/>
                      <a:pt x="2160" y="7015"/>
                      <a:pt x="2160" y="10800"/>
                    </a:cubicBezTo>
                    <a:cubicBezTo>
                      <a:pt x="2160" y="14585"/>
                      <a:pt x="2468" y="16983"/>
                      <a:pt x="2586" y="17558"/>
                    </a:cubicBezTo>
                    <a:cubicBezTo>
                      <a:pt x="2668" y="17959"/>
                      <a:pt x="2901" y="18263"/>
                      <a:pt x="3167" y="18355"/>
                    </a:cubicBezTo>
                    <a:cubicBezTo>
                      <a:pt x="3642" y="18522"/>
                      <a:pt x="5940" y="18900"/>
                      <a:pt x="10800" y="18900"/>
                    </a:cubicBezTo>
                    <a:cubicBezTo>
                      <a:pt x="15660" y="18900"/>
                      <a:pt x="17959" y="18522"/>
                      <a:pt x="18434" y="18356"/>
                    </a:cubicBezTo>
                    <a:cubicBezTo>
                      <a:pt x="18698" y="18264"/>
                      <a:pt x="18931" y="17960"/>
                      <a:pt x="19014" y="17557"/>
                    </a:cubicBezTo>
                    <a:cubicBezTo>
                      <a:pt x="19132" y="16984"/>
                      <a:pt x="19440" y="14580"/>
                      <a:pt x="19440" y="10800"/>
                    </a:cubicBezTo>
                    <a:cubicBezTo>
                      <a:pt x="19440" y="7020"/>
                      <a:pt x="19132" y="4617"/>
                      <a:pt x="19014" y="4043"/>
                    </a:cubicBezTo>
                    <a:close/>
                    <a:moveTo>
                      <a:pt x="21106" y="3372"/>
                    </a:moveTo>
                    <a:cubicBezTo>
                      <a:pt x="21600" y="5778"/>
                      <a:pt x="21600" y="10800"/>
                      <a:pt x="21600" y="10800"/>
                    </a:cubicBezTo>
                    <a:cubicBezTo>
                      <a:pt x="21600" y="10800"/>
                      <a:pt x="21600" y="15822"/>
                      <a:pt x="21106" y="18228"/>
                    </a:cubicBezTo>
                    <a:cubicBezTo>
                      <a:pt x="20832" y="19557"/>
                      <a:pt x="20030" y="20604"/>
                      <a:pt x="19013" y="20957"/>
                    </a:cubicBezTo>
                    <a:cubicBezTo>
                      <a:pt x="17168" y="21600"/>
                      <a:pt x="10800" y="21600"/>
                      <a:pt x="10800" y="21600"/>
                    </a:cubicBezTo>
                    <a:cubicBezTo>
                      <a:pt x="10800" y="21600"/>
                      <a:pt x="4436" y="21600"/>
                      <a:pt x="2587" y="20957"/>
                    </a:cubicBezTo>
                    <a:cubicBezTo>
                      <a:pt x="1566" y="20598"/>
                      <a:pt x="765" y="19553"/>
                      <a:pt x="494" y="18228"/>
                    </a:cubicBezTo>
                    <a:cubicBezTo>
                      <a:pt x="0" y="15822"/>
                      <a:pt x="0" y="10800"/>
                      <a:pt x="0" y="10800"/>
                    </a:cubicBezTo>
                    <a:cubicBezTo>
                      <a:pt x="0" y="10800"/>
                      <a:pt x="0" y="5778"/>
                      <a:pt x="494" y="3372"/>
                    </a:cubicBezTo>
                    <a:cubicBezTo>
                      <a:pt x="768" y="2043"/>
                      <a:pt x="1570" y="996"/>
                      <a:pt x="2587" y="643"/>
                    </a:cubicBezTo>
                    <a:cubicBezTo>
                      <a:pt x="4436" y="0"/>
                      <a:pt x="10800" y="0"/>
                      <a:pt x="10800" y="0"/>
                    </a:cubicBezTo>
                    <a:cubicBezTo>
                      <a:pt x="10800" y="0"/>
                      <a:pt x="17168" y="0"/>
                      <a:pt x="19013" y="643"/>
                    </a:cubicBezTo>
                    <a:cubicBezTo>
                      <a:pt x="20034" y="1002"/>
                      <a:pt x="20835" y="2047"/>
                      <a:pt x="21106" y="3372"/>
                    </a:cubicBezTo>
                    <a:close/>
                    <a:moveTo>
                      <a:pt x="8640" y="15525"/>
                    </a:moveTo>
                    <a:lnTo>
                      <a:pt x="8640" y="6075"/>
                    </a:lnTo>
                    <a:lnTo>
                      <a:pt x="15120" y="10800"/>
                    </a:lnTo>
                    <a:lnTo>
                      <a:pt x="8640" y="15525"/>
                    </a:lnTo>
                    <a:close/>
                  </a:path>
                </a:pathLst>
              </a:custGeom>
              <a:solidFill>
                <a:schemeClr val="bg1"/>
              </a:solidFill>
              <a:ln w="12700" cap="flat">
                <a:noFill/>
                <a:miter lim="400000"/>
              </a:ln>
              <a:effectLst/>
            </p:spPr>
            <p:txBody>
              <a:bodyPr wrap="square" lIns="45719" tIns="45719" rIns="45719" bIns="45719" numCol="1" anchor="ctr">
                <a:noAutofit/>
              </a:bodyPr>
              <a:lstStyle/>
              <a:p>
                <a:endParaRPr>
                  <a:solidFill>
                    <a:schemeClr val="bg1"/>
                  </a:solidFill>
                </a:endParaRPr>
              </a:p>
            </p:txBody>
          </p:sp>
        </p:grpSp>
        <p:sp>
          <p:nvSpPr>
            <p:cNvPr id="25" name="Metin kutusu 22">
              <a:extLst>
                <a:ext uri="{FF2B5EF4-FFF2-40B4-BE49-F238E27FC236}">
                  <a16:creationId xmlns:a16="http://schemas.microsoft.com/office/drawing/2014/main" id="{C748A148-B949-4311-A66B-8EC60E011977}"/>
                </a:ext>
              </a:extLst>
            </p:cNvPr>
            <p:cNvSpPr txBox="1"/>
            <p:nvPr/>
          </p:nvSpPr>
          <p:spPr>
            <a:xfrm>
              <a:off x="6597611" y="6044369"/>
              <a:ext cx="1158646" cy="338554"/>
            </a:xfrm>
            <a:prstGeom prst="rect">
              <a:avLst/>
            </a:prstGeom>
            <a:noFill/>
          </p:spPr>
          <p:txBody>
            <a:bodyPr wrap="square" rtlCol="0">
              <a:spAutoFit/>
            </a:bodyPr>
            <a:lstStyle/>
            <a:p>
              <a:r>
                <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t>
              </a:r>
              <a:r>
                <a:rPr lang="tr-TR" sz="1600" dirty="0" err="1">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aselsan</a:t>
              </a:r>
              <a:endPar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endParaRPr>
            </a:p>
          </p:txBody>
        </p:sp>
        <p:sp>
          <p:nvSpPr>
            <p:cNvPr id="26" name="Metin kutusu 22">
              <a:extLst>
                <a:ext uri="{FF2B5EF4-FFF2-40B4-BE49-F238E27FC236}">
                  <a16:creationId xmlns:a16="http://schemas.microsoft.com/office/drawing/2014/main" id="{7BA1B2C0-BDF4-4CE1-B2A8-469125958CF8}"/>
                </a:ext>
              </a:extLst>
            </p:cNvPr>
            <p:cNvSpPr txBox="1"/>
            <p:nvPr/>
          </p:nvSpPr>
          <p:spPr>
            <a:xfrm>
              <a:off x="7935260" y="6044369"/>
              <a:ext cx="1442533" cy="338554"/>
            </a:xfrm>
            <a:prstGeom prst="rect">
              <a:avLst/>
            </a:prstGeom>
            <a:noFill/>
          </p:spPr>
          <p:txBody>
            <a:bodyPr wrap="square" rtlCol="0">
              <a:spAutoFit/>
            </a:bodyPr>
            <a:lstStyle/>
            <a:p>
              <a:r>
                <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t>
              </a:r>
              <a:r>
                <a:rPr lang="tr-TR" sz="1600" dirty="0" err="1">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rPr>
                <a:t>aselsantv</a:t>
              </a:r>
              <a:endParaRPr lang="tr-TR" sz="1600" dirty="0">
                <a:solidFill>
                  <a:schemeClr val="bg1"/>
                </a:solidFill>
                <a:latin typeface="Segoe UI Semilight" panose="020B0402040204020203" pitchFamily="34" charset="0"/>
                <a:ea typeface="Segoe UI Black" panose="020B0A02040204020203" pitchFamily="34" charset="0"/>
                <a:cs typeface="Segoe UI Semilight" panose="020B0402040204020203" pitchFamily="34" charset="0"/>
              </a:endParaRPr>
            </a:p>
          </p:txBody>
        </p:sp>
      </p:grpSp>
    </p:spTree>
    <p:extLst>
      <p:ext uri="{BB962C8B-B14F-4D97-AF65-F5344CB8AC3E}">
        <p14:creationId xmlns:p14="http://schemas.microsoft.com/office/powerpoint/2010/main" val="16560051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5581A-5EE1-B669-4160-F6E89C531053}"/>
              </a:ext>
            </a:extLst>
          </p:cNvPr>
          <p:cNvSpPr>
            <a:spLocks noGrp="1"/>
          </p:cNvSpPr>
          <p:nvPr>
            <p:ph type="title"/>
          </p:nvPr>
        </p:nvSpPr>
        <p:spPr/>
        <p:txBody>
          <a:bodyPr/>
          <a:lstStyle/>
          <a:p>
            <a:r>
              <a:rPr lang="en-US" dirty="0"/>
              <a:t>YEDİ SANİYE: TRENE Mİ, DAYANIKLILIĞA MI?</a:t>
            </a:r>
          </a:p>
        </p:txBody>
      </p:sp>
      <p:sp>
        <p:nvSpPr>
          <p:cNvPr id="3" name="Text Placeholder 2">
            <a:extLst>
              <a:ext uri="{FF2B5EF4-FFF2-40B4-BE49-F238E27FC236}">
                <a16:creationId xmlns:a16="http://schemas.microsoft.com/office/drawing/2014/main" id="{9EEBA305-9B08-AAF7-DDF3-FA4A17F1EB69}"/>
              </a:ext>
            </a:extLst>
          </p:cNvPr>
          <p:cNvSpPr>
            <a:spLocks noGrp="1"/>
          </p:cNvSpPr>
          <p:nvPr>
            <p:ph type="body" sz="quarter" idx="13"/>
          </p:nvPr>
        </p:nvSpPr>
        <p:spPr>
          <a:xfrm>
            <a:off x="411480" y="1920240"/>
            <a:ext cx="11338560" cy="4114800"/>
          </a:xfrm>
        </p:spPr>
        <p:txBody>
          <a:bodyPr/>
          <a:lstStyle/>
          <a:p>
            <a:r>
              <a:rPr lang="tr-TR" dirty="0"/>
              <a:t>Ölçüm tek bir şey söylüyor: teknoloji 7 saniye veriyor. Nereye harcanacağı bir işletme kararı.</a:t>
            </a:r>
          </a:p>
          <a:p>
            <a:r>
              <a:rPr lang="tr-TR" dirty="0"/>
              <a:t>TRENE HARCARSAN</a:t>
            </a:r>
          </a:p>
          <a:p>
            <a:pPr lvl="1"/>
            <a:r>
              <a:rPr lang="tr-TR" dirty="0"/>
              <a:t>%9 daha fazla tren — ama yeni tarife, yeni diyagram, yeni roster</a:t>
            </a:r>
          </a:p>
          <a:p>
            <a:r>
              <a:rPr lang="tr-TR" dirty="0"/>
              <a:t>DAYANIKLILIĞA HARCARSAN</a:t>
            </a:r>
          </a:p>
          <a:p>
            <a:pPr lvl="1"/>
            <a:r>
              <a:rPr lang="tr-TR" dirty="0"/>
              <a:t>Aynı trenler, %16 daha az yayılan gecikme — maliyeti sadece cihaz</a:t>
            </a:r>
          </a:p>
          <a:p>
            <a:pPr lvl="1"/>
            <a:r>
              <a:rPr lang="tr-TR" dirty="0"/>
              <a:t>İkisine birden değil: kendi sınırında koşan sistemde fark %0.6'ya iniyor</a:t>
            </a:r>
          </a:p>
          <a:p>
            <a:r>
              <a:rPr lang="tr-TR" dirty="0"/>
              <a:t>BUGÜN NEREDE DURUYOR</a:t>
            </a:r>
          </a:p>
          <a:p>
            <a:pPr lvl="1"/>
            <a:r>
              <a:rPr lang="tr-TR" dirty="0"/>
              <a:t>Karar %45 güvenlik, %32 regülasyon, %5.6 kapasite (Aoun) — hareketli blok olgunlukla önde</a:t>
            </a:r>
          </a:p>
          <a:p>
            <a:pPr lvl="1"/>
            <a:r>
              <a:rPr lang="tr-TR" dirty="0"/>
              <a:t>Sanal kuplaj olgunlaştıkça ve ucuzladıkça bu tablo değişir; ölçtüğüm kapasite farkı zaten onun lehine</a:t>
            </a:r>
          </a:p>
        </p:txBody>
      </p:sp>
    </p:spTree>
    <p:extLst>
      <p:ext uri="{BB962C8B-B14F-4D97-AF65-F5344CB8AC3E}">
        <p14:creationId xmlns:p14="http://schemas.microsoft.com/office/powerpoint/2010/main" val="468788410"/>
      </p:ext>
    </p:extLst>
  </p:cSld>
  <p:clrMapOvr>
    <a:masterClrMapping/>
  </p:clrMapOvr>
</p:sld>
</file>

<file path=ppt/theme/theme1.xml><?xml version="1.0" encoding="utf-8"?>
<a:theme xmlns:a="http://schemas.openxmlformats.org/drawingml/2006/main" name="Office Teması">
  <a:themeElements>
    <a:clrScheme name="Custom 3">
      <a:dk1>
        <a:srgbClr val="3F3F3F"/>
      </a:dk1>
      <a:lt1>
        <a:srgbClr val="FFFFFF"/>
      </a:lt1>
      <a:dk2>
        <a:srgbClr val="003087"/>
      </a:dk2>
      <a:lt2>
        <a:srgbClr val="F7931D"/>
      </a:lt2>
      <a:accent1>
        <a:srgbClr val="003087"/>
      </a:accent1>
      <a:accent2>
        <a:srgbClr val="F7931D"/>
      </a:accent2>
      <a:accent3>
        <a:srgbClr val="0088EE"/>
      </a:accent3>
      <a:accent4>
        <a:srgbClr val="0070C0"/>
      </a:accent4>
      <a:accent5>
        <a:srgbClr val="C76F07"/>
      </a:accent5>
      <a:accent6>
        <a:srgbClr val="FABE77"/>
      </a:accent6>
      <a:hlink>
        <a:srgbClr val="003087"/>
      </a:hlink>
      <a:folHlink>
        <a:srgbClr val="F7931D"/>
      </a:folHlink>
    </a:clrScheme>
    <a:fontScheme name="UGES">
      <a:majorFont>
        <a:latin typeface="Posterama"/>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_dlc_DocId xmlns="51addbf6-cd97-4f3e-bcc7-a2381a20af9f">AKVJQPKRQQH7-344864422-405</_dlc_DocId>
    <_dlc_DocIdUrl xmlns="51addbf6-cd97-4f3e-bcc7-a2381a20af9f">
      <Url>https://ebilgi.aselsan.com.tr/gnysite/fbyon/kim/_layouts/15/DocIdRedir.aspx?ID=AKVJQPKRQQH7-344864422-405</Url>
      <Description>AKVJQPKRQQH7-344864422-405</Description>
    </_dlc_DocIdUrl>
    <PublishingExpirationDate xmlns="http://schemas.microsoft.com/sharepoint/v3" xsi:nil="true"/>
    <PublishingStartDate xmlns="http://schemas.microsoft.com/sharepoint/v3" xsi:nil="true"/>
    <SharedWithUsers xmlns="800cdfac-3bb6-46ea-8cac-b3a86bc27941">
      <UserInfo>
        <DisplayName>Evrim Ayşen ANIL</DisplayName>
        <AccountId>13715</AccountId>
        <AccountType/>
      </UserInfo>
      <UserInfo>
        <DisplayName>Başak NALBANTOĞLU</DisplayName>
        <AccountId>18177</AccountId>
        <AccountType/>
      </UserInfo>
      <UserInfo>
        <DisplayName>Can Onur GERGER</DisplayName>
        <AccountId>917</AccountId>
        <AccountType/>
      </UserInfo>
      <UserInfo>
        <DisplayName>Battal ACAR</DisplayName>
        <AccountId>25627</AccountId>
        <AccountType/>
      </UserInfo>
      <UserInfo>
        <DisplayName>Ali KÜÇÜKÖZKUL</DisplayName>
        <AccountId>19562</AccountId>
        <AccountType/>
      </UserInfo>
      <UserInfo>
        <DisplayName>Yasin DEMİR</DisplayName>
        <AccountId>19432</AccountId>
        <AccountType/>
      </UserInfo>
      <UserInfo>
        <DisplayName>Oğuzhan DAŞTAN</DisplayName>
        <AccountId>29242</AccountId>
        <AccountType/>
      </UserInfo>
      <UserInfo>
        <DisplayName>Ali Serhat YILMAZ</DisplayName>
        <AccountId>20754</AccountId>
        <AccountType/>
      </UserInfo>
      <UserInfo>
        <DisplayName>Esra AYTEPE</DisplayName>
        <AccountId>22559</AccountId>
        <AccountType/>
      </UserInfo>
      <UserInfo>
        <DisplayName>İbrahim Can TEMİZ</DisplayName>
        <AccountId>31643</AccountId>
        <AccountType/>
      </UserInfo>
      <UserInfo>
        <DisplayName>Ulaş ARSLAN</DisplayName>
        <AccountId>3654</AccountId>
        <AccountType/>
      </UserInfo>
      <UserInfo>
        <DisplayName>İsmail YURDAKUL</DisplayName>
        <AccountId>27629</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FBD396816AEB941A00F4DC137BAFD8F" ma:contentTypeVersion="3" ma:contentTypeDescription="Create a new document." ma:contentTypeScope="" ma:versionID="52e952c5ef54db361ac247bb5c84aeac">
  <xsd:schema xmlns:xsd="http://www.w3.org/2001/XMLSchema" xmlns:xs="http://www.w3.org/2001/XMLSchema" xmlns:p="http://schemas.microsoft.com/office/2006/metadata/properties" xmlns:ns1="http://schemas.microsoft.com/sharepoint/v3" xmlns:ns2="51addbf6-cd97-4f3e-bcc7-a2381a20af9f" xmlns:ns3="800cdfac-3bb6-46ea-8cac-b3a86bc27941" targetNamespace="http://schemas.microsoft.com/office/2006/metadata/properties" ma:root="true" ma:fieldsID="3ee15cf3b5c84fd0120f2521fd1ca569" ns1:_="" ns2:_="" ns3:_="">
    <xsd:import namespace="http://schemas.microsoft.com/sharepoint/v3"/>
    <xsd:import namespace="51addbf6-cd97-4f3e-bcc7-a2381a20af9f"/>
    <xsd:import namespace="800cdfac-3bb6-46ea-8cac-b3a86bc27941"/>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1" nillable="true" ma:displayName="Scheduling Start Date" ma:description="" ma:hidden="true" ma:internalName="PublishingStartDate">
      <xsd:simpleType>
        <xsd:restriction base="dms:Unknown"/>
      </xsd:simpleType>
    </xsd:element>
    <xsd:element name="PublishingExpirationDate" ma:index="12"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1addbf6-cd97-4f3e-bcc7-a2381a20af9f"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00cdfac-3bb6-46ea-8cac-b3a86bc2794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titus xmlns="http://schemas.titus.com/TitusProperties/">
  <TitusGUID xmlns="">d45359ed-079b-4ac9-b049-57dad483a8a6</TitusGUID>
  <TitusMetadata xmlns="">eyJucyI6IkFTRUxTQU4iLCJwcm9wcyI6W3sibiI6IkxBTkdVQUdFIiwidmFscyI6W3sidmFsdWUiOiJUUiJ9XX0seyJuIjoiQ0FURUdPUlkiLCJ2YWxzIjpbeyJ2YWx1ZSI6IkNUMSJ9XX0seyJuIjoiTUlMTElDTEFTU0lGSUNBVElPTiIsInZhbHMiOlt7InZhbHVlIjoiQXMwMm10OVF5In1dfSx7Im4iOiJOQVRPQ0xBU1NJRklDQVRJT04iLCJ2YWxzIjpbXX0seyJuIjoiS1ZLSyIsInZhbHMiOlt7InZhbHVlIjoiQTY1dmVFN0FLIn1dfSx7Im4iOiJMQUJFTElORyIsInZhbHMiOlt7InZhbHVlIjoiTGFiZWxpbmcyIn1dfV19</TitusMetadata>
</titus>
</file>

<file path=customXml/itemProps1.xml><?xml version="1.0" encoding="utf-8"?>
<ds:datastoreItem xmlns:ds="http://schemas.openxmlformats.org/officeDocument/2006/customXml" ds:itemID="{DE7B94FA-DB44-42E5-86CF-1299DE871408}">
  <ds:schemaRefs>
    <ds:schemaRef ds:uri="http://schemas.microsoft.com/sharepoint/events"/>
  </ds:schemaRefs>
</ds:datastoreItem>
</file>

<file path=customXml/itemProps2.xml><?xml version="1.0" encoding="utf-8"?>
<ds:datastoreItem xmlns:ds="http://schemas.openxmlformats.org/officeDocument/2006/customXml" ds:itemID="{C709281E-227A-43E0-BF29-1716AB5499AA}">
  <ds:schemaRefs>
    <ds:schemaRef ds:uri="http://www.w3.org/XML/1998/namespace"/>
    <ds:schemaRef ds:uri="http://schemas.openxmlformats.org/package/2006/metadata/core-properties"/>
    <ds:schemaRef ds:uri="http://schemas.microsoft.com/office/2006/metadata/properties"/>
    <ds:schemaRef ds:uri="http://purl.org/dc/dcmitype/"/>
    <ds:schemaRef ds:uri="51addbf6-cd97-4f3e-bcc7-a2381a20af9f"/>
    <ds:schemaRef ds:uri="http://purl.org/dc/elements/1.1/"/>
    <ds:schemaRef ds:uri="http://schemas.microsoft.com/office/2006/documentManagement/types"/>
    <ds:schemaRef ds:uri="http://purl.org/dc/terms/"/>
    <ds:schemaRef ds:uri="http://schemas.microsoft.com/office/infopath/2007/PartnerControls"/>
    <ds:schemaRef ds:uri="800cdfac-3bb6-46ea-8cac-b3a86bc27941"/>
    <ds:schemaRef ds:uri="http://schemas.microsoft.com/sharepoint/v3"/>
  </ds:schemaRefs>
</ds:datastoreItem>
</file>

<file path=customXml/itemProps3.xml><?xml version="1.0" encoding="utf-8"?>
<ds:datastoreItem xmlns:ds="http://schemas.openxmlformats.org/officeDocument/2006/customXml" ds:itemID="{78E85DD4-F03E-44EB-8DE4-4DD7C8B080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1addbf6-cd97-4f3e-bcc7-a2381a20af9f"/>
    <ds:schemaRef ds:uri="800cdfac-3bb6-46ea-8cac-b3a86bc2794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BC776708-A014-4D09-84CC-31521924571B}">
  <ds:schemaRefs>
    <ds:schemaRef ds:uri="http://schemas.microsoft.com/sharepoint/v3/contenttype/forms"/>
  </ds:schemaRefs>
</ds:datastoreItem>
</file>

<file path=customXml/itemProps5.xml><?xml version="1.0" encoding="utf-8"?>
<ds:datastoreItem xmlns:ds="http://schemas.openxmlformats.org/officeDocument/2006/customXml" ds:itemID="{874ECE91-D256-41A1-98BD-156FDEEA250B}">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emplate/>
  <TotalTime>16526</TotalTime>
  <Words>1807</Words>
  <Application>Microsoft Office PowerPoint</Application>
  <PresentationFormat>Widescreen</PresentationFormat>
  <Paragraphs>182</Paragraphs>
  <Slides>18</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Segoe UI Black</vt:lpstr>
      <vt:lpstr>Calibri</vt:lpstr>
      <vt:lpstr>Segoe UI Semilight</vt:lpstr>
      <vt:lpstr>Source Sans Pro</vt:lpstr>
      <vt:lpstr>Segoe UI</vt:lpstr>
      <vt:lpstr>Posterama</vt:lpstr>
      <vt:lpstr>Arial</vt:lpstr>
      <vt:lpstr>Office Teması</vt:lpstr>
      <vt:lpstr>PowerPoint Presentation</vt:lpstr>
      <vt:lpstr>NEDEN BU SUNUM HAZIRLANDI</vt:lpstr>
      <vt:lpstr>PowerPoint Presentation</vt:lpstr>
      <vt:lpstr>Problem ve amaç</vt:lpstr>
      <vt:lpstr>LİTERATÜR TARAMASI  </vt:lpstr>
      <vt:lpstr>QUAGLIETTA vd. (2020) </vt:lpstr>
      <vt:lpstr>AOUN vd. (2021) </vt:lpstr>
      <vt:lpstr>SİNYALİZASYON SİSTEMLERİ  </vt:lpstr>
      <vt:lpstr>Demiryolu modeli</vt:lpstr>
      <vt:lpstr>Tren modelİ</vt:lpstr>
      <vt:lpstr>SİMÜLASYON ORTAMI  </vt:lpstr>
      <vt:lpstr>EXPRESS ROTA</vt:lpstr>
      <vt:lpstr>DURAKLAMALI ROTA</vt:lpstr>
      <vt:lpstr>BOZUCU ETKİLERE TEPKİ</vt:lpstr>
      <vt:lpstr>KONVOY DAVRANIŞINI ARTTIRMA</vt:lpstr>
      <vt:lpstr>SONUÇLAR VE ÇIKARIMLAR</vt:lpstr>
      <vt:lpstr>KAYNAKLAR </vt:lpstr>
      <vt:lpstr>PowerPoint Presentation</vt:lpstr>
    </vt:vector>
  </TitlesOfParts>
  <Manager>ASELSAN</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ASELSAN</dc:title>
  <dc:subject>ASELSAN</dc:subject>
  <dc:creator>Cemil Seyis</dc:creator>
  <cp:keywords/>
  <cp:lastModifiedBy>Recepcan Yetimoğlu</cp:lastModifiedBy>
  <cp:revision>417</cp:revision>
  <cp:lastPrinted>2024-07-04T05:35:52Z</cp:lastPrinted>
  <dcterms:created xsi:type="dcterms:W3CDTF">2022-10-12T20:35:02Z</dcterms:created>
  <dcterms:modified xsi:type="dcterms:W3CDTF">2026-09-10T03:15:10Z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d45359ed-079b-4ac9-b049-57dad483a8a6</vt:lpwstr>
  </property>
  <property fmtid="{D5CDD505-2E9C-101B-9397-08002B2CF9AE}" pid="3" name="LANGUAGE">
    <vt:lpwstr>TR</vt:lpwstr>
  </property>
  <property fmtid="{D5CDD505-2E9C-101B-9397-08002B2CF9AE}" pid="4" name="CATEGORY">
    <vt:lpwstr>CT1</vt:lpwstr>
  </property>
  <property fmtid="{D5CDD505-2E9C-101B-9397-08002B2CF9AE}" pid="5" name="MILLICLASSIFICATION">
    <vt:lpwstr>As02mt9Qy</vt:lpwstr>
  </property>
  <property fmtid="{D5CDD505-2E9C-101B-9397-08002B2CF9AE}" pid="6" name="KVKK">
    <vt:lpwstr>A65veE7AK</vt:lpwstr>
  </property>
  <property fmtid="{D5CDD505-2E9C-101B-9397-08002B2CF9AE}" pid="7" name="LABELING">
    <vt:lpwstr>Labeling2</vt:lpwstr>
  </property>
  <property fmtid="{D5CDD505-2E9C-101B-9397-08002B2CF9AE}" pid="8" name="ContentTypeId">
    <vt:lpwstr>0x0101003FBD396816AEB941A00F4DC137BAFD8F</vt:lpwstr>
  </property>
  <property fmtid="{D5CDD505-2E9C-101B-9397-08002B2CF9AE}" pid="9" name="_dlc_DocIdItemGuid">
    <vt:lpwstr>ff3a9f1a-72b0-465a-878a-5d88f7976d6a</vt:lpwstr>
  </property>
</Properties>
</file>